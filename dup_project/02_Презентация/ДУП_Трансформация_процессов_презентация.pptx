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70" r:id="rId4"/>
  </p:sldMasterIdLst>
  <p:notesMasterIdLst>
    <p:notesMasterId r:id="rId5"/>
  </p:notesMasterIdLst>
  <p:sldIdLst>
    <p:sldId id="256" r:id="rId6"/>
    <p:sldId id="268" r:id="rId16"/>
    <p:sldId id="269" r:id="rId15"/>
    <p:sldId id="270" r:id="rId14"/>
    <p:sldId id="271" r:id="rId13"/>
    <p:sldId id="272" r:id="rId12"/>
    <p:sldId id="273" r:id="rId11"/>
    <p:sldId id="274" r:id="rId10"/>
    <p:sldId id="275" r:id="rId9"/>
    <p:sldId id="276" r:id="rId8"/>
    <p:sldId id="277" r:id="rId7"/>
    <p:sldId id="278" r:id="rId37"/>
    <p:sldId id="279" r:id="rId38"/>
    <p:sldId id="280" r:id="rId39"/>
    <p:sldId id="281" r:id="rId40"/>
    <p:sldId id="282" r:id="rId41"/>
    <p:sldId id="283" r:id="rId42"/>
    <p:sldId id="284" r:id="rId43"/>
    <p:sldId id="285" r:id="rId44"/>
    <p:sldId id="267" r:id="rId17"/>
  </p:sldIdLst>
  <p:sldSz cy="5143500" cx="9144000"/>
  <p:notesSz cx="6858000" cy="9144000"/>
  <p:embeddedFontLst>
    <p:embeddedFont>
      <p:font typeface="Golos Text"/>
      <p:regular r:id="rId18"/>
      <p:bold r:id="rId19"/>
    </p:embeddedFont>
    <p:embeddedFont>
      <p:font typeface="IBM Plex Sans"/>
      <p:regular r:id="rId20"/>
      <p:bold r:id="rId21"/>
      <p:italic r:id="rId22"/>
      <p:boldItalic r:id="rId23"/>
    </p:embeddedFont>
    <p:embeddedFont>
      <p:font typeface="Golos Text Medium"/>
      <p:regular r:id="rId24"/>
      <p:bold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JetBrains Mono"/>
      <p:regular r:id="rId30"/>
      <p:bold r:id="rId31"/>
      <p:italic r:id="rId32"/>
      <p:boldItalic r:id="rId33"/>
    </p:embeddedFont>
    <p:embeddedFont>
      <p:font typeface="Golos Text SemiBold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jiC108pgRb5se202Y13m7UAO+V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12.xml"/><Relationship Id="rId8" Type="http://schemas.openxmlformats.org/officeDocument/2006/relationships/slide" Target="slides/slide11.xml"/><Relationship Id="rId9" Type="http://schemas.openxmlformats.org/officeDocument/2006/relationships/slide" Target="slides/slide10.xml"/><Relationship Id="rId10" Type="http://schemas.openxmlformats.org/officeDocument/2006/relationships/slide" Target="slides/slide9.xml"/><Relationship Id="rId11" Type="http://schemas.openxmlformats.org/officeDocument/2006/relationships/slide" Target="slides/slide8.xml"/><Relationship Id="rId12" Type="http://schemas.openxmlformats.org/officeDocument/2006/relationships/slide" Target="slides/slide7.xml"/><Relationship Id="rId13" Type="http://schemas.openxmlformats.org/officeDocument/2006/relationships/slide" Target="slides/slide6.xml"/><Relationship Id="rId14" Type="http://schemas.openxmlformats.org/officeDocument/2006/relationships/slide" Target="slides/slide5.xml"/><Relationship Id="rId15" Type="http://schemas.openxmlformats.org/officeDocument/2006/relationships/slide" Target="slides/slide4.xml"/><Relationship Id="rId16" Type="http://schemas.openxmlformats.org/officeDocument/2006/relationships/slide" Target="slides/slide3.xml"/><Relationship Id="rId17" Type="http://schemas.openxmlformats.org/officeDocument/2006/relationships/slide" Target="slides/slide90.xml"/><Relationship Id="rId18" Type="http://schemas.openxmlformats.org/officeDocument/2006/relationships/font" Target="fonts/GolosText-regular.fntdata"/><Relationship Id="rId19" Type="http://schemas.openxmlformats.org/officeDocument/2006/relationships/font" Target="fonts/GolosText-bold.fntdata"/><Relationship Id="rId20" Type="http://schemas.openxmlformats.org/officeDocument/2006/relationships/font" Target="fonts/IBMPlexSans-regular.fntdata"/><Relationship Id="rId21" Type="http://schemas.openxmlformats.org/officeDocument/2006/relationships/font" Target="fonts/IBMPlexSans-bold.fntdata"/><Relationship Id="rId22" Type="http://schemas.openxmlformats.org/officeDocument/2006/relationships/font" Target="fonts/IBMPlexSans-italic.fntdata"/><Relationship Id="rId23" Type="http://schemas.openxmlformats.org/officeDocument/2006/relationships/font" Target="fonts/IBMPlexSans-boldItalic.fntdata"/><Relationship Id="rId24" Type="http://schemas.openxmlformats.org/officeDocument/2006/relationships/font" Target="fonts/GolosTextMedium-regular.fntdata"/><Relationship Id="rId25" Type="http://schemas.openxmlformats.org/officeDocument/2006/relationships/font" Target="fonts/GolosTextMedium-bold.fntdata"/><Relationship Id="rId26" Type="http://schemas.openxmlformats.org/officeDocument/2006/relationships/font" Target="fonts/Montserrat-regular.fntdata"/><Relationship Id="rId27" Type="http://schemas.openxmlformats.org/officeDocument/2006/relationships/font" Target="fonts/Montserrat-bold.fntdata"/><Relationship Id="rId28" Type="http://schemas.openxmlformats.org/officeDocument/2006/relationships/font" Target="fonts/Montserrat-italic.fntdata"/><Relationship Id="rId29" Type="http://schemas.openxmlformats.org/officeDocument/2006/relationships/font" Target="fonts/Montserrat-boldItalic.fntdata"/><Relationship Id="rId30" Type="http://schemas.openxmlformats.org/officeDocument/2006/relationships/font" Target="fonts/JetBrainsMono-regular.fntdata"/><Relationship Id="rId31" Type="http://schemas.openxmlformats.org/officeDocument/2006/relationships/font" Target="fonts/JetBrainsMono-bold.fntdata"/><Relationship Id="rId32" Type="http://schemas.openxmlformats.org/officeDocument/2006/relationships/font" Target="fonts/JetBrainsMono-italic.fntdata"/><Relationship Id="rId33" Type="http://schemas.openxmlformats.org/officeDocument/2006/relationships/font" Target="fonts/JetBrainsMono-boldItalic.fntdata"/><Relationship Id="rId34" Type="http://schemas.openxmlformats.org/officeDocument/2006/relationships/font" Target="fonts/GolosTextSemiBold-regular.fntdata"/><Relationship Id="rId35" Type="http://schemas.openxmlformats.org/officeDocument/2006/relationships/font" Target="fonts/GolosTextSemiBold-bold.fntdata"/><Relationship Id="rId36" Type="http://customschemas.google.com/relationships/presentationmetadata" Target="metadata"/><Relationship Id="rId37" Type="http://schemas.openxmlformats.org/officeDocument/2006/relationships/slide" Target="slides/slide13.xml"/><Relationship Id="rId38" Type="http://schemas.openxmlformats.org/officeDocument/2006/relationships/slide" Target="slides/slide14.xml"/><Relationship Id="rId39" Type="http://schemas.openxmlformats.org/officeDocument/2006/relationships/slide" Target="slides/slide15.xml"/><Relationship Id="rId40" Type="http://schemas.openxmlformats.org/officeDocument/2006/relationships/slide" Target="slides/slide16.xml"/><Relationship Id="rId41" Type="http://schemas.openxmlformats.org/officeDocument/2006/relationships/slide" Target="slides/slide17.xml"/><Relationship Id="rId42" Type="http://schemas.openxmlformats.org/officeDocument/2006/relationships/slide" Target="slides/slide18.xml"/><Relationship Id="rId43" Type="http://schemas.openxmlformats.org/officeDocument/2006/relationships/slide" Target="slides/slide19.xml"/><Relationship Id="rId44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1bf351e6d1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1bf351e6d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4fc5f99509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4fc5f99509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Слайд ТЕМНО СЕРЫЙ ФОН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g31b4f510750_5_35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33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g31b4f510750_5_358"/>
          <p:cNvSpPr txBox="1"/>
          <p:nvPr/>
        </p:nvSpPr>
        <p:spPr>
          <a:xfrm>
            <a:off x="8489450" y="4729775"/>
            <a:ext cx="6546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ru" sz="9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‹#›</a:t>
            </a:fld>
            <a:r>
              <a:rPr b="0" i="0" lang="ru" sz="9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endParaRPr b="0" i="0" sz="9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pSp>
        <p:nvGrpSpPr>
          <p:cNvPr id="9" name="Google Shape;9;g31b4f510750_5_358"/>
          <p:cNvGrpSpPr/>
          <p:nvPr/>
        </p:nvGrpSpPr>
        <p:grpSpPr>
          <a:xfrm>
            <a:off x="7487100" y="394845"/>
            <a:ext cx="1191767" cy="179211"/>
            <a:chOff x="7419975" y="4637527"/>
            <a:chExt cx="1105946" cy="166306"/>
          </a:xfrm>
        </p:grpSpPr>
        <p:sp>
          <p:nvSpPr>
            <p:cNvPr id="10" name="Google Shape;10;g31b4f510750_5_358"/>
            <p:cNvSpPr/>
            <p:nvPr/>
          </p:nvSpPr>
          <p:spPr>
            <a:xfrm>
              <a:off x="7419975" y="4674865"/>
              <a:ext cx="86010" cy="94678"/>
            </a:xfrm>
            <a:custGeom>
              <a:rect b="b" l="l" r="r" t="t"/>
              <a:pathLst>
                <a:path extrusionOk="0" h="94678" w="86010">
                  <a:moveTo>
                    <a:pt x="2667" y="73914"/>
                  </a:moveTo>
                  <a:lnTo>
                    <a:pt x="55912" y="73914"/>
                  </a:lnTo>
                  <a:cubicBezTo>
                    <a:pt x="63246" y="73914"/>
                    <a:pt x="65342" y="72104"/>
                    <a:pt x="65342" y="64865"/>
                  </a:cubicBezTo>
                  <a:cubicBezTo>
                    <a:pt x="65342" y="57626"/>
                    <a:pt x="63246" y="55816"/>
                    <a:pt x="55912" y="55816"/>
                  </a:cubicBezTo>
                  <a:lnTo>
                    <a:pt x="28289" y="55816"/>
                  </a:lnTo>
                  <a:cubicBezTo>
                    <a:pt x="10668" y="55816"/>
                    <a:pt x="0" y="45529"/>
                    <a:pt x="0" y="27908"/>
                  </a:cubicBezTo>
                  <a:cubicBezTo>
                    <a:pt x="0" y="10287"/>
                    <a:pt x="10668" y="0"/>
                    <a:pt x="28289" y="0"/>
                  </a:cubicBezTo>
                  <a:lnTo>
                    <a:pt x="76200" y="0"/>
                  </a:lnTo>
                  <a:lnTo>
                    <a:pt x="76200" y="20574"/>
                  </a:lnTo>
                  <a:lnTo>
                    <a:pt x="28289" y="20574"/>
                  </a:lnTo>
                  <a:cubicBezTo>
                    <a:pt x="22193" y="20574"/>
                    <a:pt x="20669" y="21622"/>
                    <a:pt x="20669" y="27908"/>
                  </a:cubicBezTo>
                  <a:cubicBezTo>
                    <a:pt x="20669" y="34195"/>
                    <a:pt x="22289" y="35243"/>
                    <a:pt x="28289" y="35243"/>
                  </a:cubicBezTo>
                  <a:lnTo>
                    <a:pt x="55912" y="35243"/>
                  </a:lnTo>
                  <a:cubicBezTo>
                    <a:pt x="74581" y="35243"/>
                    <a:pt x="86011" y="46101"/>
                    <a:pt x="86011" y="64960"/>
                  </a:cubicBezTo>
                  <a:cubicBezTo>
                    <a:pt x="86011" y="83820"/>
                    <a:pt x="74581" y="94678"/>
                    <a:pt x="55912" y="94678"/>
                  </a:cubicBezTo>
                  <a:lnTo>
                    <a:pt x="2667" y="94678"/>
                  </a:lnTo>
                  <a:lnTo>
                    <a:pt x="2667" y="7410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g31b4f510750_5_358"/>
            <p:cNvSpPr/>
            <p:nvPr/>
          </p:nvSpPr>
          <p:spPr>
            <a:xfrm>
              <a:off x="7517415" y="4672960"/>
              <a:ext cx="91359" cy="96393"/>
            </a:xfrm>
            <a:custGeom>
              <a:rect b="b" l="l" r="r" t="t"/>
              <a:pathLst>
                <a:path extrusionOk="0" h="96393" w="91359">
                  <a:moveTo>
                    <a:pt x="20860" y="57721"/>
                  </a:moveTo>
                  <a:cubicBezTo>
                    <a:pt x="22098" y="73724"/>
                    <a:pt x="27242" y="75819"/>
                    <a:pt x="48101" y="75819"/>
                  </a:cubicBezTo>
                  <a:lnTo>
                    <a:pt x="85725" y="75819"/>
                  </a:lnTo>
                  <a:lnTo>
                    <a:pt x="85725" y="96393"/>
                  </a:lnTo>
                  <a:lnTo>
                    <a:pt x="48101" y="96393"/>
                  </a:lnTo>
                  <a:cubicBezTo>
                    <a:pt x="12287" y="96393"/>
                    <a:pt x="0" y="84106"/>
                    <a:pt x="0" y="48196"/>
                  </a:cubicBezTo>
                  <a:cubicBezTo>
                    <a:pt x="0" y="12287"/>
                    <a:pt x="11430" y="0"/>
                    <a:pt x="46292" y="0"/>
                  </a:cubicBezTo>
                  <a:cubicBezTo>
                    <a:pt x="82963" y="0"/>
                    <a:pt x="93345" y="14573"/>
                    <a:pt x="91059" y="57626"/>
                  </a:cubicBezTo>
                  <a:lnTo>
                    <a:pt x="20860" y="57626"/>
                  </a:lnTo>
                  <a:close/>
                  <a:moveTo>
                    <a:pt x="70390" y="37148"/>
                  </a:moveTo>
                  <a:cubicBezTo>
                    <a:pt x="69152" y="24194"/>
                    <a:pt x="66770" y="20765"/>
                    <a:pt x="46292" y="20765"/>
                  </a:cubicBezTo>
                  <a:cubicBezTo>
                    <a:pt x="27718" y="20765"/>
                    <a:pt x="22384" y="22574"/>
                    <a:pt x="20955" y="37148"/>
                  </a:cubicBezTo>
                  <a:lnTo>
                    <a:pt x="70295" y="371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g31b4f510750_5_358"/>
            <p:cNvSpPr/>
            <p:nvPr/>
          </p:nvSpPr>
          <p:spPr>
            <a:xfrm>
              <a:off x="7622381" y="4674865"/>
              <a:ext cx="50387" cy="94583"/>
            </a:xfrm>
            <a:custGeom>
              <a:rect b="b" l="l" r="r" t="t"/>
              <a:pathLst>
                <a:path extrusionOk="0" h="94583" w="50387">
                  <a:moveTo>
                    <a:pt x="20669" y="94583"/>
                  </a:moveTo>
                  <a:lnTo>
                    <a:pt x="0" y="94583"/>
                  </a:lnTo>
                  <a:lnTo>
                    <a:pt x="0" y="45148"/>
                  </a:lnTo>
                  <a:cubicBezTo>
                    <a:pt x="0" y="11525"/>
                    <a:pt x="11620" y="0"/>
                    <a:pt x="45244" y="0"/>
                  </a:cubicBezTo>
                  <a:lnTo>
                    <a:pt x="50387" y="0"/>
                  </a:lnTo>
                  <a:lnTo>
                    <a:pt x="50387" y="20574"/>
                  </a:lnTo>
                  <a:lnTo>
                    <a:pt x="45244" y="20574"/>
                  </a:lnTo>
                  <a:cubicBezTo>
                    <a:pt x="22955" y="20574"/>
                    <a:pt x="20669" y="22860"/>
                    <a:pt x="20669" y="45148"/>
                  </a:cubicBezTo>
                  <a:lnTo>
                    <a:pt x="20669" y="945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31b4f510750_5_358"/>
            <p:cNvSpPr/>
            <p:nvPr/>
          </p:nvSpPr>
          <p:spPr>
            <a:xfrm>
              <a:off x="7684389" y="4673055"/>
              <a:ext cx="94488" cy="130778"/>
            </a:xfrm>
            <a:custGeom>
              <a:rect b="b" l="l" r="r" t="t"/>
              <a:pathLst>
                <a:path extrusionOk="0" h="130778" w="94488">
                  <a:moveTo>
                    <a:pt x="47244" y="98108"/>
                  </a:moveTo>
                  <a:cubicBezTo>
                    <a:pt x="11620" y="98108"/>
                    <a:pt x="0" y="85154"/>
                    <a:pt x="0" y="49054"/>
                  </a:cubicBezTo>
                  <a:cubicBezTo>
                    <a:pt x="0" y="12954"/>
                    <a:pt x="11620" y="0"/>
                    <a:pt x="47244" y="0"/>
                  </a:cubicBezTo>
                  <a:cubicBezTo>
                    <a:pt x="82867" y="0"/>
                    <a:pt x="94488" y="12954"/>
                    <a:pt x="94488" y="49054"/>
                  </a:cubicBezTo>
                  <a:lnTo>
                    <a:pt x="94488" y="85630"/>
                  </a:lnTo>
                  <a:cubicBezTo>
                    <a:pt x="94488" y="119253"/>
                    <a:pt x="82772" y="130778"/>
                    <a:pt x="49054" y="130778"/>
                  </a:cubicBezTo>
                  <a:lnTo>
                    <a:pt x="15907" y="130778"/>
                  </a:lnTo>
                  <a:lnTo>
                    <a:pt x="15907" y="110204"/>
                  </a:lnTo>
                  <a:lnTo>
                    <a:pt x="49054" y="110204"/>
                  </a:lnTo>
                  <a:cubicBezTo>
                    <a:pt x="68866" y="110204"/>
                    <a:pt x="72581" y="107918"/>
                    <a:pt x="73628" y="94202"/>
                  </a:cubicBezTo>
                  <a:cubicBezTo>
                    <a:pt x="66865" y="96869"/>
                    <a:pt x="58103" y="98108"/>
                    <a:pt x="47244" y="98108"/>
                  </a:cubicBezTo>
                  <a:close/>
                  <a:moveTo>
                    <a:pt x="20669" y="49054"/>
                  </a:moveTo>
                  <a:cubicBezTo>
                    <a:pt x="20669" y="74867"/>
                    <a:pt x="24098" y="77534"/>
                    <a:pt x="47244" y="77534"/>
                  </a:cubicBezTo>
                  <a:cubicBezTo>
                    <a:pt x="70390" y="77534"/>
                    <a:pt x="73819" y="74867"/>
                    <a:pt x="73819" y="49054"/>
                  </a:cubicBezTo>
                  <a:cubicBezTo>
                    <a:pt x="73819" y="23241"/>
                    <a:pt x="70390" y="20574"/>
                    <a:pt x="47244" y="20574"/>
                  </a:cubicBezTo>
                  <a:cubicBezTo>
                    <a:pt x="24098" y="20574"/>
                    <a:pt x="20669" y="23241"/>
                    <a:pt x="20669" y="49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g31b4f510750_5_358"/>
            <p:cNvSpPr/>
            <p:nvPr/>
          </p:nvSpPr>
          <p:spPr>
            <a:xfrm>
              <a:off x="7792116" y="4672960"/>
              <a:ext cx="91359" cy="96393"/>
            </a:xfrm>
            <a:custGeom>
              <a:rect b="b" l="l" r="r" t="t"/>
              <a:pathLst>
                <a:path extrusionOk="0" h="96393" w="91359">
                  <a:moveTo>
                    <a:pt x="20860" y="57721"/>
                  </a:moveTo>
                  <a:cubicBezTo>
                    <a:pt x="22098" y="73724"/>
                    <a:pt x="27242" y="75819"/>
                    <a:pt x="48101" y="75819"/>
                  </a:cubicBezTo>
                  <a:lnTo>
                    <a:pt x="85725" y="75819"/>
                  </a:lnTo>
                  <a:lnTo>
                    <a:pt x="85725" y="96393"/>
                  </a:lnTo>
                  <a:lnTo>
                    <a:pt x="48101" y="96393"/>
                  </a:lnTo>
                  <a:cubicBezTo>
                    <a:pt x="12287" y="96393"/>
                    <a:pt x="0" y="84106"/>
                    <a:pt x="0" y="48196"/>
                  </a:cubicBezTo>
                  <a:cubicBezTo>
                    <a:pt x="0" y="12287"/>
                    <a:pt x="11430" y="0"/>
                    <a:pt x="46292" y="0"/>
                  </a:cubicBezTo>
                  <a:cubicBezTo>
                    <a:pt x="82963" y="0"/>
                    <a:pt x="93345" y="14573"/>
                    <a:pt x="91059" y="57626"/>
                  </a:cubicBezTo>
                  <a:lnTo>
                    <a:pt x="20860" y="57626"/>
                  </a:lnTo>
                  <a:close/>
                  <a:moveTo>
                    <a:pt x="70390" y="37148"/>
                  </a:moveTo>
                  <a:cubicBezTo>
                    <a:pt x="69152" y="24194"/>
                    <a:pt x="66770" y="20765"/>
                    <a:pt x="46292" y="20765"/>
                  </a:cubicBezTo>
                  <a:cubicBezTo>
                    <a:pt x="27718" y="20765"/>
                    <a:pt x="22384" y="22574"/>
                    <a:pt x="20955" y="37148"/>
                  </a:cubicBezTo>
                  <a:lnTo>
                    <a:pt x="70295" y="371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g31b4f510750_5_358"/>
            <p:cNvSpPr/>
            <p:nvPr/>
          </p:nvSpPr>
          <p:spPr>
            <a:xfrm>
              <a:off x="7896891" y="4637527"/>
              <a:ext cx="85058" cy="131921"/>
            </a:xfrm>
            <a:custGeom>
              <a:rect b="b" l="l" r="r" t="t"/>
              <a:pathLst>
                <a:path extrusionOk="0" h="131921" w="85058">
                  <a:moveTo>
                    <a:pt x="20860" y="0"/>
                  </a:moveTo>
                  <a:lnTo>
                    <a:pt x="20860" y="72485"/>
                  </a:lnTo>
                  <a:lnTo>
                    <a:pt x="38481" y="72485"/>
                  </a:lnTo>
                  <a:cubicBezTo>
                    <a:pt x="62389" y="56483"/>
                    <a:pt x="62675" y="54007"/>
                    <a:pt x="62675" y="37338"/>
                  </a:cubicBezTo>
                  <a:lnTo>
                    <a:pt x="83344" y="37338"/>
                  </a:lnTo>
                  <a:cubicBezTo>
                    <a:pt x="83344" y="59912"/>
                    <a:pt x="78677" y="68771"/>
                    <a:pt x="59627" y="82868"/>
                  </a:cubicBezTo>
                  <a:cubicBezTo>
                    <a:pt x="80105" y="97060"/>
                    <a:pt x="85058" y="106490"/>
                    <a:pt x="85058" y="131921"/>
                  </a:cubicBezTo>
                  <a:lnTo>
                    <a:pt x="64389" y="131921"/>
                  </a:lnTo>
                  <a:cubicBezTo>
                    <a:pt x="64389" y="112205"/>
                    <a:pt x="63532" y="109538"/>
                    <a:pt x="37814" y="93155"/>
                  </a:cubicBezTo>
                  <a:lnTo>
                    <a:pt x="20669" y="93155"/>
                  </a:lnTo>
                  <a:lnTo>
                    <a:pt x="20669" y="131921"/>
                  </a:lnTo>
                  <a:lnTo>
                    <a:pt x="0" y="131921"/>
                  </a:lnTo>
                  <a:lnTo>
                    <a:pt x="0" y="0"/>
                  </a:lnTo>
                  <a:lnTo>
                    <a:pt x="206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g31b4f510750_5_358"/>
            <p:cNvSpPr/>
            <p:nvPr/>
          </p:nvSpPr>
          <p:spPr>
            <a:xfrm>
              <a:off x="8044433" y="4673055"/>
              <a:ext cx="94488" cy="130778"/>
            </a:xfrm>
            <a:custGeom>
              <a:rect b="b" l="l" r="r" t="t"/>
              <a:pathLst>
                <a:path extrusionOk="0" h="130778" w="94488">
                  <a:moveTo>
                    <a:pt x="47244" y="98108"/>
                  </a:moveTo>
                  <a:cubicBezTo>
                    <a:pt x="11621" y="98108"/>
                    <a:pt x="0" y="85154"/>
                    <a:pt x="0" y="49054"/>
                  </a:cubicBezTo>
                  <a:cubicBezTo>
                    <a:pt x="0" y="12954"/>
                    <a:pt x="11621" y="0"/>
                    <a:pt x="47244" y="0"/>
                  </a:cubicBezTo>
                  <a:cubicBezTo>
                    <a:pt x="82868" y="0"/>
                    <a:pt x="94488" y="12954"/>
                    <a:pt x="94488" y="49054"/>
                  </a:cubicBezTo>
                  <a:lnTo>
                    <a:pt x="94488" y="85630"/>
                  </a:lnTo>
                  <a:cubicBezTo>
                    <a:pt x="94488" y="119253"/>
                    <a:pt x="82772" y="130778"/>
                    <a:pt x="49054" y="130778"/>
                  </a:cubicBezTo>
                  <a:lnTo>
                    <a:pt x="15907" y="130778"/>
                  </a:lnTo>
                  <a:lnTo>
                    <a:pt x="15907" y="110204"/>
                  </a:lnTo>
                  <a:lnTo>
                    <a:pt x="49054" y="110204"/>
                  </a:lnTo>
                  <a:cubicBezTo>
                    <a:pt x="68866" y="110204"/>
                    <a:pt x="72581" y="107918"/>
                    <a:pt x="73628" y="94202"/>
                  </a:cubicBezTo>
                  <a:cubicBezTo>
                    <a:pt x="66866" y="96869"/>
                    <a:pt x="58103" y="98108"/>
                    <a:pt x="47244" y="98108"/>
                  </a:cubicBezTo>
                  <a:close/>
                  <a:moveTo>
                    <a:pt x="20669" y="49054"/>
                  </a:moveTo>
                  <a:cubicBezTo>
                    <a:pt x="20669" y="74867"/>
                    <a:pt x="24098" y="77534"/>
                    <a:pt x="47244" y="77534"/>
                  </a:cubicBezTo>
                  <a:cubicBezTo>
                    <a:pt x="70390" y="77534"/>
                    <a:pt x="73819" y="74867"/>
                    <a:pt x="73819" y="49054"/>
                  </a:cubicBezTo>
                  <a:cubicBezTo>
                    <a:pt x="73819" y="23241"/>
                    <a:pt x="70390" y="20574"/>
                    <a:pt x="47244" y="20574"/>
                  </a:cubicBezTo>
                  <a:cubicBezTo>
                    <a:pt x="24098" y="20574"/>
                    <a:pt x="20669" y="23241"/>
                    <a:pt x="20669" y="49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g31b4f510750_5_358"/>
            <p:cNvSpPr/>
            <p:nvPr/>
          </p:nvSpPr>
          <p:spPr>
            <a:xfrm>
              <a:off x="8154066" y="4674865"/>
              <a:ext cx="50387" cy="94583"/>
            </a:xfrm>
            <a:custGeom>
              <a:rect b="b" l="l" r="r" t="t"/>
              <a:pathLst>
                <a:path extrusionOk="0" h="94583" w="50387">
                  <a:moveTo>
                    <a:pt x="20669" y="94583"/>
                  </a:moveTo>
                  <a:lnTo>
                    <a:pt x="0" y="94583"/>
                  </a:lnTo>
                  <a:lnTo>
                    <a:pt x="0" y="45148"/>
                  </a:lnTo>
                  <a:cubicBezTo>
                    <a:pt x="0" y="11525"/>
                    <a:pt x="11621" y="0"/>
                    <a:pt x="45244" y="0"/>
                  </a:cubicBezTo>
                  <a:lnTo>
                    <a:pt x="50387" y="0"/>
                  </a:lnTo>
                  <a:lnTo>
                    <a:pt x="50387" y="20574"/>
                  </a:lnTo>
                  <a:lnTo>
                    <a:pt x="45244" y="20574"/>
                  </a:lnTo>
                  <a:cubicBezTo>
                    <a:pt x="22955" y="20574"/>
                    <a:pt x="20669" y="22860"/>
                    <a:pt x="20669" y="45148"/>
                  </a:cubicBezTo>
                  <a:lnTo>
                    <a:pt x="20669" y="945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g31b4f510750_5_358"/>
            <p:cNvSpPr/>
            <p:nvPr/>
          </p:nvSpPr>
          <p:spPr>
            <a:xfrm>
              <a:off x="8216074" y="4673055"/>
              <a:ext cx="96202" cy="98107"/>
            </a:xfrm>
            <a:custGeom>
              <a:rect b="b" l="l" r="r" t="t"/>
              <a:pathLst>
                <a:path extrusionOk="0" h="98107" w="96202">
                  <a:moveTo>
                    <a:pt x="48101" y="0"/>
                  </a:moveTo>
                  <a:cubicBezTo>
                    <a:pt x="84582" y="0"/>
                    <a:pt x="96202" y="13716"/>
                    <a:pt x="96202" y="49054"/>
                  </a:cubicBezTo>
                  <a:cubicBezTo>
                    <a:pt x="96202" y="84392"/>
                    <a:pt x="84582" y="98108"/>
                    <a:pt x="48101" y="98108"/>
                  </a:cubicBezTo>
                  <a:cubicBezTo>
                    <a:pt x="11621" y="98108"/>
                    <a:pt x="0" y="84582"/>
                    <a:pt x="0" y="49054"/>
                  </a:cubicBezTo>
                  <a:cubicBezTo>
                    <a:pt x="0" y="13526"/>
                    <a:pt x="11906" y="0"/>
                    <a:pt x="48101" y="0"/>
                  </a:cubicBezTo>
                  <a:close/>
                  <a:moveTo>
                    <a:pt x="48101" y="77534"/>
                  </a:moveTo>
                  <a:cubicBezTo>
                    <a:pt x="72200" y="77534"/>
                    <a:pt x="75533" y="74200"/>
                    <a:pt x="75533" y="49054"/>
                  </a:cubicBezTo>
                  <a:cubicBezTo>
                    <a:pt x="75533" y="23908"/>
                    <a:pt x="72104" y="20574"/>
                    <a:pt x="48101" y="20574"/>
                  </a:cubicBezTo>
                  <a:cubicBezTo>
                    <a:pt x="24098" y="20574"/>
                    <a:pt x="20669" y="24098"/>
                    <a:pt x="20669" y="49054"/>
                  </a:cubicBezTo>
                  <a:cubicBezTo>
                    <a:pt x="20669" y="74009"/>
                    <a:pt x="24098" y="77534"/>
                    <a:pt x="48101" y="775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g31b4f510750_5_358"/>
            <p:cNvSpPr/>
            <p:nvPr/>
          </p:nvSpPr>
          <p:spPr>
            <a:xfrm>
              <a:off x="8325612" y="4674865"/>
              <a:ext cx="90677" cy="96297"/>
            </a:xfrm>
            <a:custGeom>
              <a:rect b="b" l="l" r="r" t="t"/>
              <a:pathLst>
                <a:path extrusionOk="0" h="96297" w="90677">
                  <a:moveTo>
                    <a:pt x="70009" y="0"/>
                  </a:moveTo>
                  <a:lnTo>
                    <a:pt x="90678" y="0"/>
                  </a:lnTo>
                  <a:lnTo>
                    <a:pt x="90678" y="51149"/>
                  </a:lnTo>
                  <a:cubicBezTo>
                    <a:pt x="90678" y="84773"/>
                    <a:pt x="78962" y="96298"/>
                    <a:pt x="45244" y="96298"/>
                  </a:cubicBezTo>
                  <a:cubicBezTo>
                    <a:pt x="11525" y="96298"/>
                    <a:pt x="0" y="84773"/>
                    <a:pt x="0" y="51149"/>
                  </a:cubicBezTo>
                  <a:lnTo>
                    <a:pt x="0" y="0"/>
                  </a:lnTo>
                  <a:lnTo>
                    <a:pt x="20669" y="0"/>
                  </a:lnTo>
                  <a:lnTo>
                    <a:pt x="20669" y="51149"/>
                  </a:lnTo>
                  <a:cubicBezTo>
                    <a:pt x="20669" y="73343"/>
                    <a:pt x="22955" y="75724"/>
                    <a:pt x="45244" y="75724"/>
                  </a:cubicBezTo>
                  <a:cubicBezTo>
                    <a:pt x="67532" y="75724"/>
                    <a:pt x="70009" y="73438"/>
                    <a:pt x="70009" y="51149"/>
                  </a:cubicBezTo>
                  <a:lnTo>
                    <a:pt x="700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g31b4f510750_5_358"/>
            <p:cNvSpPr/>
            <p:nvPr/>
          </p:nvSpPr>
          <p:spPr>
            <a:xfrm>
              <a:off x="8431434" y="4673055"/>
              <a:ext cx="94487" cy="130778"/>
            </a:xfrm>
            <a:custGeom>
              <a:rect b="b" l="l" r="r" t="t"/>
              <a:pathLst>
                <a:path extrusionOk="0" h="130778" w="94487">
                  <a:moveTo>
                    <a:pt x="47244" y="0"/>
                  </a:moveTo>
                  <a:cubicBezTo>
                    <a:pt x="83058" y="0"/>
                    <a:pt x="94488" y="12954"/>
                    <a:pt x="94488" y="49054"/>
                  </a:cubicBezTo>
                  <a:cubicBezTo>
                    <a:pt x="94488" y="85154"/>
                    <a:pt x="83058" y="98108"/>
                    <a:pt x="47244" y="98108"/>
                  </a:cubicBezTo>
                  <a:cubicBezTo>
                    <a:pt x="36195" y="98108"/>
                    <a:pt x="27432" y="96869"/>
                    <a:pt x="20669" y="94012"/>
                  </a:cubicBezTo>
                  <a:lnTo>
                    <a:pt x="20669" y="130778"/>
                  </a:lnTo>
                  <a:lnTo>
                    <a:pt x="0" y="130778"/>
                  </a:lnTo>
                  <a:lnTo>
                    <a:pt x="0" y="49054"/>
                  </a:lnTo>
                  <a:cubicBezTo>
                    <a:pt x="0" y="12954"/>
                    <a:pt x="11621" y="0"/>
                    <a:pt x="47244" y="0"/>
                  </a:cubicBezTo>
                  <a:close/>
                  <a:moveTo>
                    <a:pt x="47244" y="77534"/>
                  </a:moveTo>
                  <a:cubicBezTo>
                    <a:pt x="70580" y="77534"/>
                    <a:pt x="73819" y="74867"/>
                    <a:pt x="73819" y="49054"/>
                  </a:cubicBezTo>
                  <a:cubicBezTo>
                    <a:pt x="73819" y="23241"/>
                    <a:pt x="70580" y="20574"/>
                    <a:pt x="47244" y="20574"/>
                  </a:cubicBezTo>
                  <a:cubicBezTo>
                    <a:pt x="23908" y="20574"/>
                    <a:pt x="20669" y="23241"/>
                    <a:pt x="20669" y="49054"/>
                  </a:cubicBezTo>
                  <a:cubicBezTo>
                    <a:pt x="20669" y="74867"/>
                    <a:pt x="24098" y="77534"/>
                    <a:pt x="47244" y="775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g31b4f510750_5_358"/>
          <p:cNvSpPr txBox="1"/>
          <p:nvPr/>
        </p:nvSpPr>
        <p:spPr>
          <a:xfrm>
            <a:off x="308275" y="4709050"/>
            <a:ext cx="5542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Строго конфиденциально. Все права принадлежат Sergek Group ©</a:t>
            </a:r>
            <a:endParaRPr b="0" i="0" sz="9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Слайд ТЕМНО СЕРЫЙ ФОН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1d6e50d44b_1_34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33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g31b4f510750_5_374"/>
          <p:cNvGrpSpPr/>
          <p:nvPr/>
        </p:nvGrpSpPr>
        <p:grpSpPr>
          <a:xfrm>
            <a:off x="7487097" y="394835"/>
            <a:ext cx="1191767" cy="179211"/>
            <a:chOff x="7419975" y="4637527"/>
            <a:chExt cx="1105946" cy="166306"/>
          </a:xfrm>
        </p:grpSpPr>
        <p:sp>
          <p:nvSpPr>
            <p:cNvPr id="26" name="Google Shape;26;g31b4f510750_5_374"/>
            <p:cNvSpPr/>
            <p:nvPr/>
          </p:nvSpPr>
          <p:spPr>
            <a:xfrm>
              <a:off x="7419975" y="4674865"/>
              <a:ext cx="86010" cy="94678"/>
            </a:xfrm>
            <a:custGeom>
              <a:rect b="b" l="l" r="r" t="t"/>
              <a:pathLst>
                <a:path extrusionOk="0" h="94678" w="86010">
                  <a:moveTo>
                    <a:pt x="2667" y="73914"/>
                  </a:moveTo>
                  <a:lnTo>
                    <a:pt x="55912" y="73914"/>
                  </a:lnTo>
                  <a:cubicBezTo>
                    <a:pt x="63246" y="73914"/>
                    <a:pt x="65342" y="72104"/>
                    <a:pt x="65342" y="64865"/>
                  </a:cubicBezTo>
                  <a:cubicBezTo>
                    <a:pt x="65342" y="57626"/>
                    <a:pt x="63246" y="55816"/>
                    <a:pt x="55912" y="55816"/>
                  </a:cubicBezTo>
                  <a:lnTo>
                    <a:pt x="28289" y="55816"/>
                  </a:lnTo>
                  <a:cubicBezTo>
                    <a:pt x="10668" y="55816"/>
                    <a:pt x="0" y="45529"/>
                    <a:pt x="0" y="27908"/>
                  </a:cubicBezTo>
                  <a:cubicBezTo>
                    <a:pt x="0" y="10287"/>
                    <a:pt x="10668" y="0"/>
                    <a:pt x="28289" y="0"/>
                  </a:cubicBezTo>
                  <a:lnTo>
                    <a:pt x="76200" y="0"/>
                  </a:lnTo>
                  <a:lnTo>
                    <a:pt x="76200" y="20574"/>
                  </a:lnTo>
                  <a:lnTo>
                    <a:pt x="28289" y="20574"/>
                  </a:lnTo>
                  <a:cubicBezTo>
                    <a:pt x="22193" y="20574"/>
                    <a:pt x="20669" y="21622"/>
                    <a:pt x="20669" y="27908"/>
                  </a:cubicBezTo>
                  <a:cubicBezTo>
                    <a:pt x="20669" y="34195"/>
                    <a:pt x="22289" y="35243"/>
                    <a:pt x="28289" y="35243"/>
                  </a:cubicBezTo>
                  <a:lnTo>
                    <a:pt x="55912" y="35243"/>
                  </a:lnTo>
                  <a:cubicBezTo>
                    <a:pt x="74581" y="35243"/>
                    <a:pt x="86011" y="46101"/>
                    <a:pt x="86011" y="64960"/>
                  </a:cubicBezTo>
                  <a:cubicBezTo>
                    <a:pt x="86011" y="83820"/>
                    <a:pt x="74581" y="94678"/>
                    <a:pt x="55912" y="94678"/>
                  </a:cubicBezTo>
                  <a:lnTo>
                    <a:pt x="2667" y="94678"/>
                  </a:lnTo>
                  <a:lnTo>
                    <a:pt x="2667" y="7410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g31b4f510750_5_374"/>
            <p:cNvSpPr/>
            <p:nvPr/>
          </p:nvSpPr>
          <p:spPr>
            <a:xfrm>
              <a:off x="7517415" y="4672960"/>
              <a:ext cx="91359" cy="96393"/>
            </a:xfrm>
            <a:custGeom>
              <a:rect b="b" l="l" r="r" t="t"/>
              <a:pathLst>
                <a:path extrusionOk="0" h="96393" w="91359">
                  <a:moveTo>
                    <a:pt x="20860" y="57721"/>
                  </a:moveTo>
                  <a:cubicBezTo>
                    <a:pt x="22098" y="73724"/>
                    <a:pt x="27242" y="75819"/>
                    <a:pt x="48101" y="75819"/>
                  </a:cubicBezTo>
                  <a:lnTo>
                    <a:pt x="85725" y="75819"/>
                  </a:lnTo>
                  <a:lnTo>
                    <a:pt x="85725" y="96393"/>
                  </a:lnTo>
                  <a:lnTo>
                    <a:pt x="48101" y="96393"/>
                  </a:lnTo>
                  <a:cubicBezTo>
                    <a:pt x="12287" y="96393"/>
                    <a:pt x="0" y="84106"/>
                    <a:pt x="0" y="48196"/>
                  </a:cubicBezTo>
                  <a:cubicBezTo>
                    <a:pt x="0" y="12287"/>
                    <a:pt x="11430" y="0"/>
                    <a:pt x="46292" y="0"/>
                  </a:cubicBezTo>
                  <a:cubicBezTo>
                    <a:pt x="82963" y="0"/>
                    <a:pt x="93345" y="14573"/>
                    <a:pt x="91059" y="57626"/>
                  </a:cubicBezTo>
                  <a:lnTo>
                    <a:pt x="20860" y="57626"/>
                  </a:lnTo>
                  <a:close/>
                  <a:moveTo>
                    <a:pt x="70390" y="37148"/>
                  </a:moveTo>
                  <a:cubicBezTo>
                    <a:pt x="69152" y="24194"/>
                    <a:pt x="66770" y="20765"/>
                    <a:pt x="46292" y="20765"/>
                  </a:cubicBezTo>
                  <a:cubicBezTo>
                    <a:pt x="27718" y="20765"/>
                    <a:pt x="22384" y="22574"/>
                    <a:pt x="20955" y="37148"/>
                  </a:cubicBezTo>
                  <a:lnTo>
                    <a:pt x="70295" y="3714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g31b4f510750_5_374"/>
            <p:cNvSpPr/>
            <p:nvPr/>
          </p:nvSpPr>
          <p:spPr>
            <a:xfrm>
              <a:off x="7622381" y="4674865"/>
              <a:ext cx="50387" cy="94583"/>
            </a:xfrm>
            <a:custGeom>
              <a:rect b="b" l="l" r="r" t="t"/>
              <a:pathLst>
                <a:path extrusionOk="0" h="94583" w="50387">
                  <a:moveTo>
                    <a:pt x="20669" y="94583"/>
                  </a:moveTo>
                  <a:lnTo>
                    <a:pt x="0" y="94583"/>
                  </a:lnTo>
                  <a:lnTo>
                    <a:pt x="0" y="45148"/>
                  </a:lnTo>
                  <a:cubicBezTo>
                    <a:pt x="0" y="11525"/>
                    <a:pt x="11620" y="0"/>
                    <a:pt x="45244" y="0"/>
                  </a:cubicBezTo>
                  <a:lnTo>
                    <a:pt x="50387" y="0"/>
                  </a:lnTo>
                  <a:lnTo>
                    <a:pt x="50387" y="20574"/>
                  </a:lnTo>
                  <a:lnTo>
                    <a:pt x="45244" y="20574"/>
                  </a:lnTo>
                  <a:cubicBezTo>
                    <a:pt x="22955" y="20574"/>
                    <a:pt x="20669" y="22860"/>
                    <a:pt x="20669" y="45148"/>
                  </a:cubicBezTo>
                  <a:lnTo>
                    <a:pt x="20669" y="9458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g31b4f510750_5_374"/>
            <p:cNvSpPr/>
            <p:nvPr/>
          </p:nvSpPr>
          <p:spPr>
            <a:xfrm>
              <a:off x="7684389" y="4673055"/>
              <a:ext cx="94488" cy="130778"/>
            </a:xfrm>
            <a:custGeom>
              <a:rect b="b" l="l" r="r" t="t"/>
              <a:pathLst>
                <a:path extrusionOk="0" h="130778" w="94488">
                  <a:moveTo>
                    <a:pt x="47244" y="98108"/>
                  </a:moveTo>
                  <a:cubicBezTo>
                    <a:pt x="11620" y="98108"/>
                    <a:pt x="0" y="85154"/>
                    <a:pt x="0" y="49054"/>
                  </a:cubicBezTo>
                  <a:cubicBezTo>
                    <a:pt x="0" y="12954"/>
                    <a:pt x="11620" y="0"/>
                    <a:pt x="47244" y="0"/>
                  </a:cubicBezTo>
                  <a:cubicBezTo>
                    <a:pt x="82867" y="0"/>
                    <a:pt x="94488" y="12954"/>
                    <a:pt x="94488" y="49054"/>
                  </a:cubicBezTo>
                  <a:lnTo>
                    <a:pt x="94488" y="85630"/>
                  </a:lnTo>
                  <a:cubicBezTo>
                    <a:pt x="94488" y="119253"/>
                    <a:pt x="82772" y="130778"/>
                    <a:pt x="49054" y="130778"/>
                  </a:cubicBezTo>
                  <a:lnTo>
                    <a:pt x="15907" y="130778"/>
                  </a:lnTo>
                  <a:lnTo>
                    <a:pt x="15907" y="110204"/>
                  </a:lnTo>
                  <a:lnTo>
                    <a:pt x="49054" y="110204"/>
                  </a:lnTo>
                  <a:cubicBezTo>
                    <a:pt x="68866" y="110204"/>
                    <a:pt x="72581" y="107918"/>
                    <a:pt x="73628" y="94202"/>
                  </a:cubicBezTo>
                  <a:cubicBezTo>
                    <a:pt x="66865" y="96869"/>
                    <a:pt x="58103" y="98108"/>
                    <a:pt x="47244" y="98108"/>
                  </a:cubicBezTo>
                  <a:close/>
                  <a:moveTo>
                    <a:pt x="20669" y="49054"/>
                  </a:moveTo>
                  <a:cubicBezTo>
                    <a:pt x="20669" y="74867"/>
                    <a:pt x="24098" y="77534"/>
                    <a:pt x="47244" y="77534"/>
                  </a:cubicBezTo>
                  <a:cubicBezTo>
                    <a:pt x="70390" y="77534"/>
                    <a:pt x="73819" y="74867"/>
                    <a:pt x="73819" y="49054"/>
                  </a:cubicBezTo>
                  <a:cubicBezTo>
                    <a:pt x="73819" y="23241"/>
                    <a:pt x="70390" y="20574"/>
                    <a:pt x="47244" y="20574"/>
                  </a:cubicBezTo>
                  <a:cubicBezTo>
                    <a:pt x="24098" y="20574"/>
                    <a:pt x="20669" y="23241"/>
                    <a:pt x="20669" y="490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g31b4f510750_5_374"/>
            <p:cNvSpPr/>
            <p:nvPr/>
          </p:nvSpPr>
          <p:spPr>
            <a:xfrm>
              <a:off x="7792116" y="4672960"/>
              <a:ext cx="91359" cy="96393"/>
            </a:xfrm>
            <a:custGeom>
              <a:rect b="b" l="l" r="r" t="t"/>
              <a:pathLst>
                <a:path extrusionOk="0" h="96393" w="91359">
                  <a:moveTo>
                    <a:pt x="20860" y="57721"/>
                  </a:moveTo>
                  <a:cubicBezTo>
                    <a:pt x="22098" y="73724"/>
                    <a:pt x="27242" y="75819"/>
                    <a:pt x="48101" y="75819"/>
                  </a:cubicBezTo>
                  <a:lnTo>
                    <a:pt x="85725" y="75819"/>
                  </a:lnTo>
                  <a:lnTo>
                    <a:pt x="85725" y="96393"/>
                  </a:lnTo>
                  <a:lnTo>
                    <a:pt x="48101" y="96393"/>
                  </a:lnTo>
                  <a:cubicBezTo>
                    <a:pt x="12287" y="96393"/>
                    <a:pt x="0" y="84106"/>
                    <a:pt x="0" y="48196"/>
                  </a:cubicBezTo>
                  <a:cubicBezTo>
                    <a:pt x="0" y="12287"/>
                    <a:pt x="11430" y="0"/>
                    <a:pt x="46292" y="0"/>
                  </a:cubicBezTo>
                  <a:cubicBezTo>
                    <a:pt x="82963" y="0"/>
                    <a:pt x="93345" y="14573"/>
                    <a:pt x="91059" y="57626"/>
                  </a:cubicBezTo>
                  <a:lnTo>
                    <a:pt x="20860" y="57626"/>
                  </a:lnTo>
                  <a:close/>
                  <a:moveTo>
                    <a:pt x="70390" y="37148"/>
                  </a:moveTo>
                  <a:cubicBezTo>
                    <a:pt x="69152" y="24194"/>
                    <a:pt x="66770" y="20765"/>
                    <a:pt x="46292" y="20765"/>
                  </a:cubicBezTo>
                  <a:cubicBezTo>
                    <a:pt x="27718" y="20765"/>
                    <a:pt x="22384" y="22574"/>
                    <a:pt x="20955" y="37148"/>
                  </a:cubicBezTo>
                  <a:lnTo>
                    <a:pt x="70295" y="3714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g31b4f510750_5_374"/>
            <p:cNvSpPr/>
            <p:nvPr/>
          </p:nvSpPr>
          <p:spPr>
            <a:xfrm>
              <a:off x="7896891" y="4637527"/>
              <a:ext cx="85058" cy="131921"/>
            </a:xfrm>
            <a:custGeom>
              <a:rect b="b" l="l" r="r" t="t"/>
              <a:pathLst>
                <a:path extrusionOk="0" h="131921" w="85058">
                  <a:moveTo>
                    <a:pt x="20860" y="0"/>
                  </a:moveTo>
                  <a:lnTo>
                    <a:pt x="20860" y="72485"/>
                  </a:lnTo>
                  <a:lnTo>
                    <a:pt x="38481" y="72485"/>
                  </a:lnTo>
                  <a:cubicBezTo>
                    <a:pt x="62389" y="56483"/>
                    <a:pt x="62675" y="54007"/>
                    <a:pt x="62675" y="37338"/>
                  </a:cubicBezTo>
                  <a:lnTo>
                    <a:pt x="83344" y="37338"/>
                  </a:lnTo>
                  <a:cubicBezTo>
                    <a:pt x="83344" y="59912"/>
                    <a:pt x="78677" y="68771"/>
                    <a:pt x="59627" y="82868"/>
                  </a:cubicBezTo>
                  <a:cubicBezTo>
                    <a:pt x="80105" y="97060"/>
                    <a:pt x="85058" y="106490"/>
                    <a:pt x="85058" y="131921"/>
                  </a:cubicBezTo>
                  <a:lnTo>
                    <a:pt x="64389" y="131921"/>
                  </a:lnTo>
                  <a:cubicBezTo>
                    <a:pt x="64389" y="112205"/>
                    <a:pt x="63532" y="109538"/>
                    <a:pt x="37814" y="93155"/>
                  </a:cubicBezTo>
                  <a:lnTo>
                    <a:pt x="20669" y="93155"/>
                  </a:lnTo>
                  <a:lnTo>
                    <a:pt x="20669" y="131921"/>
                  </a:lnTo>
                  <a:lnTo>
                    <a:pt x="0" y="131921"/>
                  </a:lnTo>
                  <a:lnTo>
                    <a:pt x="0" y="0"/>
                  </a:lnTo>
                  <a:lnTo>
                    <a:pt x="206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g31b4f510750_5_374"/>
            <p:cNvSpPr/>
            <p:nvPr/>
          </p:nvSpPr>
          <p:spPr>
            <a:xfrm>
              <a:off x="8044433" y="4673055"/>
              <a:ext cx="94488" cy="130778"/>
            </a:xfrm>
            <a:custGeom>
              <a:rect b="b" l="l" r="r" t="t"/>
              <a:pathLst>
                <a:path extrusionOk="0" h="130778" w="94488">
                  <a:moveTo>
                    <a:pt x="47244" y="98108"/>
                  </a:moveTo>
                  <a:cubicBezTo>
                    <a:pt x="11621" y="98108"/>
                    <a:pt x="0" y="85154"/>
                    <a:pt x="0" y="49054"/>
                  </a:cubicBezTo>
                  <a:cubicBezTo>
                    <a:pt x="0" y="12954"/>
                    <a:pt x="11621" y="0"/>
                    <a:pt x="47244" y="0"/>
                  </a:cubicBezTo>
                  <a:cubicBezTo>
                    <a:pt x="82868" y="0"/>
                    <a:pt x="94488" y="12954"/>
                    <a:pt x="94488" y="49054"/>
                  </a:cubicBezTo>
                  <a:lnTo>
                    <a:pt x="94488" y="85630"/>
                  </a:lnTo>
                  <a:cubicBezTo>
                    <a:pt x="94488" y="119253"/>
                    <a:pt x="82772" y="130778"/>
                    <a:pt x="49054" y="130778"/>
                  </a:cubicBezTo>
                  <a:lnTo>
                    <a:pt x="15907" y="130778"/>
                  </a:lnTo>
                  <a:lnTo>
                    <a:pt x="15907" y="110204"/>
                  </a:lnTo>
                  <a:lnTo>
                    <a:pt x="49054" y="110204"/>
                  </a:lnTo>
                  <a:cubicBezTo>
                    <a:pt x="68866" y="110204"/>
                    <a:pt x="72581" y="107918"/>
                    <a:pt x="73628" y="94202"/>
                  </a:cubicBezTo>
                  <a:cubicBezTo>
                    <a:pt x="66866" y="96869"/>
                    <a:pt x="58103" y="98108"/>
                    <a:pt x="47244" y="98108"/>
                  </a:cubicBezTo>
                  <a:close/>
                  <a:moveTo>
                    <a:pt x="20669" y="49054"/>
                  </a:moveTo>
                  <a:cubicBezTo>
                    <a:pt x="20669" y="74867"/>
                    <a:pt x="24098" y="77534"/>
                    <a:pt x="47244" y="77534"/>
                  </a:cubicBezTo>
                  <a:cubicBezTo>
                    <a:pt x="70390" y="77534"/>
                    <a:pt x="73819" y="74867"/>
                    <a:pt x="73819" y="49054"/>
                  </a:cubicBezTo>
                  <a:cubicBezTo>
                    <a:pt x="73819" y="23241"/>
                    <a:pt x="70390" y="20574"/>
                    <a:pt x="47244" y="20574"/>
                  </a:cubicBezTo>
                  <a:cubicBezTo>
                    <a:pt x="24098" y="20574"/>
                    <a:pt x="20669" y="23241"/>
                    <a:pt x="20669" y="490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g31b4f510750_5_374"/>
            <p:cNvSpPr/>
            <p:nvPr/>
          </p:nvSpPr>
          <p:spPr>
            <a:xfrm>
              <a:off x="8154066" y="4674865"/>
              <a:ext cx="50387" cy="94583"/>
            </a:xfrm>
            <a:custGeom>
              <a:rect b="b" l="l" r="r" t="t"/>
              <a:pathLst>
                <a:path extrusionOk="0" h="94583" w="50387">
                  <a:moveTo>
                    <a:pt x="20669" y="94583"/>
                  </a:moveTo>
                  <a:lnTo>
                    <a:pt x="0" y="94583"/>
                  </a:lnTo>
                  <a:lnTo>
                    <a:pt x="0" y="45148"/>
                  </a:lnTo>
                  <a:cubicBezTo>
                    <a:pt x="0" y="11525"/>
                    <a:pt x="11621" y="0"/>
                    <a:pt x="45244" y="0"/>
                  </a:cubicBezTo>
                  <a:lnTo>
                    <a:pt x="50387" y="0"/>
                  </a:lnTo>
                  <a:lnTo>
                    <a:pt x="50387" y="20574"/>
                  </a:lnTo>
                  <a:lnTo>
                    <a:pt x="45244" y="20574"/>
                  </a:lnTo>
                  <a:cubicBezTo>
                    <a:pt x="22955" y="20574"/>
                    <a:pt x="20669" y="22860"/>
                    <a:pt x="20669" y="45148"/>
                  </a:cubicBezTo>
                  <a:lnTo>
                    <a:pt x="20669" y="9458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g31b4f510750_5_374"/>
            <p:cNvSpPr/>
            <p:nvPr/>
          </p:nvSpPr>
          <p:spPr>
            <a:xfrm>
              <a:off x="8216074" y="4673055"/>
              <a:ext cx="96202" cy="98107"/>
            </a:xfrm>
            <a:custGeom>
              <a:rect b="b" l="l" r="r" t="t"/>
              <a:pathLst>
                <a:path extrusionOk="0" h="98107" w="96202">
                  <a:moveTo>
                    <a:pt x="48101" y="0"/>
                  </a:moveTo>
                  <a:cubicBezTo>
                    <a:pt x="84582" y="0"/>
                    <a:pt x="96202" y="13716"/>
                    <a:pt x="96202" y="49054"/>
                  </a:cubicBezTo>
                  <a:cubicBezTo>
                    <a:pt x="96202" y="84392"/>
                    <a:pt x="84582" y="98108"/>
                    <a:pt x="48101" y="98108"/>
                  </a:cubicBezTo>
                  <a:cubicBezTo>
                    <a:pt x="11621" y="98108"/>
                    <a:pt x="0" y="84582"/>
                    <a:pt x="0" y="49054"/>
                  </a:cubicBezTo>
                  <a:cubicBezTo>
                    <a:pt x="0" y="13526"/>
                    <a:pt x="11906" y="0"/>
                    <a:pt x="48101" y="0"/>
                  </a:cubicBezTo>
                  <a:close/>
                  <a:moveTo>
                    <a:pt x="48101" y="77534"/>
                  </a:moveTo>
                  <a:cubicBezTo>
                    <a:pt x="72200" y="77534"/>
                    <a:pt x="75533" y="74200"/>
                    <a:pt x="75533" y="49054"/>
                  </a:cubicBezTo>
                  <a:cubicBezTo>
                    <a:pt x="75533" y="23908"/>
                    <a:pt x="72104" y="20574"/>
                    <a:pt x="48101" y="20574"/>
                  </a:cubicBezTo>
                  <a:cubicBezTo>
                    <a:pt x="24098" y="20574"/>
                    <a:pt x="20669" y="24098"/>
                    <a:pt x="20669" y="49054"/>
                  </a:cubicBezTo>
                  <a:cubicBezTo>
                    <a:pt x="20669" y="74009"/>
                    <a:pt x="24098" y="77534"/>
                    <a:pt x="48101" y="775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g31b4f510750_5_374"/>
            <p:cNvSpPr/>
            <p:nvPr/>
          </p:nvSpPr>
          <p:spPr>
            <a:xfrm>
              <a:off x="8325612" y="4674865"/>
              <a:ext cx="90677" cy="96297"/>
            </a:xfrm>
            <a:custGeom>
              <a:rect b="b" l="l" r="r" t="t"/>
              <a:pathLst>
                <a:path extrusionOk="0" h="96297" w="90677">
                  <a:moveTo>
                    <a:pt x="70009" y="0"/>
                  </a:moveTo>
                  <a:lnTo>
                    <a:pt x="90678" y="0"/>
                  </a:lnTo>
                  <a:lnTo>
                    <a:pt x="90678" y="51149"/>
                  </a:lnTo>
                  <a:cubicBezTo>
                    <a:pt x="90678" y="84773"/>
                    <a:pt x="78962" y="96298"/>
                    <a:pt x="45244" y="96298"/>
                  </a:cubicBezTo>
                  <a:cubicBezTo>
                    <a:pt x="11525" y="96298"/>
                    <a:pt x="0" y="84773"/>
                    <a:pt x="0" y="51149"/>
                  </a:cubicBezTo>
                  <a:lnTo>
                    <a:pt x="0" y="0"/>
                  </a:lnTo>
                  <a:lnTo>
                    <a:pt x="20669" y="0"/>
                  </a:lnTo>
                  <a:lnTo>
                    <a:pt x="20669" y="51149"/>
                  </a:lnTo>
                  <a:cubicBezTo>
                    <a:pt x="20669" y="73343"/>
                    <a:pt x="22955" y="75724"/>
                    <a:pt x="45244" y="75724"/>
                  </a:cubicBezTo>
                  <a:cubicBezTo>
                    <a:pt x="67532" y="75724"/>
                    <a:pt x="70009" y="73438"/>
                    <a:pt x="70009" y="51149"/>
                  </a:cubicBezTo>
                  <a:lnTo>
                    <a:pt x="700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g31b4f510750_5_374"/>
            <p:cNvSpPr/>
            <p:nvPr/>
          </p:nvSpPr>
          <p:spPr>
            <a:xfrm>
              <a:off x="8431434" y="4673055"/>
              <a:ext cx="94487" cy="130778"/>
            </a:xfrm>
            <a:custGeom>
              <a:rect b="b" l="l" r="r" t="t"/>
              <a:pathLst>
                <a:path extrusionOk="0" h="130778" w="94487">
                  <a:moveTo>
                    <a:pt x="47244" y="0"/>
                  </a:moveTo>
                  <a:cubicBezTo>
                    <a:pt x="83058" y="0"/>
                    <a:pt x="94488" y="12954"/>
                    <a:pt x="94488" y="49054"/>
                  </a:cubicBezTo>
                  <a:cubicBezTo>
                    <a:pt x="94488" y="85154"/>
                    <a:pt x="83058" y="98108"/>
                    <a:pt x="47244" y="98108"/>
                  </a:cubicBezTo>
                  <a:cubicBezTo>
                    <a:pt x="36195" y="98108"/>
                    <a:pt x="27432" y="96869"/>
                    <a:pt x="20669" y="94012"/>
                  </a:cubicBezTo>
                  <a:lnTo>
                    <a:pt x="20669" y="130778"/>
                  </a:lnTo>
                  <a:lnTo>
                    <a:pt x="0" y="130778"/>
                  </a:lnTo>
                  <a:lnTo>
                    <a:pt x="0" y="49054"/>
                  </a:lnTo>
                  <a:cubicBezTo>
                    <a:pt x="0" y="12954"/>
                    <a:pt x="11621" y="0"/>
                    <a:pt x="47244" y="0"/>
                  </a:cubicBezTo>
                  <a:close/>
                  <a:moveTo>
                    <a:pt x="47244" y="77534"/>
                  </a:moveTo>
                  <a:cubicBezTo>
                    <a:pt x="70580" y="77534"/>
                    <a:pt x="73819" y="74867"/>
                    <a:pt x="73819" y="49054"/>
                  </a:cubicBezTo>
                  <a:cubicBezTo>
                    <a:pt x="73819" y="23241"/>
                    <a:pt x="70580" y="20574"/>
                    <a:pt x="47244" y="20574"/>
                  </a:cubicBezTo>
                  <a:cubicBezTo>
                    <a:pt x="23908" y="20574"/>
                    <a:pt x="20669" y="23241"/>
                    <a:pt x="20669" y="49054"/>
                  </a:cubicBezTo>
                  <a:cubicBezTo>
                    <a:pt x="20669" y="74867"/>
                    <a:pt x="24098" y="77534"/>
                    <a:pt x="47244" y="775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g31b4f510750_5_374"/>
          <p:cNvSpPr txBox="1"/>
          <p:nvPr/>
        </p:nvSpPr>
        <p:spPr>
          <a:xfrm>
            <a:off x="308275" y="4709050"/>
            <a:ext cx="5542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accent2"/>
                </a:solidFill>
                <a:latin typeface="Golos Text"/>
                <a:ea typeface="Golos Text"/>
                <a:cs typeface="Golos Text"/>
                <a:sym typeface="Golos Text"/>
              </a:rPr>
              <a:t>Строго конфиденциально. Все права принадлежат Sergek Group ©</a:t>
            </a:r>
            <a:endParaRPr b="0" i="0" sz="900" u="none" cap="none" strike="noStrike">
              <a:solidFill>
                <a:schemeClr val="accent2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8" name="Google Shape;38;g31b4f510750_5_374"/>
          <p:cNvSpPr txBox="1"/>
          <p:nvPr/>
        </p:nvSpPr>
        <p:spPr>
          <a:xfrm>
            <a:off x="8489450" y="4729775"/>
            <a:ext cx="6546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ru" sz="900" u="none" cap="none" strike="noStrike">
                <a:solidFill>
                  <a:srgbClr val="B7B7B7"/>
                </a:solidFill>
                <a:latin typeface="Golos Text"/>
                <a:ea typeface="Golos Text"/>
                <a:cs typeface="Golos Text"/>
                <a:sym typeface="Golos Text"/>
              </a:rPr>
              <a:t>‹#›</a:t>
            </a:fld>
            <a:r>
              <a:rPr b="0" i="0" lang="ru" sz="900" u="none" cap="none" strike="noStrike">
                <a:solidFill>
                  <a:srgbClr val="B7B7B7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endParaRPr b="0" i="0" sz="900" u="none" cap="none" strike="noStrike">
              <a:solidFill>
                <a:srgbClr val="B7B7B7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Слайд БЕЛЫЙ ФОН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1b4f510750_5_357"/>
          <p:cNvSpPr txBox="1"/>
          <p:nvPr/>
        </p:nvSpPr>
        <p:spPr>
          <a:xfrm>
            <a:off x="308275" y="4709050"/>
            <a:ext cx="5542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accent2"/>
                </a:solidFill>
                <a:latin typeface="Golos Text"/>
                <a:ea typeface="Golos Text"/>
                <a:cs typeface="Golos Text"/>
                <a:sym typeface="Golos Text"/>
              </a:rPr>
              <a:t>Строго конфиденциально. Все права принадлежат Sergek Group ©</a:t>
            </a:r>
            <a:endParaRPr b="0" i="0" sz="900" u="none" cap="none" strike="noStrike">
              <a:solidFill>
                <a:schemeClr val="accent2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1" name="Google Shape;41;g31b4f510750_5_357"/>
          <p:cNvSpPr txBox="1"/>
          <p:nvPr/>
        </p:nvSpPr>
        <p:spPr>
          <a:xfrm>
            <a:off x="8489450" y="4729775"/>
            <a:ext cx="6546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ru" sz="900" u="none" cap="none" strike="noStrike">
                <a:solidFill>
                  <a:srgbClr val="B7B7B7"/>
                </a:solidFill>
                <a:latin typeface="Golos Text"/>
                <a:ea typeface="Golos Text"/>
                <a:cs typeface="Golos Text"/>
                <a:sym typeface="Golos Text"/>
              </a:rPr>
              <a:t>‹#›</a:t>
            </a:fld>
            <a:r>
              <a:rPr b="0" i="0" lang="ru" sz="900" u="none" cap="none" strike="noStrike">
                <a:solidFill>
                  <a:srgbClr val="B7B7B7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endParaRPr b="0" i="0" sz="900" u="none" cap="none" strike="noStrike">
              <a:solidFill>
                <a:srgbClr val="B7B7B7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два столбца_белый">
  <p:cSld name="Слайд ЧЕРНЫЙ ФОН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1b4f510750_5_36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g31b4f510750_5_360"/>
          <p:cNvSpPr txBox="1"/>
          <p:nvPr/>
        </p:nvSpPr>
        <p:spPr>
          <a:xfrm>
            <a:off x="8489450" y="4729775"/>
            <a:ext cx="6546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ru" sz="9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‹#›</a:t>
            </a:fld>
            <a:r>
              <a:rPr b="0" i="0" lang="ru" sz="9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endParaRPr b="0" i="0" sz="9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pSp>
        <p:nvGrpSpPr>
          <p:cNvPr id="45" name="Google Shape;45;g31b4f510750_5_360"/>
          <p:cNvGrpSpPr/>
          <p:nvPr/>
        </p:nvGrpSpPr>
        <p:grpSpPr>
          <a:xfrm>
            <a:off x="7487100" y="394845"/>
            <a:ext cx="1191767" cy="179211"/>
            <a:chOff x="7419975" y="4637527"/>
            <a:chExt cx="1105946" cy="166306"/>
          </a:xfrm>
        </p:grpSpPr>
        <p:sp>
          <p:nvSpPr>
            <p:cNvPr id="46" name="Google Shape;46;g31b4f510750_5_360"/>
            <p:cNvSpPr/>
            <p:nvPr/>
          </p:nvSpPr>
          <p:spPr>
            <a:xfrm>
              <a:off x="7419975" y="4674865"/>
              <a:ext cx="86010" cy="94678"/>
            </a:xfrm>
            <a:custGeom>
              <a:rect b="b" l="l" r="r" t="t"/>
              <a:pathLst>
                <a:path extrusionOk="0" h="94678" w="86010">
                  <a:moveTo>
                    <a:pt x="2667" y="73914"/>
                  </a:moveTo>
                  <a:lnTo>
                    <a:pt x="55912" y="73914"/>
                  </a:lnTo>
                  <a:cubicBezTo>
                    <a:pt x="63246" y="73914"/>
                    <a:pt x="65342" y="72104"/>
                    <a:pt x="65342" y="64865"/>
                  </a:cubicBezTo>
                  <a:cubicBezTo>
                    <a:pt x="65342" y="57626"/>
                    <a:pt x="63246" y="55816"/>
                    <a:pt x="55912" y="55816"/>
                  </a:cubicBezTo>
                  <a:lnTo>
                    <a:pt x="28289" y="55816"/>
                  </a:lnTo>
                  <a:cubicBezTo>
                    <a:pt x="10668" y="55816"/>
                    <a:pt x="0" y="45529"/>
                    <a:pt x="0" y="27908"/>
                  </a:cubicBezTo>
                  <a:cubicBezTo>
                    <a:pt x="0" y="10287"/>
                    <a:pt x="10668" y="0"/>
                    <a:pt x="28289" y="0"/>
                  </a:cubicBezTo>
                  <a:lnTo>
                    <a:pt x="76200" y="0"/>
                  </a:lnTo>
                  <a:lnTo>
                    <a:pt x="76200" y="20574"/>
                  </a:lnTo>
                  <a:lnTo>
                    <a:pt x="28289" y="20574"/>
                  </a:lnTo>
                  <a:cubicBezTo>
                    <a:pt x="22193" y="20574"/>
                    <a:pt x="20669" y="21622"/>
                    <a:pt x="20669" y="27908"/>
                  </a:cubicBezTo>
                  <a:cubicBezTo>
                    <a:pt x="20669" y="34195"/>
                    <a:pt x="22289" y="35243"/>
                    <a:pt x="28289" y="35243"/>
                  </a:cubicBezTo>
                  <a:lnTo>
                    <a:pt x="55912" y="35243"/>
                  </a:lnTo>
                  <a:cubicBezTo>
                    <a:pt x="74581" y="35243"/>
                    <a:pt x="86011" y="46101"/>
                    <a:pt x="86011" y="64960"/>
                  </a:cubicBezTo>
                  <a:cubicBezTo>
                    <a:pt x="86011" y="83820"/>
                    <a:pt x="74581" y="94678"/>
                    <a:pt x="55912" y="94678"/>
                  </a:cubicBezTo>
                  <a:lnTo>
                    <a:pt x="2667" y="94678"/>
                  </a:lnTo>
                  <a:lnTo>
                    <a:pt x="2667" y="7410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g31b4f510750_5_360"/>
            <p:cNvSpPr/>
            <p:nvPr/>
          </p:nvSpPr>
          <p:spPr>
            <a:xfrm>
              <a:off x="7517415" y="4672960"/>
              <a:ext cx="91359" cy="96393"/>
            </a:xfrm>
            <a:custGeom>
              <a:rect b="b" l="l" r="r" t="t"/>
              <a:pathLst>
                <a:path extrusionOk="0" h="96393" w="91359">
                  <a:moveTo>
                    <a:pt x="20860" y="57721"/>
                  </a:moveTo>
                  <a:cubicBezTo>
                    <a:pt x="22098" y="73724"/>
                    <a:pt x="27242" y="75819"/>
                    <a:pt x="48101" y="75819"/>
                  </a:cubicBezTo>
                  <a:lnTo>
                    <a:pt x="85725" y="75819"/>
                  </a:lnTo>
                  <a:lnTo>
                    <a:pt x="85725" y="96393"/>
                  </a:lnTo>
                  <a:lnTo>
                    <a:pt x="48101" y="96393"/>
                  </a:lnTo>
                  <a:cubicBezTo>
                    <a:pt x="12287" y="96393"/>
                    <a:pt x="0" y="84106"/>
                    <a:pt x="0" y="48196"/>
                  </a:cubicBezTo>
                  <a:cubicBezTo>
                    <a:pt x="0" y="12287"/>
                    <a:pt x="11430" y="0"/>
                    <a:pt x="46292" y="0"/>
                  </a:cubicBezTo>
                  <a:cubicBezTo>
                    <a:pt x="82963" y="0"/>
                    <a:pt x="93345" y="14573"/>
                    <a:pt x="91059" y="57626"/>
                  </a:cubicBezTo>
                  <a:lnTo>
                    <a:pt x="20860" y="57626"/>
                  </a:lnTo>
                  <a:close/>
                  <a:moveTo>
                    <a:pt x="70390" y="37148"/>
                  </a:moveTo>
                  <a:cubicBezTo>
                    <a:pt x="69152" y="24194"/>
                    <a:pt x="66770" y="20765"/>
                    <a:pt x="46292" y="20765"/>
                  </a:cubicBezTo>
                  <a:cubicBezTo>
                    <a:pt x="27718" y="20765"/>
                    <a:pt x="22384" y="22574"/>
                    <a:pt x="20955" y="37148"/>
                  </a:cubicBezTo>
                  <a:lnTo>
                    <a:pt x="70295" y="371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g31b4f510750_5_360"/>
            <p:cNvSpPr/>
            <p:nvPr/>
          </p:nvSpPr>
          <p:spPr>
            <a:xfrm>
              <a:off x="7622381" y="4674865"/>
              <a:ext cx="50387" cy="94583"/>
            </a:xfrm>
            <a:custGeom>
              <a:rect b="b" l="l" r="r" t="t"/>
              <a:pathLst>
                <a:path extrusionOk="0" h="94583" w="50387">
                  <a:moveTo>
                    <a:pt x="20669" y="94583"/>
                  </a:moveTo>
                  <a:lnTo>
                    <a:pt x="0" y="94583"/>
                  </a:lnTo>
                  <a:lnTo>
                    <a:pt x="0" y="45148"/>
                  </a:lnTo>
                  <a:cubicBezTo>
                    <a:pt x="0" y="11525"/>
                    <a:pt x="11620" y="0"/>
                    <a:pt x="45244" y="0"/>
                  </a:cubicBezTo>
                  <a:lnTo>
                    <a:pt x="50387" y="0"/>
                  </a:lnTo>
                  <a:lnTo>
                    <a:pt x="50387" y="20574"/>
                  </a:lnTo>
                  <a:lnTo>
                    <a:pt x="45244" y="20574"/>
                  </a:lnTo>
                  <a:cubicBezTo>
                    <a:pt x="22955" y="20574"/>
                    <a:pt x="20669" y="22860"/>
                    <a:pt x="20669" y="45148"/>
                  </a:cubicBezTo>
                  <a:lnTo>
                    <a:pt x="20669" y="945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31b4f510750_5_360"/>
            <p:cNvSpPr/>
            <p:nvPr/>
          </p:nvSpPr>
          <p:spPr>
            <a:xfrm>
              <a:off x="7684389" y="4673055"/>
              <a:ext cx="94488" cy="130778"/>
            </a:xfrm>
            <a:custGeom>
              <a:rect b="b" l="l" r="r" t="t"/>
              <a:pathLst>
                <a:path extrusionOk="0" h="130778" w="94488">
                  <a:moveTo>
                    <a:pt x="47244" y="98108"/>
                  </a:moveTo>
                  <a:cubicBezTo>
                    <a:pt x="11620" y="98108"/>
                    <a:pt x="0" y="85154"/>
                    <a:pt x="0" y="49054"/>
                  </a:cubicBezTo>
                  <a:cubicBezTo>
                    <a:pt x="0" y="12954"/>
                    <a:pt x="11620" y="0"/>
                    <a:pt x="47244" y="0"/>
                  </a:cubicBezTo>
                  <a:cubicBezTo>
                    <a:pt x="82867" y="0"/>
                    <a:pt x="94488" y="12954"/>
                    <a:pt x="94488" y="49054"/>
                  </a:cubicBezTo>
                  <a:lnTo>
                    <a:pt x="94488" y="85630"/>
                  </a:lnTo>
                  <a:cubicBezTo>
                    <a:pt x="94488" y="119253"/>
                    <a:pt x="82772" y="130778"/>
                    <a:pt x="49054" y="130778"/>
                  </a:cubicBezTo>
                  <a:lnTo>
                    <a:pt x="15907" y="130778"/>
                  </a:lnTo>
                  <a:lnTo>
                    <a:pt x="15907" y="110204"/>
                  </a:lnTo>
                  <a:lnTo>
                    <a:pt x="49054" y="110204"/>
                  </a:lnTo>
                  <a:cubicBezTo>
                    <a:pt x="68866" y="110204"/>
                    <a:pt x="72581" y="107918"/>
                    <a:pt x="73628" y="94202"/>
                  </a:cubicBezTo>
                  <a:cubicBezTo>
                    <a:pt x="66865" y="96869"/>
                    <a:pt x="58103" y="98108"/>
                    <a:pt x="47244" y="98108"/>
                  </a:cubicBezTo>
                  <a:close/>
                  <a:moveTo>
                    <a:pt x="20669" y="49054"/>
                  </a:moveTo>
                  <a:cubicBezTo>
                    <a:pt x="20669" y="74867"/>
                    <a:pt x="24098" y="77534"/>
                    <a:pt x="47244" y="77534"/>
                  </a:cubicBezTo>
                  <a:cubicBezTo>
                    <a:pt x="70390" y="77534"/>
                    <a:pt x="73819" y="74867"/>
                    <a:pt x="73819" y="49054"/>
                  </a:cubicBezTo>
                  <a:cubicBezTo>
                    <a:pt x="73819" y="23241"/>
                    <a:pt x="70390" y="20574"/>
                    <a:pt x="47244" y="20574"/>
                  </a:cubicBezTo>
                  <a:cubicBezTo>
                    <a:pt x="24098" y="20574"/>
                    <a:pt x="20669" y="23241"/>
                    <a:pt x="20669" y="49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g31b4f510750_5_360"/>
            <p:cNvSpPr/>
            <p:nvPr/>
          </p:nvSpPr>
          <p:spPr>
            <a:xfrm>
              <a:off x="7792116" y="4672960"/>
              <a:ext cx="91359" cy="96393"/>
            </a:xfrm>
            <a:custGeom>
              <a:rect b="b" l="l" r="r" t="t"/>
              <a:pathLst>
                <a:path extrusionOk="0" h="96393" w="91359">
                  <a:moveTo>
                    <a:pt x="20860" y="57721"/>
                  </a:moveTo>
                  <a:cubicBezTo>
                    <a:pt x="22098" y="73724"/>
                    <a:pt x="27242" y="75819"/>
                    <a:pt x="48101" y="75819"/>
                  </a:cubicBezTo>
                  <a:lnTo>
                    <a:pt x="85725" y="75819"/>
                  </a:lnTo>
                  <a:lnTo>
                    <a:pt x="85725" y="96393"/>
                  </a:lnTo>
                  <a:lnTo>
                    <a:pt x="48101" y="96393"/>
                  </a:lnTo>
                  <a:cubicBezTo>
                    <a:pt x="12287" y="96393"/>
                    <a:pt x="0" y="84106"/>
                    <a:pt x="0" y="48196"/>
                  </a:cubicBezTo>
                  <a:cubicBezTo>
                    <a:pt x="0" y="12287"/>
                    <a:pt x="11430" y="0"/>
                    <a:pt x="46292" y="0"/>
                  </a:cubicBezTo>
                  <a:cubicBezTo>
                    <a:pt x="82963" y="0"/>
                    <a:pt x="93345" y="14573"/>
                    <a:pt x="91059" y="57626"/>
                  </a:cubicBezTo>
                  <a:lnTo>
                    <a:pt x="20860" y="57626"/>
                  </a:lnTo>
                  <a:close/>
                  <a:moveTo>
                    <a:pt x="70390" y="37148"/>
                  </a:moveTo>
                  <a:cubicBezTo>
                    <a:pt x="69152" y="24194"/>
                    <a:pt x="66770" y="20765"/>
                    <a:pt x="46292" y="20765"/>
                  </a:cubicBezTo>
                  <a:cubicBezTo>
                    <a:pt x="27718" y="20765"/>
                    <a:pt x="22384" y="22574"/>
                    <a:pt x="20955" y="37148"/>
                  </a:cubicBezTo>
                  <a:lnTo>
                    <a:pt x="70295" y="371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g31b4f510750_5_360"/>
            <p:cNvSpPr/>
            <p:nvPr/>
          </p:nvSpPr>
          <p:spPr>
            <a:xfrm>
              <a:off x="7896891" y="4637527"/>
              <a:ext cx="85058" cy="131921"/>
            </a:xfrm>
            <a:custGeom>
              <a:rect b="b" l="l" r="r" t="t"/>
              <a:pathLst>
                <a:path extrusionOk="0" h="131921" w="85058">
                  <a:moveTo>
                    <a:pt x="20860" y="0"/>
                  </a:moveTo>
                  <a:lnTo>
                    <a:pt x="20860" y="72485"/>
                  </a:lnTo>
                  <a:lnTo>
                    <a:pt x="38481" y="72485"/>
                  </a:lnTo>
                  <a:cubicBezTo>
                    <a:pt x="62389" y="56483"/>
                    <a:pt x="62675" y="54007"/>
                    <a:pt x="62675" y="37338"/>
                  </a:cubicBezTo>
                  <a:lnTo>
                    <a:pt x="83344" y="37338"/>
                  </a:lnTo>
                  <a:cubicBezTo>
                    <a:pt x="83344" y="59912"/>
                    <a:pt x="78677" y="68771"/>
                    <a:pt x="59627" y="82868"/>
                  </a:cubicBezTo>
                  <a:cubicBezTo>
                    <a:pt x="80105" y="97060"/>
                    <a:pt x="85058" y="106490"/>
                    <a:pt x="85058" y="131921"/>
                  </a:cubicBezTo>
                  <a:lnTo>
                    <a:pt x="64389" y="131921"/>
                  </a:lnTo>
                  <a:cubicBezTo>
                    <a:pt x="64389" y="112205"/>
                    <a:pt x="63532" y="109538"/>
                    <a:pt x="37814" y="93155"/>
                  </a:cubicBezTo>
                  <a:lnTo>
                    <a:pt x="20669" y="93155"/>
                  </a:lnTo>
                  <a:lnTo>
                    <a:pt x="20669" y="131921"/>
                  </a:lnTo>
                  <a:lnTo>
                    <a:pt x="0" y="131921"/>
                  </a:lnTo>
                  <a:lnTo>
                    <a:pt x="0" y="0"/>
                  </a:lnTo>
                  <a:lnTo>
                    <a:pt x="206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g31b4f510750_5_360"/>
            <p:cNvSpPr/>
            <p:nvPr/>
          </p:nvSpPr>
          <p:spPr>
            <a:xfrm>
              <a:off x="8044433" y="4673055"/>
              <a:ext cx="94488" cy="130778"/>
            </a:xfrm>
            <a:custGeom>
              <a:rect b="b" l="l" r="r" t="t"/>
              <a:pathLst>
                <a:path extrusionOk="0" h="130778" w="94488">
                  <a:moveTo>
                    <a:pt x="47244" y="98108"/>
                  </a:moveTo>
                  <a:cubicBezTo>
                    <a:pt x="11621" y="98108"/>
                    <a:pt x="0" y="85154"/>
                    <a:pt x="0" y="49054"/>
                  </a:cubicBezTo>
                  <a:cubicBezTo>
                    <a:pt x="0" y="12954"/>
                    <a:pt x="11621" y="0"/>
                    <a:pt x="47244" y="0"/>
                  </a:cubicBezTo>
                  <a:cubicBezTo>
                    <a:pt x="82868" y="0"/>
                    <a:pt x="94488" y="12954"/>
                    <a:pt x="94488" y="49054"/>
                  </a:cubicBezTo>
                  <a:lnTo>
                    <a:pt x="94488" y="85630"/>
                  </a:lnTo>
                  <a:cubicBezTo>
                    <a:pt x="94488" y="119253"/>
                    <a:pt x="82772" y="130778"/>
                    <a:pt x="49054" y="130778"/>
                  </a:cubicBezTo>
                  <a:lnTo>
                    <a:pt x="15907" y="130778"/>
                  </a:lnTo>
                  <a:lnTo>
                    <a:pt x="15907" y="110204"/>
                  </a:lnTo>
                  <a:lnTo>
                    <a:pt x="49054" y="110204"/>
                  </a:lnTo>
                  <a:cubicBezTo>
                    <a:pt x="68866" y="110204"/>
                    <a:pt x="72581" y="107918"/>
                    <a:pt x="73628" y="94202"/>
                  </a:cubicBezTo>
                  <a:cubicBezTo>
                    <a:pt x="66866" y="96869"/>
                    <a:pt x="58103" y="98108"/>
                    <a:pt x="47244" y="98108"/>
                  </a:cubicBezTo>
                  <a:close/>
                  <a:moveTo>
                    <a:pt x="20669" y="49054"/>
                  </a:moveTo>
                  <a:cubicBezTo>
                    <a:pt x="20669" y="74867"/>
                    <a:pt x="24098" y="77534"/>
                    <a:pt x="47244" y="77534"/>
                  </a:cubicBezTo>
                  <a:cubicBezTo>
                    <a:pt x="70390" y="77534"/>
                    <a:pt x="73819" y="74867"/>
                    <a:pt x="73819" y="49054"/>
                  </a:cubicBezTo>
                  <a:cubicBezTo>
                    <a:pt x="73819" y="23241"/>
                    <a:pt x="70390" y="20574"/>
                    <a:pt x="47244" y="20574"/>
                  </a:cubicBezTo>
                  <a:cubicBezTo>
                    <a:pt x="24098" y="20574"/>
                    <a:pt x="20669" y="23241"/>
                    <a:pt x="20669" y="49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g31b4f510750_5_360"/>
            <p:cNvSpPr/>
            <p:nvPr/>
          </p:nvSpPr>
          <p:spPr>
            <a:xfrm>
              <a:off x="8154066" y="4674865"/>
              <a:ext cx="50387" cy="94583"/>
            </a:xfrm>
            <a:custGeom>
              <a:rect b="b" l="l" r="r" t="t"/>
              <a:pathLst>
                <a:path extrusionOk="0" h="94583" w="50387">
                  <a:moveTo>
                    <a:pt x="20669" y="94583"/>
                  </a:moveTo>
                  <a:lnTo>
                    <a:pt x="0" y="94583"/>
                  </a:lnTo>
                  <a:lnTo>
                    <a:pt x="0" y="45148"/>
                  </a:lnTo>
                  <a:cubicBezTo>
                    <a:pt x="0" y="11525"/>
                    <a:pt x="11621" y="0"/>
                    <a:pt x="45244" y="0"/>
                  </a:cubicBezTo>
                  <a:lnTo>
                    <a:pt x="50387" y="0"/>
                  </a:lnTo>
                  <a:lnTo>
                    <a:pt x="50387" y="20574"/>
                  </a:lnTo>
                  <a:lnTo>
                    <a:pt x="45244" y="20574"/>
                  </a:lnTo>
                  <a:cubicBezTo>
                    <a:pt x="22955" y="20574"/>
                    <a:pt x="20669" y="22860"/>
                    <a:pt x="20669" y="45148"/>
                  </a:cubicBezTo>
                  <a:lnTo>
                    <a:pt x="20669" y="945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g31b4f510750_5_360"/>
            <p:cNvSpPr/>
            <p:nvPr/>
          </p:nvSpPr>
          <p:spPr>
            <a:xfrm>
              <a:off x="8216074" y="4673055"/>
              <a:ext cx="96202" cy="98107"/>
            </a:xfrm>
            <a:custGeom>
              <a:rect b="b" l="l" r="r" t="t"/>
              <a:pathLst>
                <a:path extrusionOk="0" h="98107" w="96202">
                  <a:moveTo>
                    <a:pt x="48101" y="0"/>
                  </a:moveTo>
                  <a:cubicBezTo>
                    <a:pt x="84582" y="0"/>
                    <a:pt x="96202" y="13716"/>
                    <a:pt x="96202" y="49054"/>
                  </a:cubicBezTo>
                  <a:cubicBezTo>
                    <a:pt x="96202" y="84392"/>
                    <a:pt x="84582" y="98108"/>
                    <a:pt x="48101" y="98108"/>
                  </a:cubicBezTo>
                  <a:cubicBezTo>
                    <a:pt x="11621" y="98108"/>
                    <a:pt x="0" y="84582"/>
                    <a:pt x="0" y="49054"/>
                  </a:cubicBezTo>
                  <a:cubicBezTo>
                    <a:pt x="0" y="13526"/>
                    <a:pt x="11906" y="0"/>
                    <a:pt x="48101" y="0"/>
                  </a:cubicBezTo>
                  <a:close/>
                  <a:moveTo>
                    <a:pt x="48101" y="77534"/>
                  </a:moveTo>
                  <a:cubicBezTo>
                    <a:pt x="72200" y="77534"/>
                    <a:pt x="75533" y="74200"/>
                    <a:pt x="75533" y="49054"/>
                  </a:cubicBezTo>
                  <a:cubicBezTo>
                    <a:pt x="75533" y="23908"/>
                    <a:pt x="72104" y="20574"/>
                    <a:pt x="48101" y="20574"/>
                  </a:cubicBezTo>
                  <a:cubicBezTo>
                    <a:pt x="24098" y="20574"/>
                    <a:pt x="20669" y="24098"/>
                    <a:pt x="20669" y="49054"/>
                  </a:cubicBezTo>
                  <a:cubicBezTo>
                    <a:pt x="20669" y="74009"/>
                    <a:pt x="24098" y="77534"/>
                    <a:pt x="48101" y="775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g31b4f510750_5_360"/>
            <p:cNvSpPr/>
            <p:nvPr/>
          </p:nvSpPr>
          <p:spPr>
            <a:xfrm>
              <a:off x="8325612" y="4674865"/>
              <a:ext cx="90677" cy="96297"/>
            </a:xfrm>
            <a:custGeom>
              <a:rect b="b" l="l" r="r" t="t"/>
              <a:pathLst>
                <a:path extrusionOk="0" h="96297" w="90677">
                  <a:moveTo>
                    <a:pt x="70009" y="0"/>
                  </a:moveTo>
                  <a:lnTo>
                    <a:pt x="90678" y="0"/>
                  </a:lnTo>
                  <a:lnTo>
                    <a:pt x="90678" y="51149"/>
                  </a:lnTo>
                  <a:cubicBezTo>
                    <a:pt x="90678" y="84773"/>
                    <a:pt x="78962" y="96298"/>
                    <a:pt x="45244" y="96298"/>
                  </a:cubicBezTo>
                  <a:cubicBezTo>
                    <a:pt x="11525" y="96298"/>
                    <a:pt x="0" y="84773"/>
                    <a:pt x="0" y="51149"/>
                  </a:cubicBezTo>
                  <a:lnTo>
                    <a:pt x="0" y="0"/>
                  </a:lnTo>
                  <a:lnTo>
                    <a:pt x="20669" y="0"/>
                  </a:lnTo>
                  <a:lnTo>
                    <a:pt x="20669" y="51149"/>
                  </a:lnTo>
                  <a:cubicBezTo>
                    <a:pt x="20669" y="73343"/>
                    <a:pt x="22955" y="75724"/>
                    <a:pt x="45244" y="75724"/>
                  </a:cubicBezTo>
                  <a:cubicBezTo>
                    <a:pt x="67532" y="75724"/>
                    <a:pt x="70009" y="73438"/>
                    <a:pt x="70009" y="51149"/>
                  </a:cubicBezTo>
                  <a:lnTo>
                    <a:pt x="700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g31b4f510750_5_360"/>
            <p:cNvSpPr/>
            <p:nvPr/>
          </p:nvSpPr>
          <p:spPr>
            <a:xfrm>
              <a:off x="8431434" y="4673055"/>
              <a:ext cx="94487" cy="130778"/>
            </a:xfrm>
            <a:custGeom>
              <a:rect b="b" l="l" r="r" t="t"/>
              <a:pathLst>
                <a:path extrusionOk="0" h="130778" w="94487">
                  <a:moveTo>
                    <a:pt x="47244" y="0"/>
                  </a:moveTo>
                  <a:cubicBezTo>
                    <a:pt x="83058" y="0"/>
                    <a:pt x="94488" y="12954"/>
                    <a:pt x="94488" y="49054"/>
                  </a:cubicBezTo>
                  <a:cubicBezTo>
                    <a:pt x="94488" y="85154"/>
                    <a:pt x="83058" y="98108"/>
                    <a:pt x="47244" y="98108"/>
                  </a:cubicBezTo>
                  <a:cubicBezTo>
                    <a:pt x="36195" y="98108"/>
                    <a:pt x="27432" y="96869"/>
                    <a:pt x="20669" y="94012"/>
                  </a:cubicBezTo>
                  <a:lnTo>
                    <a:pt x="20669" y="130778"/>
                  </a:lnTo>
                  <a:lnTo>
                    <a:pt x="0" y="130778"/>
                  </a:lnTo>
                  <a:lnTo>
                    <a:pt x="0" y="49054"/>
                  </a:lnTo>
                  <a:cubicBezTo>
                    <a:pt x="0" y="12954"/>
                    <a:pt x="11621" y="0"/>
                    <a:pt x="47244" y="0"/>
                  </a:cubicBezTo>
                  <a:close/>
                  <a:moveTo>
                    <a:pt x="47244" y="77534"/>
                  </a:moveTo>
                  <a:cubicBezTo>
                    <a:pt x="70580" y="77534"/>
                    <a:pt x="73819" y="74867"/>
                    <a:pt x="73819" y="49054"/>
                  </a:cubicBezTo>
                  <a:cubicBezTo>
                    <a:pt x="73819" y="23241"/>
                    <a:pt x="70580" y="20574"/>
                    <a:pt x="47244" y="20574"/>
                  </a:cubicBezTo>
                  <a:cubicBezTo>
                    <a:pt x="23908" y="20574"/>
                    <a:pt x="20669" y="23241"/>
                    <a:pt x="20669" y="49054"/>
                  </a:cubicBezTo>
                  <a:cubicBezTo>
                    <a:pt x="20669" y="74867"/>
                    <a:pt x="24098" y="77534"/>
                    <a:pt x="47244" y="775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" name="Google Shape;57;g31b4f510750_5_360"/>
          <p:cNvSpPr txBox="1"/>
          <p:nvPr/>
        </p:nvSpPr>
        <p:spPr>
          <a:xfrm>
            <a:off x="308275" y="4709050"/>
            <a:ext cx="5542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Строго конфиденциально. Все права принадлежат Sergek Group ©</a:t>
            </a:r>
            <a:endParaRPr b="0" i="0" sz="9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01">
          <p15:clr>
            <a:srgbClr val="E46962"/>
          </p15:clr>
        </p15:guide>
        <p15:guide id="2" orient="horz" pos="2978">
          <p15:clr>
            <a:srgbClr val="E46962"/>
          </p15:clr>
        </p15:guide>
        <p15:guide id="3" orient="horz" pos="3163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1b4f510750_5_3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g31b4f510750_5_3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g31b4f510750_5_3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два столбца_белый 1">
  <p:cSld name="1_Заголовок и два столбца_белый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1b4f510750_5_36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3D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g31b4f510750_5_366"/>
          <p:cNvPicPr preferRelativeResize="0"/>
          <p:nvPr/>
        </p:nvPicPr>
        <p:blipFill rotWithShape="1">
          <a:blip r:embed="rId2">
            <a:alphaModFix amt="5000"/>
          </a:blip>
          <a:srcRect b="-2976" l="0" r="-2459" t="0"/>
          <a:stretch/>
        </p:blipFill>
        <p:spPr>
          <a:xfrm rot="-995823">
            <a:off x="1146996" y="41721"/>
            <a:ext cx="9001550" cy="5589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01">
          <p15:clr>
            <a:srgbClr val="E46962"/>
          </p15:clr>
        </p15:guide>
        <p15:guide id="2" orient="horz" pos="2978">
          <p15:clr>
            <a:srgbClr val="E46962"/>
          </p15:clr>
        </p15:guide>
        <p15:guide id="3" orient="horz" pos="3163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два столбца_белый 2">
  <p:cSld name="Заголовок и два столбца_белый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1b4f510750_5_36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3D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01">
          <p15:clr>
            <a:srgbClr val="E46962"/>
          </p15:clr>
        </p15:guide>
        <p15:guide id="2" orient="horz" pos="2978">
          <p15:clr>
            <a:srgbClr val="E46962"/>
          </p15:clr>
        </p15:guide>
        <p15:guide id="3" orient="horz" pos="3163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два столбца_белый 3">
  <p:cSld name="1_Заголовок и два столбца_белый 2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1b4f510750_5_37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3D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g31b4f510750_5_371"/>
          <p:cNvPicPr preferRelativeResize="0"/>
          <p:nvPr/>
        </p:nvPicPr>
        <p:blipFill rotWithShape="1">
          <a:blip r:embed="rId2">
            <a:alphaModFix amt="5000"/>
          </a:blip>
          <a:srcRect b="-2976" l="-1468" r="-1944" t="0"/>
          <a:stretch/>
        </p:blipFill>
        <p:spPr>
          <a:xfrm>
            <a:off x="-1203960" y="0"/>
            <a:ext cx="11207539" cy="5483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01">
          <p15:clr>
            <a:srgbClr val="E46962"/>
          </p15:clr>
        </p15:guide>
        <p15:guide id="2" orient="horz" pos="2978">
          <p15:clr>
            <a:srgbClr val="E46962"/>
          </p15:clr>
        </p15:guide>
        <p15:guide id="3" orient="horz" pos="316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1b4f510750_5_37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g31b4f510750_5_37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g31b4f510750_5_37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E1E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E1E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E1E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E1E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E1E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E1E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E1E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E1E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E1E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4" name="Google Shape;74;g31b4f510750_5_375"/>
          <p:cNvSpPr txBox="1"/>
          <p:nvPr/>
        </p:nvSpPr>
        <p:spPr>
          <a:xfrm>
            <a:off x="5095284" y="4751328"/>
            <a:ext cx="389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BFBFBF"/>
                </a:solidFill>
                <a:latin typeface="IBM Plex Sans"/>
                <a:ea typeface="IBM Plex Sans"/>
                <a:cs typeface="IBM Plex Sans"/>
                <a:sym typeface="IBM Plex Sans"/>
              </a:rPr>
              <a:t>Строго конфиденциально. Все права принадлежат Sergek Group ©</a:t>
            </a:r>
            <a:endParaRPr b="0" i="0" sz="1400" u="none" cap="none" strike="noStrike">
              <a:solidFill>
                <a:srgbClr val="BFBFB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дин столбец_белый 1">
  <p:cSld name="Один столбец_белый 1">
    <p:bg>
      <p:bgPr>
        <a:solidFill>
          <a:srgbClr val="6C85DB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b4f510750_5_380"/>
          <p:cNvSpPr txBox="1"/>
          <p:nvPr>
            <p:ph type="title"/>
          </p:nvPr>
        </p:nvSpPr>
        <p:spPr>
          <a:xfrm>
            <a:off x="180000" y="180000"/>
            <a:ext cx="3990600" cy="15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g31b4f510750_5_380"/>
          <p:cNvSpPr txBox="1"/>
          <p:nvPr>
            <p:ph idx="12" type="sldNum"/>
          </p:nvPr>
        </p:nvSpPr>
        <p:spPr>
          <a:xfrm>
            <a:off x="7637975" y="4717050"/>
            <a:ext cx="143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8" name="Google Shape;78;g31b4f510750_5_380"/>
          <p:cNvSpPr txBox="1"/>
          <p:nvPr>
            <p:ph idx="1" type="body"/>
          </p:nvPr>
        </p:nvSpPr>
        <p:spPr>
          <a:xfrm>
            <a:off x="4369500" y="180000"/>
            <a:ext cx="4594500" cy="46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 type="title">
  <p:cSld name="TITLE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1b4f510750_5_38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g31b4f510750_5_38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g31b4f510750_5_3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контент">
  <p:cSld name="Title and Content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b4f510750_5_388"/>
          <p:cNvSpPr txBox="1"/>
          <p:nvPr>
            <p:ph type="title"/>
          </p:nvPr>
        </p:nvSpPr>
        <p:spPr>
          <a:xfrm>
            <a:off x="327479" y="327457"/>
            <a:ext cx="4865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g31b4f510750_5_388"/>
          <p:cNvSpPr txBox="1"/>
          <p:nvPr/>
        </p:nvSpPr>
        <p:spPr>
          <a:xfrm>
            <a:off x="328333" y="1203800"/>
            <a:ext cx="4243800" cy="3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600" lIns="41600" spcFirstLastPara="1" rIns="41600" wrap="square" tIns="41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539">
          <p15:clr>
            <a:srgbClr val="E46962"/>
          </p15:clr>
        </p15:guide>
        <p15:guide id="3" orient="horz" pos="758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контент 1">
  <p:cSld name="Title and Content_2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1b4f510750_5_391"/>
          <p:cNvSpPr txBox="1"/>
          <p:nvPr>
            <p:ph type="title"/>
          </p:nvPr>
        </p:nvSpPr>
        <p:spPr>
          <a:xfrm>
            <a:off x="327479" y="327457"/>
            <a:ext cx="4865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g31b4f510750_5_391"/>
          <p:cNvSpPr txBox="1"/>
          <p:nvPr/>
        </p:nvSpPr>
        <p:spPr>
          <a:xfrm>
            <a:off x="328333" y="1203800"/>
            <a:ext cx="4243800" cy="3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600" lIns="41600" spcFirstLastPara="1" rIns="41600" wrap="square" tIns="41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539">
          <p15:clr>
            <a:srgbClr val="E46962"/>
          </p15:clr>
        </p15:guide>
        <p15:guide id="3" orient="horz" pos="759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контент 2">
  <p:cSld name="Заголовок и контент 2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1b4f510750_5_394"/>
          <p:cNvSpPr txBox="1"/>
          <p:nvPr>
            <p:ph type="title"/>
          </p:nvPr>
        </p:nvSpPr>
        <p:spPr>
          <a:xfrm>
            <a:off x="327479" y="327456"/>
            <a:ext cx="4865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g31b4f510750_5_394"/>
          <p:cNvSpPr txBox="1"/>
          <p:nvPr/>
        </p:nvSpPr>
        <p:spPr>
          <a:xfrm>
            <a:off x="328332" y="1203801"/>
            <a:ext cx="4243800" cy="3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92" name="Google Shape;92;g31b4f510750_5_394"/>
          <p:cNvSpPr txBox="1"/>
          <p:nvPr>
            <p:ph idx="12" type="sldNum"/>
          </p:nvPr>
        </p:nvSpPr>
        <p:spPr>
          <a:xfrm>
            <a:off x="8556784" y="4749851"/>
            <a:ext cx="548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538">
          <p15:clr>
            <a:srgbClr val="E46962"/>
          </p15:clr>
        </p15:guide>
        <p15:guide id="3" orient="horz" pos="75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контент 3">
  <p:cSld name="Заголовок и контент"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b4f510750_5_398"/>
          <p:cNvSpPr txBox="1"/>
          <p:nvPr>
            <p:ph type="title"/>
          </p:nvPr>
        </p:nvSpPr>
        <p:spPr>
          <a:xfrm>
            <a:off x="327479" y="327456"/>
            <a:ext cx="48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g31b4f510750_5_398"/>
          <p:cNvSpPr txBox="1"/>
          <p:nvPr/>
        </p:nvSpPr>
        <p:spPr>
          <a:xfrm>
            <a:off x="328332" y="1203801"/>
            <a:ext cx="4243800" cy="3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96" name="Google Shape;96;g31b4f510750_5_398"/>
          <p:cNvSpPr txBox="1"/>
          <p:nvPr/>
        </p:nvSpPr>
        <p:spPr>
          <a:xfrm>
            <a:off x="5095284" y="4751328"/>
            <a:ext cx="389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BFBFBF"/>
                </a:solidFill>
                <a:latin typeface="IBM Plex Sans"/>
                <a:ea typeface="IBM Plex Sans"/>
                <a:cs typeface="IBM Plex Sans"/>
                <a:sym typeface="IBM Plex Sans"/>
              </a:rPr>
              <a:t>Строго конфиденциально. Все права принадлежат Sergek Group ©</a:t>
            </a:r>
            <a:endParaRPr b="0" i="0" sz="1400" u="none" cap="none" strike="noStrike">
              <a:solidFill>
                <a:srgbClr val="BFBFB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538">
          <p15:clr>
            <a:srgbClr val="E46962"/>
          </p15:clr>
        </p15:guide>
        <p15:guide id="3" orient="horz" pos="75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контент 3 1">
  <p:cSld name="Заголовок и контент 3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b4f510750_5_402"/>
          <p:cNvSpPr txBox="1"/>
          <p:nvPr>
            <p:ph type="title"/>
          </p:nvPr>
        </p:nvSpPr>
        <p:spPr>
          <a:xfrm>
            <a:off x="327479" y="327456"/>
            <a:ext cx="4865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g31b4f510750_5_402"/>
          <p:cNvSpPr txBox="1"/>
          <p:nvPr/>
        </p:nvSpPr>
        <p:spPr>
          <a:xfrm>
            <a:off x="328332" y="1203801"/>
            <a:ext cx="4243800" cy="3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538">
          <p15:clr>
            <a:srgbClr val="E46962"/>
          </p15:clr>
        </p15:guide>
        <p15:guide id="3" orient="horz" pos="758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дин столбец_графит">
  <p:cSld name="ONE_COLUMN_TEXT_1">
    <p:bg>
      <p:bgPr>
        <a:solidFill>
          <a:srgbClr val="1E1E1E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1b4f510750_5_405"/>
          <p:cNvSpPr txBox="1"/>
          <p:nvPr>
            <p:ph idx="12" type="sldNum"/>
          </p:nvPr>
        </p:nvSpPr>
        <p:spPr>
          <a:xfrm>
            <a:off x="7637975" y="4717050"/>
            <a:ext cx="143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EFEFE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EFEFE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EFEFE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EFEFE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EFEFE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EFEFE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EFEFE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EFEFE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EFEFE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2" name="Google Shape;102;g31b4f510750_5_405"/>
          <p:cNvSpPr txBox="1"/>
          <p:nvPr>
            <p:ph type="title"/>
          </p:nvPr>
        </p:nvSpPr>
        <p:spPr>
          <a:xfrm>
            <a:off x="180000" y="180000"/>
            <a:ext cx="3990600" cy="152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g31b4f510750_5_405"/>
          <p:cNvSpPr txBox="1"/>
          <p:nvPr>
            <p:ph idx="1" type="body"/>
          </p:nvPr>
        </p:nvSpPr>
        <p:spPr>
          <a:xfrm>
            <a:off x="180000" y="1883600"/>
            <a:ext cx="4594500" cy="26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04" name="Google Shape;104;g31b4f510750_5_4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0000" y="4682460"/>
            <a:ext cx="713135" cy="3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1b4f510750_5_405"/>
          <p:cNvSpPr txBox="1"/>
          <p:nvPr/>
        </p:nvSpPr>
        <p:spPr>
          <a:xfrm>
            <a:off x="5095284" y="4751328"/>
            <a:ext cx="389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Строго конфиденциально. Все права принадлежат Sergek Group ©</a:t>
            </a:r>
            <a:endParaRPr b="0" i="0" sz="1400" u="none" cap="none" strike="noStrike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дин столбец_белый">
  <p:cSld name="Один столбец_белый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1b4f510750_5_411"/>
          <p:cNvSpPr txBox="1"/>
          <p:nvPr>
            <p:ph type="title"/>
          </p:nvPr>
        </p:nvSpPr>
        <p:spPr>
          <a:xfrm>
            <a:off x="312125" y="180000"/>
            <a:ext cx="4117800" cy="1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1b4f510750_5_413"/>
          <p:cNvSpPr txBox="1"/>
          <p:nvPr>
            <p:ph type="title"/>
          </p:nvPr>
        </p:nvSpPr>
        <p:spPr>
          <a:xfrm>
            <a:off x="630785" y="441132"/>
            <a:ext cx="78825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1b4f510750_2_431"/>
          <p:cNvSpPr txBox="1"/>
          <p:nvPr>
            <p:ph type="title"/>
          </p:nvPr>
        </p:nvSpPr>
        <p:spPr>
          <a:xfrm>
            <a:off x="684682" y="308559"/>
            <a:ext cx="3743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23A8D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g31b4f510750_2_431"/>
          <p:cNvSpPr txBox="1"/>
          <p:nvPr/>
        </p:nvSpPr>
        <p:spPr>
          <a:xfrm>
            <a:off x="375200" y="4823550"/>
            <a:ext cx="345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Strictly Confidential. Copyright Reserved to Sergek Projects Ltd 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1b4f510750_2_431"/>
          <p:cNvSpPr txBox="1"/>
          <p:nvPr>
            <p:ph idx="12" type="sldNum"/>
          </p:nvPr>
        </p:nvSpPr>
        <p:spPr>
          <a:xfrm>
            <a:off x="8677835" y="4889749"/>
            <a:ext cx="152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Слайд БЕЛЫЙ ФОН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Слайд ТЕМНО СЕРЫЙ ФОН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bf351e6d1_0_5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33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два столбца_белый">
  <p:cSld name="Слайд ЧЕРНЫЙ ФОН"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1bf351e6d1_0_6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01">
          <p15:clr>
            <a:srgbClr val="E46962"/>
          </p15:clr>
        </p15:guide>
        <p15:guide id="2" orient="horz" pos="2978">
          <p15:clr>
            <a:srgbClr val="E46962"/>
          </p15:clr>
        </p15:guide>
        <p15:guide id="3" orient="horz" pos="3163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1bf351e6d1_0_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g31bf351e6d1_0_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g31bf351e6d1_0_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два столбца_белый 1">
  <p:cSld name="1_Заголовок и два столбца_белый"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1bf351e6d1_0_6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3D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g31bf351e6d1_0_66"/>
          <p:cNvPicPr preferRelativeResize="0"/>
          <p:nvPr/>
        </p:nvPicPr>
        <p:blipFill rotWithShape="1">
          <a:blip r:embed="rId2">
            <a:alphaModFix amt="5000"/>
          </a:blip>
          <a:srcRect b="-2976" l="0" r="-2459" t="0"/>
          <a:stretch/>
        </p:blipFill>
        <p:spPr>
          <a:xfrm rot="-995823">
            <a:off x="1146996" y="41721"/>
            <a:ext cx="9001550" cy="5589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01">
          <p15:clr>
            <a:srgbClr val="E46962"/>
          </p15:clr>
        </p15:guide>
        <p15:guide id="2" orient="horz" pos="2978">
          <p15:clr>
            <a:srgbClr val="E46962"/>
          </p15:clr>
        </p15:guide>
        <p15:guide id="3" orient="horz" pos="3163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два столбца_белый 2">
  <p:cSld name="Заголовок и два столбца_белый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bf351e6d1_0_6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3D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01">
          <p15:clr>
            <a:srgbClr val="E46962"/>
          </p15:clr>
        </p15:guide>
        <p15:guide id="2" orient="horz" pos="2978">
          <p15:clr>
            <a:srgbClr val="E46962"/>
          </p15:clr>
        </p15:guide>
        <p15:guide id="3" orient="horz" pos="3163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два столбца_белый 3">
  <p:cSld name="1_Заголовок и два столбца_белый 2"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1bf351e6d1_0_7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3D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g31bf351e6d1_0_71"/>
          <p:cNvPicPr preferRelativeResize="0"/>
          <p:nvPr/>
        </p:nvPicPr>
        <p:blipFill rotWithShape="1">
          <a:blip r:embed="rId2">
            <a:alphaModFix amt="5000"/>
          </a:blip>
          <a:srcRect b="-2976" l="-1468" r="-1944" t="0"/>
          <a:stretch/>
        </p:blipFill>
        <p:spPr>
          <a:xfrm>
            <a:off x="-1203960" y="0"/>
            <a:ext cx="11207539" cy="5483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01">
          <p15:clr>
            <a:srgbClr val="E46962"/>
          </p15:clr>
        </p15:guide>
        <p15:guide id="2" orient="horz" pos="2978">
          <p15:clr>
            <a:srgbClr val="E46962"/>
          </p15:clr>
        </p15:guide>
        <p15:guide id="3" orient="horz" pos="3163">
          <p15:clr>
            <a:srgbClr val="E46962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g31bf351e6d1_0_37"/>
          <p:cNvGrpSpPr/>
          <p:nvPr/>
        </p:nvGrpSpPr>
        <p:grpSpPr>
          <a:xfrm>
            <a:off x="486285" y="590175"/>
            <a:ext cx="2398023" cy="360601"/>
            <a:chOff x="7419975" y="4637527"/>
            <a:chExt cx="1105946" cy="166306"/>
          </a:xfrm>
        </p:grpSpPr>
        <p:sp>
          <p:nvSpPr>
            <p:cNvPr id="137" name="Google Shape;137;g31bf351e6d1_0_37"/>
            <p:cNvSpPr/>
            <p:nvPr/>
          </p:nvSpPr>
          <p:spPr>
            <a:xfrm>
              <a:off x="7419975" y="4674865"/>
              <a:ext cx="86010" cy="94678"/>
            </a:xfrm>
            <a:custGeom>
              <a:rect b="b" l="l" r="r" t="t"/>
              <a:pathLst>
                <a:path extrusionOk="0" h="94678" w="86010">
                  <a:moveTo>
                    <a:pt x="2667" y="73914"/>
                  </a:moveTo>
                  <a:lnTo>
                    <a:pt x="55912" y="73914"/>
                  </a:lnTo>
                  <a:cubicBezTo>
                    <a:pt x="63246" y="73914"/>
                    <a:pt x="65342" y="72104"/>
                    <a:pt x="65342" y="64865"/>
                  </a:cubicBezTo>
                  <a:cubicBezTo>
                    <a:pt x="65342" y="57626"/>
                    <a:pt x="63246" y="55816"/>
                    <a:pt x="55912" y="55816"/>
                  </a:cubicBezTo>
                  <a:lnTo>
                    <a:pt x="28289" y="55816"/>
                  </a:lnTo>
                  <a:cubicBezTo>
                    <a:pt x="10668" y="55816"/>
                    <a:pt x="0" y="45529"/>
                    <a:pt x="0" y="27908"/>
                  </a:cubicBezTo>
                  <a:cubicBezTo>
                    <a:pt x="0" y="10287"/>
                    <a:pt x="10668" y="0"/>
                    <a:pt x="28289" y="0"/>
                  </a:cubicBezTo>
                  <a:lnTo>
                    <a:pt x="76200" y="0"/>
                  </a:lnTo>
                  <a:lnTo>
                    <a:pt x="76200" y="20574"/>
                  </a:lnTo>
                  <a:lnTo>
                    <a:pt x="28289" y="20574"/>
                  </a:lnTo>
                  <a:cubicBezTo>
                    <a:pt x="22193" y="20574"/>
                    <a:pt x="20669" y="21622"/>
                    <a:pt x="20669" y="27908"/>
                  </a:cubicBezTo>
                  <a:cubicBezTo>
                    <a:pt x="20669" y="34195"/>
                    <a:pt x="22289" y="35243"/>
                    <a:pt x="28289" y="35243"/>
                  </a:cubicBezTo>
                  <a:lnTo>
                    <a:pt x="55912" y="35243"/>
                  </a:lnTo>
                  <a:cubicBezTo>
                    <a:pt x="74581" y="35243"/>
                    <a:pt x="86011" y="46101"/>
                    <a:pt x="86011" y="64960"/>
                  </a:cubicBezTo>
                  <a:cubicBezTo>
                    <a:pt x="86011" y="83820"/>
                    <a:pt x="74581" y="94678"/>
                    <a:pt x="55912" y="94678"/>
                  </a:cubicBezTo>
                  <a:lnTo>
                    <a:pt x="2667" y="94678"/>
                  </a:lnTo>
                  <a:lnTo>
                    <a:pt x="2667" y="7410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g31bf351e6d1_0_37"/>
            <p:cNvSpPr/>
            <p:nvPr/>
          </p:nvSpPr>
          <p:spPr>
            <a:xfrm>
              <a:off x="7517415" y="4672960"/>
              <a:ext cx="91359" cy="96393"/>
            </a:xfrm>
            <a:custGeom>
              <a:rect b="b" l="l" r="r" t="t"/>
              <a:pathLst>
                <a:path extrusionOk="0" h="96393" w="91359">
                  <a:moveTo>
                    <a:pt x="20860" y="57721"/>
                  </a:moveTo>
                  <a:cubicBezTo>
                    <a:pt x="22098" y="73724"/>
                    <a:pt x="27242" y="75819"/>
                    <a:pt x="48101" y="75819"/>
                  </a:cubicBezTo>
                  <a:lnTo>
                    <a:pt x="85725" y="75819"/>
                  </a:lnTo>
                  <a:lnTo>
                    <a:pt x="85725" y="96393"/>
                  </a:lnTo>
                  <a:lnTo>
                    <a:pt x="48101" y="96393"/>
                  </a:lnTo>
                  <a:cubicBezTo>
                    <a:pt x="12287" y="96393"/>
                    <a:pt x="0" y="84106"/>
                    <a:pt x="0" y="48196"/>
                  </a:cubicBezTo>
                  <a:cubicBezTo>
                    <a:pt x="0" y="12287"/>
                    <a:pt x="11430" y="0"/>
                    <a:pt x="46292" y="0"/>
                  </a:cubicBezTo>
                  <a:cubicBezTo>
                    <a:pt x="82963" y="0"/>
                    <a:pt x="93345" y="14573"/>
                    <a:pt x="91059" y="57626"/>
                  </a:cubicBezTo>
                  <a:lnTo>
                    <a:pt x="20860" y="57626"/>
                  </a:lnTo>
                  <a:close/>
                  <a:moveTo>
                    <a:pt x="70390" y="37148"/>
                  </a:moveTo>
                  <a:cubicBezTo>
                    <a:pt x="69152" y="24194"/>
                    <a:pt x="66770" y="20765"/>
                    <a:pt x="46292" y="20765"/>
                  </a:cubicBezTo>
                  <a:cubicBezTo>
                    <a:pt x="27718" y="20765"/>
                    <a:pt x="22384" y="22574"/>
                    <a:pt x="20955" y="37148"/>
                  </a:cubicBezTo>
                  <a:lnTo>
                    <a:pt x="70295" y="371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g31bf351e6d1_0_37"/>
            <p:cNvSpPr/>
            <p:nvPr/>
          </p:nvSpPr>
          <p:spPr>
            <a:xfrm>
              <a:off x="7622381" y="4674865"/>
              <a:ext cx="50387" cy="94583"/>
            </a:xfrm>
            <a:custGeom>
              <a:rect b="b" l="l" r="r" t="t"/>
              <a:pathLst>
                <a:path extrusionOk="0" h="94583" w="50387">
                  <a:moveTo>
                    <a:pt x="20669" y="94583"/>
                  </a:moveTo>
                  <a:lnTo>
                    <a:pt x="0" y="94583"/>
                  </a:lnTo>
                  <a:lnTo>
                    <a:pt x="0" y="45148"/>
                  </a:lnTo>
                  <a:cubicBezTo>
                    <a:pt x="0" y="11525"/>
                    <a:pt x="11620" y="0"/>
                    <a:pt x="45244" y="0"/>
                  </a:cubicBezTo>
                  <a:lnTo>
                    <a:pt x="50387" y="0"/>
                  </a:lnTo>
                  <a:lnTo>
                    <a:pt x="50387" y="20574"/>
                  </a:lnTo>
                  <a:lnTo>
                    <a:pt x="45244" y="20574"/>
                  </a:lnTo>
                  <a:cubicBezTo>
                    <a:pt x="22955" y="20574"/>
                    <a:pt x="20669" y="22860"/>
                    <a:pt x="20669" y="45148"/>
                  </a:cubicBezTo>
                  <a:lnTo>
                    <a:pt x="20669" y="945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g31bf351e6d1_0_37"/>
            <p:cNvSpPr/>
            <p:nvPr/>
          </p:nvSpPr>
          <p:spPr>
            <a:xfrm>
              <a:off x="7684389" y="4673055"/>
              <a:ext cx="94488" cy="130778"/>
            </a:xfrm>
            <a:custGeom>
              <a:rect b="b" l="l" r="r" t="t"/>
              <a:pathLst>
                <a:path extrusionOk="0" h="130778" w="94488">
                  <a:moveTo>
                    <a:pt x="47244" y="98108"/>
                  </a:moveTo>
                  <a:cubicBezTo>
                    <a:pt x="11620" y="98108"/>
                    <a:pt x="0" y="85154"/>
                    <a:pt x="0" y="49054"/>
                  </a:cubicBezTo>
                  <a:cubicBezTo>
                    <a:pt x="0" y="12954"/>
                    <a:pt x="11620" y="0"/>
                    <a:pt x="47244" y="0"/>
                  </a:cubicBezTo>
                  <a:cubicBezTo>
                    <a:pt x="82867" y="0"/>
                    <a:pt x="94488" y="12954"/>
                    <a:pt x="94488" y="49054"/>
                  </a:cubicBezTo>
                  <a:lnTo>
                    <a:pt x="94488" y="85630"/>
                  </a:lnTo>
                  <a:cubicBezTo>
                    <a:pt x="94488" y="119253"/>
                    <a:pt x="82772" y="130778"/>
                    <a:pt x="49054" y="130778"/>
                  </a:cubicBezTo>
                  <a:lnTo>
                    <a:pt x="15907" y="130778"/>
                  </a:lnTo>
                  <a:lnTo>
                    <a:pt x="15907" y="110204"/>
                  </a:lnTo>
                  <a:lnTo>
                    <a:pt x="49054" y="110204"/>
                  </a:lnTo>
                  <a:cubicBezTo>
                    <a:pt x="68866" y="110204"/>
                    <a:pt x="72581" y="107918"/>
                    <a:pt x="73628" y="94202"/>
                  </a:cubicBezTo>
                  <a:cubicBezTo>
                    <a:pt x="66865" y="96869"/>
                    <a:pt x="58103" y="98108"/>
                    <a:pt x="47244" y="98108"/>
                  </a:cubicBezTo>
                  <a:close/>
                  <a:moveTo>
                    <a:pt x="20669" y="49054"/>
                  </a:moveTo>
                  <a:cubicBezTo>
                    <a:pt x="20669" y="74867"/>
                    <a:pt x="24098" y="77534"/>
                    <a:pt x="47244" y="77534"/>
                  </a:cubicBezTo>
                  <a:cubicBezTo>
                    <a:pt x="70390" y="77534"/>
                    <a:pt x="73819" y="74867"/>
                    <a:pt x="73819" y="49054"/>
                  </a:cubicBezTo>
                  <a:cubicBezTo>
                    <a:pt x="73819" y="23241"/>
                    <a:pt x="70390" y="20574"/>
                    <a:pt x="47244" y="20574"/>
                  </a:cubicBezTo>
                  <a:cubicBezTo>
                    <a:pt x="24098" y="20574"/>
                    <a:pt x="20669" y="23241"/>
                    <a:pt x="20669" y="49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g31bf351e6d1_0_37"/>
            <p:cNvSpPr/>
            <p:nvPr/>
          </p:nvSpPr>
          <p:spPr>
            <a:xfrm>
              <a:off x="7792116" y="4672960"/>
              <a:ext cx="91359" cy="96393"/>
            </a:xfrm>
            <a:custGeom>
              <a:rect b="b" l="l" r="r" t="t"/>
              <a:pathLst>
                <a:path extrusionOk="0" h="96393" w="91359">
                  <a:moveTo>
                    <a:pt x="20860" y="57721"/>
                  </a:moveTo>
                  <a:cubicBezTo>
                    <a:pt x="22098" y="73724"/>
                    <a:pt x="27242" y="75819"/>
                    <a:pt x="48101" y="75819"/>
                  </a:cubicBezTo>
                  <a:lnTo>
                    <a:pt x="85725" y="75819"/>
                  </a:lnTo>
                  <a:lnTo>
                    <a:pt x="85725" y="96393"/>
                  </a:lnTo>
                  <a:lnTo>
                    <a:pt x="48101" y="96393"/>
                  </a:lnTo>
                  <a:cubicBezTo>
                    <a:pt x="12287" y="96393"/>
                    <a:pt x="0" y="84106"/>
                    <a:pt x="0" y="48196"/>
                  </a:cubicBezTo>
                  <a:cubicBezTo>
                    <a:pt x="0" y="12287"/>
                    <a:pt x="11430" y="0"/>
                    <a:pt x="46292" y="0"/>
                  </a:cubicBezTo>
                  <a:cubicBezTo>
                    <a:pt x="82963" y="0"/>
                    <a:pt x="93345" y="14573"/>
                    <a:pt x="91059" y="57626"/>
                  </a:cubicBezTo>
                  <a:lnTo>
                    <a:pt x="20860" y="57626"/>
                  </a:lnTo>
                  <a:close/>
                  <a:moveTo>
                    <a:pt x="70390" y="37148"/>
                  </a:moveTo>
                  <a:cubicBezTo>
                    <a:pt x="69152" y="24194"/>
                    <a:pt x="66770" y="20765"/>
                    <a:pt x="46292" y="20765"/>
                  </a:cubicBezTo>
                  <a:cubicBezTo>
                    <a:pt x="27718" y="20765"/>
                    <a:pt x="22384" y="22574"/>
                    <a:pt x="20955" y="37148"/>
                  </a:cubicBezTo>
                  <a:lnTo>
                    <a:pt x="70295" y="371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g31bf351e6d1_0_37"/>
            <p:cNvSpPr/>
            <p:nvPr/>
          </p:nvSpPr>
          <p:spPr>
            <a:xfrm>
              <a:off x="7896891" y="4637527"/>
              <a:ext cx="85058" cy="131921"/>
            </a:xfrm>
            <a:custGeom>
              <a:rect b="b" l="l" r="r" t="t"/>
              <a:pathLst>
                <a:path extrusionOk="0" h="131921" w="85058">
                  <a:moveTo>
                    <a:pt x="20860" y="0"/>
                  </a:moveTo>
                  <a:lnTo>
                    <a:pt x="20860" y="72485"/>
                  </a:lnTo>
                  <a:lnTo>
                    <a:pt x="38481" y="72485"/>
                  </a:lnTo>
                  <a:cubicBezTo>
                    <a:pt x="62389" y="56483"/>
                    <a:pt x="62675" y="54007"/>
                    <a:pt x="62675" y="37338"/>
                  </a:cubicBezTo>
                  <a:lnTo>
                    <a:pt x="83344" y="37338"/>
                  </a:lnTo>
                  <a:cubicBezTo>
                    <a:pt x="83344" y="59912"/>
                    <a:pt x="78677" y="68771"/>
                    <a:pt x="59627" y="82868"/>
                  </a:cubicBezTo>
                  <a:cubicBezTo>
                    <a:pt x="80105" y="97060"/>
                    <a:pt x="85058" y="106490"/>
                    <a:pt x="85058" y="131921"/>
                  </a:cubicBezTo>
                  <a:lnTo>
                    <a:pt x="64389" y="131921"/>
                  </a:lnTo>
                  <a:cubicBezTo>
                    <a:pt x="64389" y="112205"/>
                    <a:pt x="63532" y="109538"/>
                    <a:pt x="37814" y="93155"/>
                  </a:cubicBezTo>
                  <a:lnTo>
                    <a:pt x="20669" y="93155"/>
                  </a:lnTo>
                  <a:lnTo>
                    <a:pt x="20669" y="131921"/>
                  </a:lnTo>
                  <a:lnTo>
                    <a:pt x="0" y="131921"/>
                  </a:lnTo>
                  <a:lnTo>
                    <a:pt x="0" y="0"/>
                  </a:lnTo>
                  <a:lnTo>
                    <a:pt x="206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g31bf351e6d1_0_37"/>
            <p:cNvSpPr/>
            <p:nvPr/>
          </p:nvSpPr>
          <p:spPr>
            <a:xfrm>
              <a:off x="8044433" y="4673055"/>
              <a:ext cx="94488" cy="130778"/>
            </a:xfrm>
            <a:custGeom>
              <a:rect b="b" l="l" r="r" t="t"/>
              <a:pathLst>
                <a:path extrusionOk="0" h="130778" w="94488">
                  <a:moveTo>
                    <a:pt x="47244" y="98108"/>
                  </a:moveTo>
                  <a:cubicBezTo>
                    <a:pt x="11621" y="98108"/>
                    <a:pt x="0" y="85154"/>
                    <a:pt x="0" y="49054"/>
                  </a:cubicBezTo>
                  <a:cubicBezTo>
                    <a:pt x="0" y="12954"/>
                    <a:pt x="11621" y="0"/>
                    <a:pt x="47244" y="0"/>
                  </a:cubicBezTo>
                  <a:cubicBezTo>
                    <a:pt x="82868" y="0"/>
                    <a:pt x="94488" y="12954"/>
                    <a:pt x="94488" y="49054"/>
                  </a:cubicBezTo>
                  <a:lnTo>
                    <a:pt x="94488" y="85630"/>
                  </a:lnTo>
                  <a:cubicBezTo>
                    <a:pt x="94488" y="119253"/>
                    <a:pt x="82772" y="130778"/>
                    <a:pt x="49054" y="130778"/>
                  </a:cubicBezTo>
                  <a:lnTo>
                    <a:pt x="15907" y="130778"/>
                  </a:lnTo>
                  <a:lnTo>
                    <a:pt x="15907" y="110204"/>
                  </a:lnTo>
                  <a:lnTo>
                    <a:pt x="49054" y="110204"/>
                  </a:lnTo>
                  <a:cubicBezTo>
                    <a:pt x="68866" y="110204"/>
                    <a:pt x="72581" y="107918"/>
                    <a:pt x="73628" y="94202"/>
                  </a:cubicBezTo>
                  <a:cubicBezTo>
                    <a:pt x="66866" y="96869"/>
                    <a:pt x="58103" y="98108"/>
                    <a:pt x="47244" y="98108"/>
                  </a:cubicBezTo>
                  <a:close/>
                  <a:moveTo>
                    <a:pt x="20669" y="49054"/>
                  </a:moveTo>
                  <a:cubicBezTo>
                    <a:pt x="20669" y="74867"/>
                    <a:pt x="24098" y="77534"/>
                    <a:pt x="47244" y="77534"/>
                  </a:cubicBezTo>
                  <a:cubicBezTo>
                    <a:pt x="70390" y="77534"/>
                    <a:pt x="73819" y="74867"/>
                    <a:pt x="73819" y="49054"/>
                  </a:cubicBezTo>
                  <a:cubicBezTo>
                    <a:pt x="73819" y="23241"/>
                    <a:pt x="70390" y="20574"/>
                    <a:pt x="47244" y="20574"/>
                  </a:cubicBezTo>
                  <a:cubicBezTo>
                    <a:pt x="24098" y="20574"/>
                    <a:pt x="20669" y="23241"/>
                    <a:pt x="20669" y="49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g31bf351e6d1_0_37"/>
            <p:cNvSpPr/>
            <p:nvPr/>
          </p:nvSpPr>
          <p:spPr>
            <a:xfrm>
              <a:off x="8154066" y="4674865"/>
              <a:ext cx="50387" cy="94583"/>
            </a:xfrm>
            <a:custGeom>
              <a:rect b="b" l="l" r="r" t="t"/>
              <a:pathLst>
                <a:path extrusionOk="0" h="94583" w="50387">
                  <a:moveTo>
                    <a:pt x="20669" y="94583"/>
                  </a:moveTo>
                  <a:lnTo>
                    <a:pt x="0" y="94583"/>
                  </a:lnTo>
                  <a:lnTo>
                    <a:pt x="0" y="45148"/>
                  </a:lnTo>
                  <a:cubicBezTo>
                    <a:pt x="0" y="11525"/>
                    <a:pt x="11621" y="0"/>
                    <a:pt x="45244" y="0"/>
                  </a:cubicBezTo>
                  <a:lnTo>
                    <a:pt x="50387" y="0"/>
                  </a:lnTo>
                  <a:lnTo>
                    <a:pt x="50387" y="20574"/>
                  </a:lnTo>
                  <a:lnTo>
                    <a:pt x="45244" y="20574"/>
                  </a:lnTo>
                  <a:cubicBezTo>
                    <a:pt x="22955" y="20574"/>
                    <a:pt x="20669" y="22860"/>
                    <a:pt x="20669" y="45148"/>
                  </a:cubicBezTo>
                  <a:lnTo>
                    <a:pt x="20669" y="945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g31bf351e6d1_0_37"/>
            <p:cNvSpPr/>
            <p:nvPr/>
          </p:nvSpPr>
          <p:spPr>
            <a:xfrm>
              <a:off x="8216074" y="4673055"/>
              <a:ext cx="96202" cy="98107"/>
            </a:xfrm>
            <a:custGeom>
              <a:rect b="b" l="l" r="r" t="t"/>
              <a:pathLst>
                <a:path extrusionOk="0" h="98107" w="96202">
                  <a:moveTo>
                    <a:pt x="48101" y="0"/>
                  </a:moveTo>
                  <a:cubicBezTo>
                    <a:pt x="84582" y="0"/>
                    <a:pt x="96202" y="13716"/>
                    <a:pt x="96202" y="49054"/>
                  </a:cubicBezTo>
                  <a:cubicBezTo>
                    <a:pt x="96202" y="84392"/>
                    <a:pt x="84582" y="98108"/>
                    <a:pt x="48101" y="98108"/>
                  </a:cubicBezTo>
                  <a:cubicBezTo>
                    <a:pt x="11621" y="98108"/>
                    <a:pt x="0" y="84582"/>
                    <a:pt x="0" y="49054"/>
                  </a:cubicBezTo>
                  <a:cubicBezTo>
                    <a:pt x="0" y="13526"/>
                    <a:pt x="11906" y="0"/>
                    <a:pt x="48101" y="0"/>
                  </a:cubicBezTo>
                  <a:close/>
                  <a:moveTo>
                    <a:pt x="48101" y="77534"/>
                  </a:moveTo>
                  <a:cubicBezTo>
                    <a:pt x="72200" y="77534"/>
                    <a:pt x="75533" y="74200"/>
                    <a:pt x="75533" y="49054"/>
                  </a:cubicBezTo>
                  <a:cubicBezTo>
                    <a:pt x="75533" y="23908"/>
                    <a:pt x="72104" y="20574"/>
                    <a:pt x="48101" y="20574"/>
                  </a:cubicBezTo>
                  <a:cubicBezTo>
                    <a:pt x="24098" y="20574"/>
                    <a:pt x="20669" y="24098"/>
                    <a:pt x="20669" y="49054"/>
                  </a:cubicBezTo>
                  <a:cubicBezTo>
                    <a:pt x="20669" y="74009"/>
                    <a:pt x="24098" y="77534"/>
                    <a:pt x="48101" y="775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g31bf351e6d1_0_37"/>
            <p:cNvSpPr/>
            <p:nvPr/>
          </p:nvSpPr>
          <p:spPr>
            <a:xfrm>
              <a:off x="8325612" y="4674865"/>
              <a:ext cx="90677" cy="96297"/>
            </a:xfrm>
            <a:custGeom>
              <a:rect b="b" l="l" r="r" t="t"/>
              <a:pathLst>
                <a:path extrusionOk="0" h="96297" w="90677">
                  <a:moveTo>
                    <a:pt x="70009" y="0"/>
                  </a:moveTo>
                  <a:lnTo>
                    <a:pt x="90678" y="0"/>
                  </a:lnTo>
                  <a:lnTo>
                    <a:pt x="90678" y="51149"/>
                  </a:lnTo>
                  <a:cubicBezTo>
                    <a:pt x="90678" y="84773"/>
                    <a:pt x="78962" y="96298"/>
                    <a:pt x="45244" y="96298"/>
                  </a:cubicBezTo>
                  <a:cubicBezTo>
                    <a:pt x="11525" y="96298"/>
                    <a:pt x="0" y="84773"/>
                    <a:pt x="0" y="51149"/>
                  </a:cubicBezTo>
                  <a:lnTo>
                    <a:pt x="0" y="0"/>
                  </a:lnTo>
                  <a:lnTo>
                    <a:pt x="20669" y="0"/>
                  </a:lnTo>
                  <a:lnTo>
                    <a:pt x="20669" y="51149"/>
                  </a:lnTo>
                  <a:cubicBezTo>
                    <a:pt x="20669" y="73343"/>
                    <a:pt x="22955" y="75724"/>
                    <a:pt x="45244" y="75724"/>
                  </a:cubicBezTo>
                  <a:cubicBezTo>
                    <a:pt x="67532" y="75724"/>
                    <a:pt x="70009" y="73438"/>
                    <a:pt x="70009" y="51149"/>
                  </a:cubicBezTo>
                  <a:lnTo>
                    <a:pt x="700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g31bf351e6d1_0_37"/>
            <p:cNvSpPr/>
            <p:nvPr/>
          </p:nvSpPr>
          <p:spPr>
            <a:xfrm>
              <a:off x="8431434" y="4673055"/>
              <a:ext cx="94487" cy="130778"/>
            </a:xfrm>
            <a:custGeom>
              <a:rect b="b" l="l" r="r" t="t"/>
              <a:pathLst>
                <a:path extrusionOk="0" h="130778" w="94487">
                  <a:moveTo>
                    <a:pt x="47244" y="0"/>
                  </a:moveTo>
                  <a:cubicBezTo>
                    <a:pt x="83058" y="0"/>
                    <a:pt x="94488" y="12954"/>
                    <a:pt x="94488" y="49054"/>
                  </a:cubicBezTo>
                  <a:cubicBezTo>
                    <a:pt x="94488" y="85154"/>
                    <a:pt x="83058" y="98108"/>
                    <a:pt x="47244" y="98108"/>
                  </a:cubicBezTo>
                  <a:cubicBezTo>
                    <a:pt x="36195" y="98108"/>
                    <a:pt x="27432" y="96869"/>
                    <a:pt x="20669" y="94012"/>
                  </a:cubicBezTo>
                  <a:lnTo>
                    <a:pt x="20669" y="130778"/>
                  </a:lnTo>
                  <a:lnTo>
                    <a:pt x="0" y="130778"/>
                  </a:lnTo>
                  <a:lnTo>
                    <a:pt x="0" y="49054"/>
                  </a:lnTo>
                  <a:cubicBezTo>
                    <a:pt x="0" y="12954"/>
                    <a:pt x="11621" y="0"/>
                    <a:pt x="47244" y="0"/>
                  </a:cubicBezTo>
                  <a:close/>
                  <a:moveTo>
                    <a:pt x="47244" y="77534"/>
                  </a:moveTo>
                  <a:cubicBezTo>
                    <a:pt x="70580" y="77534"/>
                    <a:pt x="73819" y="74867"/>
                    <a:pt x="73819" y="49054"/>
                  </a:cubicBezTo>
                  <a:cubicBezTo>
                    <a:pt x="73819" y="23241"/>
                    <a:pt x="70580" y="20574"/>
                    <a:pt x="47244" y="20574"/>
                  </a:cubicBezTo>
                  <a:cubicBezTo>
                    <a:pt x="23908" y="20574"/>
                    <a:pt x="20669" y="23241"/>
                    <a:pt x="20669" y="49054"/>
                  </a:cubicBezTo>
                  <a:cubicBezTo>
                    <a:pt x="20669" y="74867"/>
                    <a:pt x="24098" y="77534"/>
                    <a:pt x="47244" y="775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" name="Google Shape;148;g31bf351e6d1_0_37"/>
          <p:cNvSpPr txBox="1"/>
          <p:nvPr/>
        </p:nvSpPr>
        <p:spPr>
          <a:xfrm>
            <a:off x="373227" y="3420000"/>
            <a:ext cx="300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000" b="0">
                <a:solidFill>
                  <a:srgbClr val="A7B6BD"/>
                </a:solidFill>
                <a:latin typeface="Golos Text"/>
              </a:rPr>
              <a:t>Сентябрь 2026</a:t>
            </a:r>
            <a:endParaRPr b="0" i="0" sz="10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49" name="Google Shape;149;g31bf351e6d1_0_37"/>
          <p:cNvSpPr txBox="1"/>
          <p:nvPr/>
        </p:nvSpPr>
        <p:spPr>
          <a:xfrm>
            <a:off x="373227" y="1320000"/>
            <a:ext cx="41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500" b="0">
                <a:solidFill>
                  <a:srgbClr val="FFFFFF"/>
                </a:solidFill>
                <a:latin typeface="Golos Text SemiBold"/>
              </a:rPr>
              <a:t>Трансформация процессов ДУП</a:t>
            </a:r>
            <a:endParaRPr b="0" i="0" sz="2400" u="none" cap="none" strike="noStrike">
              <a:solidFill>
                <a:schemeClr val="lt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150" name="Google Shape;150;g31bf351e6d1_0_37"/>
          <p:cNvPicPr preferRelativeResize="0"/>
          <p:nvPr/>
        </p:nvPicPr>
        <p:blipFill rotWithShape="1">
          <a:blip r:embed="rId3">
            <a:alphaModFix/>
          </a:blip>
          <a:srcRect b="0" l="44680" r="6316" t="0"/>
          <a:stretch/>
        </p:blipFill>
        <p:spPr>
          <a:xfrm rot="5400000">
            <a:off x="4094185" y="266040"/>
            <a:ext cx="5143504" cy="461142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Rectangle 150"/>
          <p:cNvSpPr/>
          <p:nvPr/>
        </p:nvSpPr>
        <p:spPr>
          <a:xfrm>
            <a:off x="433227" y="2440000"/>
            <a:ext cx="620000" cy="30000"/>
          </a:xfrm>
          <a:prstGeom prst="rect">
            <a:avLst/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/>
          </a:p>
        </p:txBody>
      </p:sp>
      <p:sp>
        <p:nvSpPr>
          <p:cNvPr id="152" name="TextBox 151"/>
          <p:cNvSpPr txBox="1"/>
          <p:nvPr/>
        </p:nvSpPr>
        <p:spPr>
          <a:xfrm>
            <a:off x="433227" y="2600000"/>
            <a:ext cx="41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28AB6A"/>
                </a:solidFill>
                <a:latin typeface="Golos Text Medium"/>
              </a:rPr>
              <a:t>Дорожная карта проекта «под ключ»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33227" y="2990000"/>
            <a:ext cx="41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D4D8E4"/>
                </a:solidFill>
                <a:latin typeface="Golos Text"/>
              </a:rPr>
              <a:t>Департамент управления проектами · ТОО «Көркем Телеком»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Содержание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97125" y="1010000"/>
            <a:ext cx="560000" cy="540000"/>
          </a:xfrm>
          <a:prstGeom prst="roundRect">
            <a:avLst>
              <a:gd name="adj" fmla="val 14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Golos Text SemiBold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125" y="1070000"/>
            <a:ext cx="5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E1E1E"/>
                </a:solidFill>
                <a:latin typeface="Golos Text SemiBold"/>
              </a:rPr>
              <a:t>Итоги диагностики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7125" y="1330000"/>
            <a:ext cx="62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444746"/>
                </a:solidFill>
                <a:latin typeface="Golos Text"/>
              </a:rPr>
              <a:t>Что проанализировали и главный вывод</a:t>
            </a:r>
          </a:p>
        </p:txBody>
      </p:sp>
      <p:sp>
        <p:nvSpPr>
          <p:cNvPr id="6" name="Rectangle 5"/>
          <p:cNvSpPr/>
          <p:nvPr/>
        </p:nvSpPr>
        <p:spPr>
          <a:xfrm>
            <a:off x="397125" y="1620000"/>
            <a:ext cx="8349750" cy="9525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7125" y="1690000"/>
            <a:ext cx="560000" cy="540000"/>
          </a:xfrm>
          <a:prstGeom prst="roundRect">
            <a:avLst>
              <a:gd name="adj" fmla="val 14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Golos Text SemiBold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125" y="1750000"/>
            <a:ext cx="5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E1E1E"/>
                </a:solidFill>
                <a:latin typeface="Golos Text SemiBold"/>
              </a:rPr>
              <a:t>Карта процессов и диагноз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125" y="2010000"/>
            <a:ext cx="62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444746"/>
                </a:solidFill>
                <a:latin typeface="Golos Text"/>
              </a:rPr>
              <a:t>4 блока, 15 узких мест, 3 разрыва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125" y="2300000"/>
            <a:ext cx="8349750" cy="9525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7125" y="2370000"/>
            <a:ext cx="560000" cy="540000"/>
          </a:xfrm>
          <a:prstGeom prst="roundRect">
            <a:avLst>
              <a:gd name="adj" fmla="val 14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Golos Text SemiBold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125" y="2430000"/>
            <a:ext cx="5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E1E1E"/>
                </a:solidFill>
                <a:latin typeface="Golos Text SemiBold"/>
              </a:rPr>
              <a:t>Направления работы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7125" y="2690000"/>
            <a:ext cx="62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444746"/>
                </a:solidFill>
                <a:latin typeface="Golos Text"/>
              </a:rPr>
              <a:t>Оптимизация · Трансформация · Цифровизация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125" y="2980000"/>
            <a:ext cx="8349750" cy="9525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7125" y="3050000"/>
            <a:ext cx="560000" cy="540000"/>
          </a:xfrm>
          <a:prstGeom prst="roundRect">
            <a:avLst>
              <a:gd name="adj" fmla="val 14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Golos Text SemiBold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125" y="3110000"/>
            <a:ext cx="5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E1E1E"/>
                </a:solidFill>
                <a:latin typeface="Golos Text SemiBold"/>
              </a:rPr>
              <a:t>Дорожная карта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7125" y="3370000"/>
            <a:ext cx="62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444746"/>
                </a:solidFill>
                <a:latin typeface="Golos Text"/>
              </a:rPr>
              <a:t>5 фаз, 12 месяцев, gate-критерии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125" y="3660000"/>
            <a:ext cx="8349750" cy="9525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97125" y="3730000"/>
            <a:ext cx="560000" cy="540000"/>
          </a:xfrm>
          <a:prstGeom prst="roundRect">
            <a:avLst>
              <a:gd name="adj" fmla="val 14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Golos Text SemiBold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125" y="3790000"/>
            <a:ext cx="5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E1E1E"/>
                </a:solidFill>
                <a:latin typeface="Golos Text SemiBold"/>
              </a:rPr>
              <a:t>Управление и результат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7125" y="4050000"/>
            <a:ext cx="62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444746"/>
                </a:solidFill>
                <a:latin typeface="Golos Text"/>
              </a:rPr>
              <a:t>KPI, governance, риски, первые шаги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7125" y="4340000"/>
            <a:ext cx="8349750" cy="9525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Главный вывод диагностики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97125" y="910000"/>
            <a:ext cx="8349750" cy="700000"/>
          </a:xfrm>
          <a:prstGeom prst="roundRect">
            <a:avLst>
              <a:gd name="adj" fmla="val 10000"/>
            </a:avLst>
          </a:prstGeom>
          <a:solidFill>
            <a:srgbClr val="1C3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40000" rIns="110000" tIns="90000" bIns="90000" wrap="square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Golos Text SemiBold"/>
              </a:rPr>
              <a:t>Проблема ДУП — не в отсутствии процессов, а в их исполнении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Golos Text SemiBold"/>
              </a:rPr>
              <a:t>и организационной модели. Методология уже описывает почти всё.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125" y="1780000"/>
            <a:ext cx="2663250" cy="133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>
              <a:lnSpc>
                <a:spcPct val="100000"/>
              </a:lnSpc>
            </a:pPr>
            <a:r>
              <a:rPr sz="3000">
                <a:solidFill>
                  <a:srgbClr val="28AB6A"/>
                </a:solidFill>
                <a:latin typeface="Golos Text SemiBold"/>
              </a:rPr>
              <a:t>12 из 15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>
                <a:solidFill>
                  <a:srgbClr val="282828"/>
                </a:solidFill>
                <a:latin typeface="Golos Text"/>
              </a:rPr>
              <a:t>узких мест имеют описанную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50">
                <a:solidFill>
                  <a:srgbClr val="282828"/>
                </a:solidFill>
                <a:latin typeface="Golos Text"/>
              </a:rPr>
              <a:t>процедуру, но она не исполняется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0375" y="1780000"/>
            <a:ext cx="2663250" cy="133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>
              <a:lnSpc>
                <a:spcPct val="100000"/>
              </a:lnSpc>
            </a:pPr>
            <a:r>
              <a:rPr sz="3000">
                <a:solidFill>
                  <a:srgbClr val="A87300"/>
                </a:solidFill>
                <a:latin typeface="Golos Text SemiBold"/>
              </a:rPr>
              <a:t>2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>
                <a:solidFill>
                  <a:srgbClr val="282828"/>
                </a:solidFill>
                <a:latin typeface="Golos Text"/>
              </a:rPr>
              <a:t>подлинных пробела — требуют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50">
                <a:solidFill>
                  <a:srgbClr val="282828"/>
                </a:solidFill>
                <a:latin typeface="Golos Text"/>
              </a:rPr>
              <a:t>нового регламента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3625" y="1780000"/>
            <a:ext cx="2663250" cy="133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>
              <a:lnSpc>
                <a:spcPct val="100000"/>
              </a:lnSpc>
            </a:pPr>
            <a:r>
              <a:rPr sz="3000">
                <a:solidFill>
                  <a:srgbClr val="E94235"/>
                </a:solidFill>
                <a:latin typeface="Golos Text SemiBold"/>
              </a:rPr>
              <a:t>1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>
                <a:solidFill>
                  <a:srgbClr val="282828"/>
                </a:solidFill>
                <a:latin typeface="Golos Text"/>
              </a:rPr>
              <a:t>новый риск — фрагментированный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50">
                <a:solidFill>
                  <a:srgbClr val="282828"/>
                </a:solidFill>
                <a:latin typeface="Golos Text"/>
              </a:rPr>
              <a:t>ИТ-ландшафт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125" y="3280000"/>
            <a:ext cx="8349750" cy="83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40000" rIns="240000" tIns="90000" bIns="90000" wrap="square"/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013D85"/>
                </a:solidFill>
                <a:latin typeface="Golos Text SemiBold"/>
              </a:rPr>
              <a:t>Следствие для стратегии проекта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00">
                <a:solidFill>
                  <a:srgbClr val="282828"/>
                </a:solidFill>
                <a:latin typeface="Golos Text"/>
              </a:rPr>
              <a:t>Не переписываем методологию заново — восстанавливаем исполнение, закрываем два пробела и меняем организационную модель. Это кратно быстрее и дешевле разработки процессов с нуля.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Что проанализировали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Два слоя документации — текущий анализ и наследие методологии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125" y="1010000"/>
            <a:ext cx="4074875" cy="173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10000"/>
              </a:lnSpc>
            </a:pPr>
            <a:r>
              <a:rPr sz="1100">
                <a:solidFill>
                  <a:srgbClr val="28AB6A"/>
                </a:solidFill>
                <a:latin typeface="Golos Text SemiBold"/>
              </a:rPr>
              <a:t>Слой А — текущий анализ (2026)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Интервью с руководством ДУП — 15 узких мест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Дерево процессов v4 — 4 блока + внешние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RACI-матрица — 25 подпроцессов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Кадровая и компетентностная матрица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4 проекта должностных инструкций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72000" y="1010000"/>
            <a:ext cx="4074875" cy="173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10000"/>
              </a:lnSpc>
            </a:pPr>
            <a:r>
              <a:rPr sz="1100">
                <a:solidFill>
                  <a:srgbClr val="013D85"/>
                </a:solidFill>
                <a:latin typeface="Golos Text SemiBold"/>
              </a:rPr>
              <a:t>Слой B — методология «Сергек» (2020–2024)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1 313 страниц, приказ Правления от 15.01.2021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417 страниц Confluence + 13 локальных файлов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5 стадий жизненного цикла × 5 треков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Чек-листы аудита и 9 ролевых инструкций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Навигатор по 21 роли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125" y="2910000"/>
            <a:ext cx="834975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Golos Text SemiBold"/>
              </a:rPr>
              <a:t>Что это дало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125" y="3190000"/>
            <a:ext cx="2003940" cy="30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Артефакт</a:t>
            </a:r>
          </a:p>
        </p:txBody>
      </p:sp>
      <p:sp>
        <p:nvSpPr>
          <p:cNvPr id="8" name="Rectangle 7"/>
          <p:cNvSpPr/>
          <p:nvPr/>
        </p:nvSpPr>
        <p:spPr>
          <a:xfrm>
            <a:off x="2401065" y="3190000"/>
            <a:ext cx="1502955" cy="30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Объём</a:t>
            </a:r>
          </a:p>
        </p:txBody>
      </p:sp>
      <p:sp>
        <p:nvSpPr>
          <p:cNvPr id="9" name="Rectangle 8"/>
          <p:cNvSpPr/>
          <p:nvPr/>
        </p:nvSpPr>
        <p:spPr>
          <a:xfrm>
            <a:off x="3904020" y="3190000"/>
            <a:ext cx="4842855" cy="30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Роль в проекте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125" y="3490000"/>
            <a:ext cx="2003940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Реестр документации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1065" y="3490000"/>
            <a:ext cx="1502955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434 записи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4020" y="3490000"/>
            <a:ext cx="4842855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Инвентаризация ВНД, база для актуализации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125" y="3790000"/>
            <a:ext cx="2003940" cy="30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Реестр бизнес-процессов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01065" y="3790000"/>
            <a:ext cx="1502955" cy="30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51 запись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04020" y="3790000"/>
            <a:ext cx="4842855" cy="30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Процессы, подпроцессы, этапы и владельцы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125" y="4090000"/>
            <a:ext cx="2003940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Опросник директоров филиалов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01065" y="4090000"/>
            <a:ext cx="1502955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46 вопросов / 8 блоков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04020" y="4090000"/>
            <a:ext cx="4842855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Масштабирование диагностики на сеть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Карта процессов ДУП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23 подпроцесса в четырёх блоках + интерфейсы с центральным офисом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125" y="1070000"/>
            <a:ext cx="1989937" cy="480000"/>
          </a:xfrm>
          <a:prstGeom prst="roundRect">
            <a:avLst>
              <a:gd name="adj" fmla="val 12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Golos Text SemiBold"/>
              </a:rPr>
              <a:t>1. Реализация проекта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125" y="1570000"/>
            <a:ext cx="1989937" cy="175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/>
            <a:r>
              <a:rPr sz="900">
                <a:solidFill>
                  <a:srgbClr val="013D85"/>
                </a:solidFill>
                <a:latin typeface="Golos Text SemiBold"/>
              </a:rPr>
              <a:t>9 подпроцессов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Приём пакета от ДРБ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Проектная документация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ФЭМ и бюджет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Закупки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Реестр платежей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7062" y="1070000"/>
            <a:ext cx="1989937" cy="480000"/>
          </a:xfrm>
          <a:prstGeom prst="roundRect">
            <a:avLst>
              <a:gd name="adj" fmla="val 12000"/>
            </a:avLst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Golos Text SemiBold"/>
              </a:rPr>
              <a:t>2. Сопровождение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7062" y="1570000"/>
            <a:ext cx="1989937" cy="175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/>
            <a:r>
              <a:rPr sz="900">
                <a:solidFill>
                  <a:srgbClr val="28AB6A"/>
                </a:solidFill>
                <a:latin typeface="Golos Text SemiBold"/>
              </a:rPr>
              <a:t>8 подпроцессов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Поверка оборудования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Канал связи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Прогноз поступлений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Переносы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Отчётность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6999" y="1070000"/>
            <a:ext cx="1989937" cy="480000"/>
          </a:xfrm>
          <a:prstGeom prst="roundRect">
            <a:avLst>
              <a:gd name="adj" fmla="val 12000"/>
            </a:avLst>
          </a:prstGeom>
          <a:solidFill>
            <a:srgbClr val="438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Golos Text SemiBold"/>
              </a:rPr>
              <a:t>3. Филиальная сеть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6999" y="1570000"/>
            <a:ext cx="1989937" cy="175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/>
            <a:r>
              <a:rPr sz="900">
                <a:solidFill>
                  <a:srgbClr val="4384F4"/>
                </a:solidFill>
                <a:latin typeface="Golos Text SemiBold"/>
              </a:rPr>
              <a:t>3 подпроцесса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Назначение куратора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Открытие филиала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Отношения с филиалом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56936" y="1070000"/>
            <a:ext cx="1989937" cy="480000"/>
          </a:xfrm>
          <a:prstGeom prst="roundRect">
            <a:avLst>
              <a:gd name="adj" fmla="val 12000"/>
            </a:avLst>
          </a:prstGeom>
          <a:solidFill>
            <a:srgbClr val="FBB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E1E1E"/>
                </a:solidFill>
                <a:latin typeface="Golos Text SemiBold"/>
              </a:rPr>
              <a:t>4. Методология / ПМО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56936" y="1570000"/>
            <a:ext cx="1989937" cy="175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/>
            <a:r>
              <a:rPr sz="900">
                <a:solidFill>
                  <a:srgbClr val="A87300"/>
                </a:solidFill>
                <a:latin typeface="Golos Text SemiBold"/>
              </a:rPr>
              <a:t>3 подпроцесса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Методология и шаблоны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Контроль качества данных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Портфельная отчётность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125" y="3490000"/>
            <a:ext cx="8349750" cy="70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110000" tIns="90000" bIns="90000" wrap="square"/>
          <a:lstStyle/>
          <a:p>
            <a:pPr algn="l">
              <a:lnSpc>
                <a:spcPct val="125000"/>
              </a:lnSpc>
            </a:pPr>
            <a:r>
              <a:rPr sz="950">
                <a:solidFill>
                  <a:srgbClr val="1E1E1E"/>
                </a:solidFill>
                <a:latin typeface="Golos Text SemiBold"/>
              </a:rPr>
              <a:t>Раздел Б — процессы других подразделений, где ДУП является участником:  </a:t>
            </a:r>
            <a:r>
              <a:rPr sz="950">
                <a:solidFill>
                  <a:srgbClr val="282828"/>
                </a:solidFill>
                <a:latin typeface="Golos Text"/>
              </a:rPr>
              <a:t>ДРБ (передача проекта) · Финблок (ФЭМ, платежи, закрытие) · Закупки · Юр блок · СТ (монтаж)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Диагноз: 15 узких мест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Ревизия по методологии изменила картину проблемы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125" y="1070000"/>
            <a:ext cx="2500000" cy="1450000"/>
          </a:xfrm>
          <a:prstGeom prst="roundRect">
            <a:avLst>
              <a:gd name="adj" fmla="val 6000"/>
            </a:avLst>
          </a:prstGeom>
          <a:solidFill>
            <a:srgbClr val="1C3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ctr">
              <a:lnSpc>
                <a:spcPct val="100000"/>
              </a:lnSpc>
            </a:pPr>
            <a:r>
              <a:rPr sz="4400">
                <a:solidFill>
                  <a:srgbClr val="FFFFFF"/>
                </a:solidFill>
                <a:latin typeface="Golos Text SemiBold"/>
              </a:rPr>
              <a:t>15</a:t>
            </a:r>
          </a:p>
          <a:p>
            <a:pPr algn="ctr">
              <a:lnSpc>
                <a:spcPct val="120000"/>
              </a:lnSpc>
            </a:pPr>
            <a:r>
              <a:rPr sz="950">
                <a:solidFill>
                  <a:srgbClr val="D4D8E4"/>
                </a:solidFill>
                <a:latin typeface="Golos Text"/>
              </a:rPr>
              <a:t>узких мест</a:t>
            </a:r>
          </a:p>
          <a:p>
            <a:pPr algn="ctr">
              <a:lnSpc>
                <a:spcPct val="120000"/>
              </a:lnSpc>
            </a:pPr>
            <a:r>
              <a:rPr sz="950">
                <a:solidFill>
                  <a:srgbClr val="D4D8E4"/>
                </a:solidFill>
                <a:latin typeface="Golos Text"/>
              </a:rPr>
              <a:t>выявлено в диагностике</a:t>
            </a:r>
          </a:p>
        </p:txBody>
      </p:sp>
      <p:sp>
        <p:nvSpPr>
          <p:cNvPr id="5" name="Rectangle 4"/>
          <p:cNvSpPr/>
          <p:nvPr/>
        </p:nvSpPr>
        <p:spPr>
          <a:xfrm>
            <a:off x="3097125" y="1070000"/>
            <a:ext cx="22000" cy="400000"/>
          </a:xfrm>
          <a:prstGeom prst="rect">
            <a:avLst/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/>
          </a:p>
        </p:txBody>
      </p:sp>
      <p:sp>
        <p:nvSpPr>
          <p:cNvPr id="6" name="TextBox 5"/>
          <p:cNvSpPr txBox="1"/>
          <p:nvPr/>
        </p:nvSpPr>
        <p:spPr>
          <a:xfrm>
            <a:off x="3217125" y="1080000"/>
            <a:ext cx="4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28AB6A"/>
                </a:solidFill>
                <a:latin typeface="Golos Text SemiBold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125" y="1090000"/>
            <a:ext cx="504975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1E1E1E"/>
                </a:solidFill>
                <a:latin typeface="Golos Text SemiBold"/>
              </a:rPr>
              <a:t>Норматив есть — не исполняется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125" y="1280000"/>
            <a:ext cx="50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444746"/>
                </a:solidFill>
                <a:latin typeface="Golos Text"/>
              </a:rPr>
              <a:t>Приём пакета, прогнозы, закупки, статус-встречи, аудит, ФЭМ, переносы, дефекты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97125" y="1560000"/>
            <a:ext cx="22000" cy="400000"/>
          </a:xfrm>
          <a:prstGeom prst="rect">
            <a:avLst/>
          </a:prstGeom>
          <a:solidFill>
            <a:srgbClr val="FBB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/>
          </a:p>
        </p:txBody>
      </p:sp>
      <p:sp>
        <p:nvSpPr>
          <p:cNvPr id="10" name="TextBox 9"/>
          <p:cNvSpPr txBox="1"/>
          <p:nvPr/>
        </p:nvSpPr>
        <p:spPr>
          <a:xfrm>
            <a:off x="3217125" y="1570000"/>
            <a:ext cx="4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A87300"/>
                </a:solidFill>
                <a:latin typeface="Golos Text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125" y="1580000"/>
            <a:ext cx="504975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1E1E1E"/>
                </a:solidFill>
                <a:latin typeface="Golos Text SemiBold"/>
              </a:rPr>
              <a:t>Подлинный пробел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125" y="1770000"/>
            <a:ext cx="50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444746"/>
                </a:solidFill>
                <a:latin typeface="Golos Text"/>
              </a:rPr>
              <a:t>Подтверждение готовности продукта · Передача «реализация → сопровождение»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97125" y="2050000"/>
            <a:ext cx="22000" cy="400000"/>
          </a:xfrm>
          <a:prstGeom prst="rect">
            <a:avLst/>
          </a:prstGeom>
          <a:solidFill>
            <a:srgbClr val="E94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/>
          </a:p>
        </p:txBody>
      </p:sp>
      <p:sp>
        <p:nvSpPr>
          <p:cNvPr id="14" name="TextBox 13"/>
          <p:cNvSpPr txBox="1"/>
          <p:nvPr/>
        </p:nvSpPr>
        <p:spPr>
          <a:xfrm>
            <a:off x="3217125" y="2060000"/>
            <a:ext cx="4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E94235"/>
                </a:solidFill>
                <a:latin typeface="Golos Text Semi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125" y="2070000"/>
            <a:ext cx="504975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1E1E1E"/>
                </a:solidFill>
                <a:latin typeface="Golos Text SemiBold"/>
              </a:rPr>
              <a:t>Новый риск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125" y="2260000"/>
            <a:ext cx="50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444746"/>
                </a:solidFill>
                <a:latin typeface="Golos Text"/>
              </a:rPr>
              <a:t>Фрагментированный ИТ-ландшафт и незавершённая миграция платформы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125" y="2690000"/>
            <a:ext cx="834975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Golos Text SemiBold"/>
              </a:rPr>
              <a:t>Как изменилась оценка после сверки с методологией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125" y="2970000"/>
            <a:ext cx="2170935" cy="29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Классификация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8060" y="2970000"/>
            <a:ext cx="1168965" cy="29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До сверки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37025" y="2970000"/>
            <a:ext cx="1168965" cy="29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После сверки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05990" y="2970000"/>
            <a:ext cx="3840885" cy="29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Что это меняет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7125" y="3260000"/>
            <a:ext cx="2170935" cy="2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Покрыто нормативно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8060" y="3260000"/>
            <a:ext cx="1168965" cy="2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37025" y="3260000"/>
            <a:ext cx="1168965" cy="2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05990" y="3260000"/>
            <a:ext cx="3840885" cy="2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Фокус смещается на исполнение и контроль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125" y="3550000"/>
            <a:ext cx="2170935" cy="29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Подлинный пробел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8060" y="3550000"/>
            <a:ext cx="1168965" cy="29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37025" y="3550000"/>
            <a:ext cx="1168965" cy="29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05990" y="3550000"/>
            <a:ext cx="3840885" cy="29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Нужен только 1 новый регламент + чек-лист передачи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7125" y="3840000"/>
            <a:ext cx="2170935" cy="2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Новый риск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8060" y="3840000"/>
            <a:ext cx="1168965" cy="2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37025" y="3840000"/>
            <a:ext cx="1168965" cy="2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05990" y="3840000"/>
            <a:ext cx="3840885" cy="2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ИТ-миграция выносится в отдельный поток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Три ключевых разрыва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Что именно мешает управляемости портфеля сегодня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125" y="1080000"/>
            <a:ext cx="2656583" cy="440000"/>
          </a:xfrm>
          <a:prstGeom prst="roundRect">
            <a:avLst>
              <a:gd name="adj" fmla="val 12000"/>
            </a:avLst>
          </a:prstGeom>
          <a:solidFill>
            <a:srgbClr val="E94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Golos Text SemiBold"/>
              </a:rPr>
              <a:t>Организационный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125" y="1540000"/>
            <a:ext cx="2656583" cy="245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— Блоки «Реализация» и «Сопровождение» ведёт один человек</a:t>
            </a:r>
          </a:p>
          <a:p>
            <a:pPr algn="l">
              <a:lnSpc>
                <a:spcPct val="130000"/>
              </a:lnSpc>
              <a:spcBef>
                <a:spcPts val="11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— Роль ПМО не выделена, методология числится за директором</a:t>
            </a:r>
          </a:p>
          <a:p>
            <a:pPr algn="l">
              <a:lnSpc>
                <a:spcPct val="130000"/>
              </a:lnSpc>
              <a:spcBef>
                <a:spcPts val="11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— Открытие филиала — «ничья зона» в RACI и ДИ</a:t>
            </a:r>
          </a:p>
          <a:p>
            <a:pPr algn="l">
              <a:lnSpc>
                <a:spcPct val="130000"/>
              </a:lnSpc>
              <a:spcBef>
                <a:spcPts val="11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— Отчётность дублируется в трёх ролях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3708" y="1080000"/>
            <a:ext cx="2656583" cy="440000"/>
          </a:xfrm>
          <a:prstGeom prst="roundRect">
            <a:avLst>
              <a:gd name="adj" fmla="val 12000"/>
            </a:avLst>
          </a:prstGeom>
          <a:solidFill>
            <a:srgbClr val="FBB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Golos Text SemiBold"/>
              </a:rPr>
              <a:t>Исполнительский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3708" y="1540000"/>
            <a:ext cx="2656583" cy="245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— 12 процедур описаны, но не выполняются</a:t>
            </a:r>
          </a:p>
          <a:p>
            <a:pPr algn="l">
              <a:lnSpc>
                <a:spcPct val="130000"/>
              </a:lnSpc>
              <a:spcBef>
                <a:spcPts val="11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— Из 6 обязанностей менеджера ЦА исполняется около одной</a:t>
            </a:r>
          </a:p>
          <a:p>
            <a:pPr algn="l">
              <a:lnSpc>
                <a:spcPct val="130000"/>
              </a:lnSpc>
              <a:spcBef>
                <a:spcPts val="11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— Контур аудита остановлен после 2020 года</a:t>
            </a:r>
          </a:p>
          <a:p>
            <a:pPr algn="l">
              <a:lnSpc>
                <a:spcPct val="130000"/>
              </a:lnSpc>
              <a:spcBef>
                <a:spcPts val="11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— Прогнозы и платежи ведутся в чатах и ad-hoc запросах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0291" y="1080000"/>
            <a:ext cx="2656583" cy="440000"/>
          </a:xfrm>
          <a:prstGeom prst="roundRect">
            <a:avLst>
              <a:gd name="adj" fmla="val 12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Golos Text SemiBold"/>
              </a:rPr>
              <a:t>Цифровой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0291" y="1540000"/>
            <a:ext cx="2656583" cy="245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— Платформа портфеля работает не полностью</a:t>
            </a:r>
          </a:p>
          <a:p>
            <a:pPr algn="l">
              <a:lnSpc>
                <a:spcPct val="130000"/>
              </a:lnSpc>
              <a:spcBef>
                <a:spcPts val="11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— Нет единой карточки проекта и блокировки без пакета</a:t>
            </a:r>
          </a:p>
          <a:p>
            <a:pPr algn="l">
              <a:lnSpc>
                <a:spcPct val="130000"/>
              </a:lnSpc>
              <a:spcBef>
                <a:spcPts val="11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— Данные распределены между Confluence, таблицами, мессенджерами</a:t>
            </a:r>
          </a:p>
          <a:p>
            <a:pPr algn="l">
              <a:lnSpc>
                <a:spcPct val="130000"/>
              </a:lnSpc>
              <a:spcBef>
                <a:spcPts val="11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— Отсутствуют автоуведомления по срокам и платежам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Три направления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19 процессов и инициатив в портфеле трансформации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125" y="1090000"/>
            <a:ext cx="2656583" cy="162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28AB6A"/>
                </a:solidFill>
                <a:latin typeface="Golos Text SemiBold"/>
              </a:rPr>
              <a:t>Оптимизация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sz="2600">
                <a:solidFill>
                  <a:srgbClr val="1E1E1E"/>
                </a:solidFill>
                <a:latin typeface="Golos Text SemiBold"/>
              </a:rPr>
              <a:t>10  </a:t>
            </a:r>
            <a:r>
              <a:rPr sz="1000">
                <a:solidFill>
                  <a:srgbClr val="444746"/>
                </a:solidFill>
                <a:latin typeface="Golos Text"/>
              </a:rPr>
              <a:t>процессов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Восстановление исполнения существующих процедур методологии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3708" y="1090000"/>
            <a:ext cx="2656583" cy="162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013D85"/>
                </a:solidFill>
                <a:latin typeface="Golos Text SemiBold"/>
              </a:rPr>
              <a:t>Трансформация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sz="2600">
                <a:solidFill>
                  <a:srgbClr val="1E1E1E"/>
                </a:solidFill>
                <a:latin typeface="Golos Text SemiBold"/>
              </a:rPr>
              <a:t>5  </a:t>
            </a:r>
            <a:r>
              <a:rPr sz="1000">
                <a:solidFill>
                  <a:srgbClr val="444746"/>
                </a:solidFill>
                <a:latin typeface="Golos Text"/>
              </a:rPr>
              <a:t>процессов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Новое проектирование: пробелы и организационная модель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0291" y="1090000"/>
            <a:ext cx="2656583" cy="162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4384F4"/>
                </a:solidFill>
                <a:latin typeface="Golos Text SemiBold"/>
              </a:rPr>
              <a:t>Цифровизация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sz="2600">
                <a:solidFill>
                  <a:srgbClr val="1E1E1E"/>
                </a:solidFill>
                <a:latin typeface="Golos Text SemiBold"/>
              </a:rPr>
              <a:t>4  </a:t>
            </a:r>
            <a:r>
              <a:rPr sz="1000">
                <a:solidFill>
                  <a:srgbClr val="444746"/>
                </a:solidFill>
                <a:latin typeface="Golos Text"/>
              </a:rPr>
              <a:t>инициативы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Единая экосистема данных и автоматизация рутины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125" y="2890000"/>
            <a:ext cx="834975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Golos Text SemiBold"/>
              </a:rPr>
              <a:t>Логика приоритизации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125" y="3220000"/>
            <a:ext cx="380000" cy="310000"/>
          </a:xfrm>
          <a:prstGeom prst="roundRect">
            <a:avLst>
              <a:gd name="adj" fmla="val 18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90000" bIns="9000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Golos Text SemiBold"/>
              </a:rP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7125" y="3250000"/>
            <a:ext cx="27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E1E1E"/>
                </a:solidFill>
                <a:latin typeface="Golos Text SemiBold"/>
              </a:rPr>
              <a:t>Быстрый эффект без ИТ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7125" y="3255000"/>
            <a:ext cx="504975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"/>
              </a:rPr>
              <a:t>Восстановление процедур — результат в пределах фазы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125" y="3620000"/>
            <a:ext cx="380000" cy="310000"/>
          </a:xfrm>
          <a:prstGeom prst="roundRect">
            <a:avLst>
              <a:gd name="adj" fmla="val 18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90000" bIns="9000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Golos Text SemiBold"/>
              </a:rPr>
              <a:t>P2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125" y="3650000"/>
            <a:ext cx="27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E1E1E"/>
                </a:solidFill>
                <a:latin typeface="Golos Text SemiBold"/>
              </a:rPr>
              <a:t>Организационная готовность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7125" y="3655000"/>
            <a:ext cx="504975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"/>
              </a:rPr>
              <a:t>Разделение ролей и новые регламенты — фаза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125" y="4020000"/>
            <a:ext cx="380000" cy="310000"/>
          </a:xfrm>
          <a:prstGeom prst="roundRect">
            <a:avLst>
              <a:gd name="adj" fmla="val 18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90000" bIns="9000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Golos Text SemiBold"/>
              </a:rPr>
              <a:t>P3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125" y="4050000"/>
            <a:ext cx="27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E1E1E"/>
                </a:solidFill>
                <a:latin typeface="Golos Text SemiBold"/>
              </a:rPr>
              <a:t>Системное закрепление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7125" y="4055000"/>
            <a:ext cx="504975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"/>
              </a:rPr>
              <a:t>Цифровизация и актуализация ВНД — фаза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Что оптимизируем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Процессы, где норматив есть — восстанавливаем исполнение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125" y="1010000"/>
            <a:ext cx="667980" cy="31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Код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5105" y="1010000"/>
            <a:ext cx="2504925" cy="31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Процесс</a:t>
            </a:r>
          </a:p>
        </p:txBody>
      </p:sp>
      <p:sp>
        <p:nvSpPr>
          <p:cNvPr id="6" name="Rectangle 5"/>
          <p:cNvSpPr/>
          <p:nvPr/>
        </p:nvSpPr>
        <p:spPr>
          <a:xfrm>
            <a:off x="3570030" y="1010000"/>
            <a:ext cx="4341870" cy="31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Что делаем</a:t>
            </a:r>
          </a:p>
        </p:txBody>
      </p:sp>
      <p:sp>
        <p:nvSpPr>
          <p:cNvPr id="7" name="Rectangle 6"/>
          <p:cNvSpPr/>
          <p:nvPr/>
        </p:nvSpPr>
        <p:spPr>
          <a:xfrm>
            <a:off x="7911900" y="1010000"/>
            <a:ext cx="834975" cy="31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Приоритет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125" y="1320000"/>
            <a:ext cx="667980" cy="31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1.1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5105" y="1320000"/>
            <a:ext cx="2504925" cy="31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Приём пакета от ДРБ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70030" y="1320000"/>
            <a:ext cx="4341870" cy="31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Чек-лист, SLA 5 дней, блокировка старта без пакета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11900" y="1320000"/>
            <a:ext cx="834975" cy="31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P1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125" y="1630000"/>
            <a:ext cx="667980" cy="31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1.5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5105" y="1630000"/>
            <a:ext cx="2504925" cy="31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ФЭМ и бюджет проекта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70030" y="1630000"/>
            <a:ext cx="4341870" cy="31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Актуализация нормативов: поверка, переносы, цены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11900" y="1630000"/>
            <a:ext cx="834975" cy="31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P1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125" y="1940000"/>
            <a:ext cx="667980" cy="31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1.7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5105" y="1940000"/>
            <a:ext cx="2504925" cy="31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Закупки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70030" y="1940000"/>
            <a:ext cx="4341870" cy="31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Нормативы сроков по шагам и трекер эскалации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11900" y="1940000"/>
            <a:ext cx="834975" cy="31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P1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7125" y="2250000"/>
            <a:ext cx="667980" cy="31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1.8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5105" y="2250000"/>
            <a:ext cx="2504925" cy="31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Статус-встречи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70030" y="2250000"/>
            <a:ext cx="4341870" cy="31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Регламент: частота, повестка, протокол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11900" y="2250000"/>
            <a:ext cx="834975" cy="31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P1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125" y="2560000"/>
            <a:ext cx="667980" cy="31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1.9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5105" y="2560000"/>
            <a:ext cx="2504925" cy="31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Реестр платежей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70030" y="2560000"/>
            <a:ext cx="4341870" cy="31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Единая инструкция трёх потоков (ВУ / КИЗ / КОЗ)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11900" y="2560000"/>
            <a:ext cx="834975" cy="31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P1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7125" y="2870000"/>
            <a:ext cx="667980" cy="31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2.3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5105" y="2870000"/>
            <a:ext cx="2504925" cy="31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Прогноз поступлений и расходов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70030" y="2870000"/>
            <a:ext cx="4341870" cy="31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Единый реестр и календарь вместо чата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11900" y="2870000"/>
            <a:ext cx="834975" cy="31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P1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7125" y="3180000"/>
            <a:ext cx="667980" cy="31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2.5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5105" y="3180000"/>
            <a:ext cx="2504925" cy="31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Переносы оборудования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70030" y="3180000"/>
            <a:ext cx="4341870" cy="31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Учёт «факт против ФЭМ», процедура согласования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11900" y="3180000"/>
            <a:ext cx="834975" cy="31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P2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7125" y="3490000"/>
            <a:ext cx="667980" cy="31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2.7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5105" y="3490000"/>
            <a:ext cx="2504925" cy="31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Обратная связь по дефектам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70030" y="3490000"/>
            <a:ext cx="4341870" cy="31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Регулярный сбор и маршрут в ТЗ и закупки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11900" y="3490000"/>
            <a:ext cx="834975" cy="31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P1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7125" y="3800000"/>
            <a:ext cx="667980" cy="31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4.2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5105" y="3800000"/>
            <a:ext cx="2504925" cy="31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Аудит проектных данных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70030" y="3800000"/>
            <a:ext cx="4341870" cy="31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Восстановление контура контроля (остановлен с 2020)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11900" y="3800000"/>
            <a:ext cx="834975" cy="31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P1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7125" y="4110000"/>
            <a:ext cx="667980" cy="31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2.1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65105" y="4110000"/>
            <a:ext cx="2504925" cy="31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Поверка оборудования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70030" y="4110000"/>
            <a:ext cx="4341870" cy="31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Оценка собственной аккредитации, ~6 000 комплексов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11900" y="4110000"/>
            <a:ext cx="834975" cy="31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P2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Что трансформируем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Новое проектирование — пробелы и организационная модель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125" y="1050000"/>
            <a:ext cx="2676583" cy="135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10000"/>
              </a:lnSpc>
            </a:pPr>
            <a:r>
              <a:rPr sz="1050">
                <a:solidFill>
                  <a:srgbClr val="A87300"/>
                </a:solidFill>
                <a:latin typeface="Golos Text SemiBold"/>
              </a:rPr>
              <a:t>1.2 · Готовность продукта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Новый регламент gate «пилот → реализация»: критерии, роли ДРБ и ДУП, подпись, блокировка старта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33708" y="1050000"/>
            <a:ext cx="2676583" cy="135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10000"/>
              </a:lnSpc>
            </a:pPr>
            <a:r>
              <a:rPr sz="1050">
                <a:solidFill>
                  <a:srgbClr val="A87300"/>
                </a:solidFill>
                <a:latin typeface="Golos Text SemiBold"/>
              </a:rPr>
              <a:t>2.0 · Передача 1 → 2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Чек-лист handover «реализация → сопровождение»: состав, ответственные, дата, архив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70291" y="1050000"/>
            <a:ext cx="2676583" cy="135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10000"/>
              </a:lnSpc>
            </a:pPr>
            <a:r>
              <a:rPr sz="1050">
                <a:solidFill>
                  <a:srgbClr val="A87300"/>
                </a:solidFill>
                <a:latin typeface="Golos Text SemiBold"/>
              </a:rPr>
              <a:t>3.2 · Открытие филиала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Назначение владельца и сквозной маршрут: Юр → HR → Финблок → ДУП → филиал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125" y="2570000"/>
            <a:ext cx="2676583" cy="135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10000"/>
              </a:lnSpc>
            </a:pPr>
            <a:r>
              <a:rPr sz="1050">
                <a:solidFill>
                  <a:srgbClr val="013D85"/>
                </a:solidFill>
                <a:latin typeface="Golos Text SemiBold"/>
              </a:rPr>
              <a:t>Разделение блоков 1 и 2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Два заместителя вместо одной совмещённой роли — после утверждения чек-листа передачи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33708" y="2570000"/>
            <a:ext cx="2676583" cy="135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10000"/>
              </a:lnSpc>
            </a:pPr>
            <a:r>
              <a:rPr sz="1050">
                <a:solidFill>
                  <a:srgbClr val="013D85"/>
                </a:solidFill>
                <a:latin typeface="Golos Text SemiBold"/>
              </a:rPr>
              <a:t>Роль ПМО (главный менеджер проектов)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Методология, контроль качества данных и портфельная отчётность в одних руках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70291" y="2570000"/>
            <a:ext cx="2676583" cy="135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10000"/>
              </a:lnSpc>
            </a:pPr>
            <a:r>
              <a:rPr sz="1050">
                <a:solidFill>
                  <a:srgbClr val="013D85"/>
                </a:solidFill>
                <a:latin typeface="Golos Text SemiBold"/>
              </a:rPr>
              <a:t>Разведение отчётности 1.8 / 2.8 / 4.3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Матрица «кто, что, кому и когда» — устранение дублирования в трёх ролях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125" y="4070000"/>
            <a:ext cx="834975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94235"/>
                </a:solidFill>
                <a:latin typeface="Golos Text Medium"/>
              </a:rPr>
              <a:t>Критическая последовательность: чек-лист передачи утверждается до разделения заместителей — иначе разрыв ответственности переносится в новую структуру.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Что цифровизуем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Четыре инициативы единой экосистемы данных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125" y="1070000"/>
            <a:ext cx="1974937" cy="460000"/>
          </a:xfrm>
          <a:prstGeom prst="roundRect">
            <a:avLst>
              <a:gd name="adj" fmla="val 12000"/>
            </a:avLst>
          </a:prstGeom>
          <a:solidFill>
            <a:srgbClr val="438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Golos Text SemiBold"/>
              </a:rPr>
              <a:t>Единая карточка проекта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125" y="1550000"/>
            <a:ext cx="1974937" cy="162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· Обязательные поля</a:t>
            </a:r>
          </a:p>
          <a:p>
            <a:pPr algn="l">
              <a:lnSpc>
                <a:spcPct val="130000"/>
              </a:lnSpc>
              <a:spcBef>
                <a:spcPts val="11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· Блокировка передачи без пакета</a:t>
            </a:r>
          </a:p>
          <a:p>
            <a:pPr algn="l">
              <a:lnSpc>
                <a:spcPct val="130000"/>
              </a:lnSpc>
              <a:spcBef>
                <a:spcPts val="11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· Процессы 1.1, 1.3, 1.8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2062" y="1070000"/>
            <a:ext cx="1974937" cy="460000"/>
          </a:xfrm>
          <a:prstGeom prst="roundRect">
            <a:avLst>
              <a:gd name="adj" fmla="val 12000"/>
            </a:avLst>
          </a:prstGeom>
          <a:solidFill>
            <a:srgbClr val="438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Golos Text SemiBold"/>
              </a:rPr>
              <a:t>Автопрогноз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2062" y="1550000"/>
            <a:ext cx="1974937" cy="162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· Шаблон и календарь сбора</a:t>
            </a:r>
          </a:p>
          <a:p>
            <a:pPr algn="l">
              <a:lnSpc>
                <a:spcPct val="130000"/>
              </a:lnSpc>
              <a:spcBef>
                <a:spcPts val="11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· Напоминания и дашборд</a:t>
            </a:r>
          </a:p>
          <a:p>
            <a:pPr algn="l">
              <a:lnSpc>
                <a:spcPct val="130000"/>
              </a:lnSpc>
              <a:spcBef>
                <a:spcPts val="11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· Процесс 2.3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46999" y="1070000"/>
            <a:ext cx="1974937" cy="460000"/>
          </a:xfrm>
          <a:prstGeom prst="roundRect">
            <a:avLst>
              <a:gd name="adj" fmla="val 12000"/>
            </a:avLst>
          </a:prstGeom>
          <a:solidFill>
            <a:srgbClr val="438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Golos Text SemiBold"/>
              </a:rPr>
              <a:t>Автоуведомления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46999" y="1550000"/>
            <a:ext cx="1974937" cy="162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· Сроки контрактов</a:t>
            </a:r>
          </a:p>
          <a:p>
            <a:pPr algn="l">
              <a:lnSpc>
                <a:spcPct val="130000"/>
              </a:lnSpc>
              <a:spcBef>
                <a:spcPts val="11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· Платежи и просрочки</a:t>
            </a:r>
          </a:p>
          <a:p>
            <a:pPr algn="l">
              <a:lnSpc>
                <a:spcPct val="130000"/>
              </a:lnSpc>
              <a:spcBef>
                <a:spcPts val="11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· Процессы 1.7, 1.9, 2.4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71936" y="1070000"/>
            <a:ext cx="1974937" cy="460000"/>
          </a:xfrm>
          <a:prstGeom prst="roundRect">
            <a:avLst>
              <a:gd name="adj" fmla="val 12000"/>
            </a:avLst>
          </a:prstGeom>
          <a:solidFill>
            <a:srgbClr val="438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Golos Text SemiBold"/>
              </a:rPr>
              <a:t>Интеграции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71936" y="1550000"/>
            <a:ext cx="1974937" cy="162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· Закупки — 1С — портфель</a:t>
            </a:r>
          </a:p>
          <a:p>
            <a:pPr algn="l">
              <a:lnSpc>
                <a:spcPct val="130000"/>
              </a:lnSpc>
              <a:spcBef>
                <a:spcPts val="11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· Сохранение Zabbix и Documentolog</a:t>
            </a:r>
          </a:p>
          <a:p>
            <a:pPr algn="l">
              <a:lnSpc>
                <a:spcPct val="130000"/>
              </a:lnSpc>
              <a:spcBef>
                <a:spcPts val="11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· Процессы 1.5, 1.7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125" y="3360000"/>
            <a:ext cx="8349750" cy="85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90000" bIns="90000" wrap="square"/>
          <a:lstStyle/>
          <a:p>
            <a:pPr algn="l">
              <a:lnSpc>
                <a:spcPct val="130000"/>
              </a:lnSpc>
            </a:pPr>
            <a:r>
              <a:rPr sz="1000">
                <a:solidFill>
                  <a:srgbClr val="013D85"/>
                </a:solidFill>
                <a:latin typeface="Golos Text SemiBold"/>
              </a:rPr>
              <a:t>Принцип: </a:t>
            </a:r>
            <a:r>
              <a:rPr sz="1000">
                <a:solidFill>
                  <a:srgbClr val="282828"/>
                </a:solidFill>
                <a:latin typeface="Golos Text"/>
              </a:rPr>
              <a:t>цифровизация запускается после восстановления процедур. Автоматизировать неработающий процесс — значит закрепить проблему в системе. Все ИТ-инициативы стартуют в фазе 4 на подготовленной основе.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Дорожная карта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5 фаз · 12 месяцев · переход между фазами по gate-критериям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125" y="1070000"/>
            <a:ext cx="1589950" cy="620000"/>
          </a:xfrm>
          <a:prstGeom prst="roundRect">
            <a:avLst>
              <a:gd name="adj" fmla="val 10000"/>
            </a:avLst>
          </a:prstGeom>
          <a:solidFill>
            <a:srgbClr val="1C3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90000" bIns="90000" wrap="square"/>
          <a:lstStyle/>
          <a:p>
            <a:pPr algn="ctr">
              <a:lnSpc>
                <a:spcPct val="105000"/>
              </a:lnSpc>
            </a:pPr>
            <a:r>
              <a:rPr sz="1100">
                <a:solidFill>
                  <a:srgbClr val="FFFFFF"/>
                </a:solidFill>
                <a:latin typeface="Golos Text SemiBold"/>
              </a:rPr>
              <a:t>Фаза 0</a:t>
            </a:r>
          </a:p>
          <a:p>
            <a:pPr algn="ctr">
              <a:lnSpc>
                <a:spcPct val="105000"/>
              </a:lnSpc>
            </a:pPr>
            <a:r>
              <a:rPr sz="950">
                <a:solidFill>
                  <a:srgbClr val="FFFFFF"/>
                </a:solidFill>
                <a:latin typeface="Golos Text"/>
              </a:rPr>
              <a:t>Диагностика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125" y="1730000"/>
            <a:ext cx="15899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1C3341"/>
                </a:solidFill>
                <a:latin typeface="Golos Text Medium"/>
              </a:rPr>
              <a:t>Месяц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125" y="1970000"/>
            <a:ext cx="1589950" cy="145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Аудит 1 филиала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Опросник филиалов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Интервью с ЦО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87075" y="1070000"/>
            <a:ext cx="1589950" cy="620000"/>
          </a:xfrm>
          <a:prstGeom prst="roundRect">
            <a:avLst>
              <a:gd name="adj" fmla="val 10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90000" bIns="90000" wrap="square"/>
          <a:lstStyle/>
          <a:p>
            <a:pPr algn="ctr">
              <a:lnSpc>
                <a:spcPct val="105000"/>
              </a:lnSpc>
            </a:pPr>
            <a:r>
              <a:rPr sz="1100">
                <a:solidFill>
                  <a:srgbClr val="FFFFFF"/>
                </a:solidFill>
                <a:latin typeface="Golos Text SemiBold"/>
              </a:rPr>
              <a:t>Фаза 1</a:t>
            </a:r>
          </a:p>
          <a:p>
            <a:pPr algn="ctr">
              <a:lnSpc>
                <a:spcPct val="105000"/>
              </a:lnSpc>
            </a:pPr>
            <a:r>
              <a:rPr sz="950">
                <a:solidFill>
                  <a:srgbClr val="FFFFFF"/>
                </a:solidFill>
                <a:latin typeface="Golos Text"/>
              </a:rPr>
              <a:t>Фундамент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7075" y="1730000"/>
            <a:ext cx="15899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013D85"/>
                </a:solidFill>
                <a:latin typeface="Golos Text Medium"/>
              </a:rPr>
              <a:t>Месяцы 2–3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87075" y="1970000"/>
            <a:ext cx="1589950" cy="145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RACI v2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Целевая оргсхема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Пакет ДРБ → ДУП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77025" y="1070000"/>
            <a:ext cx="1589950" cy="620000"/>
          </a:xfrm>
          <a:prstGeom prst="roundRect">
            <a:avLst>
              <a:gd name="adj" fmla="val 10000"/>
            </a:avLst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90000" bIns="90000" wrap="square"/>
          <a:lstStyle/>
          <a:p>
            <a:pPr algn="ctr">
              <a:lnSpc>
                <a:spcPct val="105000"/>
              </a:lnSpc>
            </a:pPr>
            <a:r>
              <a:rPr sz="1100">
                <a:solidFill>
                  <a:srgbClr val="FFFFFF"/>
                </a:solidFill>
                <a:latin typeface="Golos Text SemiBold"/>
              </a:rPr>
              <a:t>Фаза 2</a:t>
            </a:r>
          </a:p>
          <a:p>
            <a:pPr algn="ctr">
              <a:lnSpc>
                <a:spcPct val="105000"/>
              </a:lnSpc>
            </a:pPr>
            <a:r>
              <a:rPr sz="950">
                <a:solidFill>
                  <a:srgbClr val="FFFFFF"/>
                </a:solidFill>
                <a:latin typeface="Golos Text"/>
              </a:rPr>
              <a:t>Исполнение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7025" y="1730000"/>
            <a:ext cx="15899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28AB6A"/>
                </a:solidFill>
                <a:latin typeface="Golos Text Medium"/>
              </a:rPr>
              <a:t>Месяцы 3–6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77025" y="1970000"/>
            <a:ext cx="1589950" cy="145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12 процедур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Реестр прогнозов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Аудит на 3 филиалах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66975" y="1070000"/>
            <a:ext cx="1589950" cy="620000"/>
          </a:xfrm>
          <a:prstGeom prst="roundRect">
            <a:avLst>
              <a:gd name="adj" fmla="val 10000"/>
            </a:avLst>
          </a:prstGeom>
          <a:solidFill>
            <a:srgbClr val="FBB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90000" bIns="90000" wrap="square"/>
          <a:lstStyle/>
          <a:p>
            <a:pPr algn="ctr">
              <a:lnSpc>
                <a:spcPct val="105000"/>
              </a:lnSpc>
            </a:pPr>
            <a:r>
              <a:rPr sz="1100">
                <a:solidFill>
                  <a:srgbClr val="1E1E1E"/>
                </a:solidFill>
                <a:latin typeface="Golos Text SemiBold"/>
              </a:rPr>
              <a:t>Фаза 3</a:t>
            </a:r>
          </a:p>
          <a:p>
            <a:pPr algn="ctr">
              <a:lnSpc>
                <a:spcPct val="105000"/>
              </a:lnSpc>
            </a:pPr>
            <a:r>
              <a:rPr sz="950">
                <a:solidFill>
                  <a:srgbClr val="1E1E1E"/>
                </a:solidFill>
                <a:latin typeface="Golos Text"/>
              </a:rPr>
              <a:t>TO-BE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6975" y="1730000"/>
            <a:ext cx="15899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A87300"/>
                </a:solidFill>
                <a:latin typeface="Golos Text Medium"/>
              </a:rPr>
              <a:t>Месяцы 5–8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6975" y="1970000"/>
            <a:ext cx="1589950" cy="145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3 регламента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Разделение замов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Матрица отчётности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6925" y="1070000"/>
            <a:ext cx="1589950" cy="620000"/>
          </a:xfrm>
          <a:prstGeom prst="roundRect">
            <a:avLst>
              <a:gd name="adj" fmla="val 10000"/>
            </a:avLst>
          </a:prstGeom>
          <a:solidFill>
            <a:srgbClr val="438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90000" bIns="90000" wrap="square"/>
          <a:lstStyle/>
          <a:p>
            <a:pPr algn="ctr">
              <a:lnSpc>
                <a:spcPct val="105000"/>
              </a:lnSpc>
            </a:pPr>
            <a:r>
              <a:rPr sz="1100">
                <a:solidFill>
                  <a:srgbClr val="FFFFFF"/>
                </a:solidFill>
                <a:latin typeface="Golos Text SemiBold"/>
              </a:rPr>
              <a:t>Фаза 4</a:t>
            </a:r>
          </a:p>
          <a:p>
            <a:pPr algn="ctr">
              <a:lnSpc>
                <a:spcPct val="105000"/>
              </a:lnSpc>
            </a:pPr>
            <a:r>
              <a:rPr sz="950">
                <a:solidFill>
                  <a:srgbClr val="FFFFFF"/>
                </a:solidFill>
                <a:latin typeface="Golos Text"/>
              </a:rPr>
              <a:t>Цифра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6925" y="1730000"/>
            <a:ext cx="15899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4384F4"/>
                </a:solidFill>
                <a:latin typeface="Golos Text Medium"/>
              </a:rPr>
              <a:t>Месяцы 7–12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56925" y="1970000"/>
            <a:ext cx="1589950" cy="145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Карточка проекта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Автопрогноз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ВНД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125" y="3550000"/>
            <a:ext cx="834975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Golos Text SemiBold"/>
              </a:rPr>
              <a:t>Критический путь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125" y="3820000"/>
            <a:ext cx="834975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282828"/>
                </a:solidFill>
                <a:latin typeface="Golos Text"/>
              </a:rPr>
              <a:t>Диагностика → RACI и оргмодель → восстановление 12 процедур → чек-лист передачи и gate продукта → цифровизация. Фазы 2 и 3 частично идут параллельно; фаза 4 стартует только на подготовленной основе.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Фазы 0–1: диагностика и фундамент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Месяцы 1–3 · подготовка к изменениям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125" y="1050000"/>
            <a:ext cx="4074875" cy="420000"/>
          </a:xfrm>
          <a:prstGeom prst="roundRect">
            <a:avLst>
              <a:gd name="adj" fmla="val 12000"/>
            </a:avLst>
          </a:prstGeom>
          <a:solidFill>
            <a:srgbClr val="1C3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Golos Text SemiBold"/>
              </a:rPr>
              <a:t>Фаза 0 · Диагностика (месяц 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125" y="1490000"/>
            <a:ext cx="4074875" cy="238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>
                <a:solidFill>
                  <a:srgbClr val="1E1E1E"/>
                </a:solidFill>
                <a:latin typeface="Golos Text SemiBold"/>
              </a:rPr>
              <a:t>Аудит пилотного филиала — </a:t>
            </a:r>
            <a:r>
              <a:rPr sz="900">
                <a:solidFill>
                  <a:srgbClr val="444746"/>
                </a:solidFill>
                <a:latin typeface="Golos Text"/>
              </a:rPr>
              <a:t>по трём чек-листам методологии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900">
                <a:solidFill>
                  <a:srgbClr val="1E1E1E"/>
                </a:solidFill>
                <a:latin typeface="Golos Text SemiBold"/>
              </a:rPr>
              <a:t>Опросник директоров филиалов — </a:t>
            </a:r>
            <a:r>
              <a:rPr sz="900">
                <a:solidFill>
                  <a:srgbClr val="444746"/>
                </a:solidFill>
                <a:latin typeface="Golos Text"/>
              </a:rPr>
              <a:t>46 вопросов, форма готова к запуску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900">
                <a:solidFill>
                  <a:srgbClr val="1E1E1E"/>
                </a:solidFill>
                <a:latin typeface="Golos Text SemiBold"/>
              </a:rPr>
              <a:t>Интервью с ДРБ — </a:t>
            </a:r>
            <a:r>
              <a:rPr sz="900">
                <a:solidFill>
                  <a:srgbClr val="444746"/>
                </a:solidFill>
                <a:latin typeface="Golos Text"/>
              </a:rPr>
              <a:t>передача пакета и готовность продукта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900">
                <a:solidFill>
                  <a:srgbClr val="1E1E1E"/>
                </a:solidFill>
                <a:latin typeface="Golos Text SemiBold"/>
              </a:rPr>
              <a:t>Интервью с Финблоком — </a:t>
            </a:r>
            <a:r>
              <a:rPr sz="900">
                <a:solidFill>
                  <a:srgbClr val="444746"/>
                </a:solidFill>
                <a:latin typeface="Golos Text"/>
              </a:rPr>
              <a:t>ФЭМ, прогнозы, приоритизация платежей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900">
                <a:solidFill>
                  <a:srgbClr val="1E1E1E"/>
                </a:solidFill>
                <a:latin typeface="Golos Text SemiBold"/>
              </a:rPr>
              <a:t>Интервью с Юр блоком — </a:t>
            </a:r>
            <a:r>
              <a:rPr sz="900">
                <a:solidFill>
                  <a:srgbClr val="444746"/>
                </a:solidFill>
                <a:latin typeface="Golos Text"/>
              </a:rPr>
              <a:t>договоры и открытие филиала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900">
                <a:solidFill>
                  <a:srgbClr val="1E1E1E"/>
                </a:solidFill>
                <a:latin typeface="Golos Text SemiBold"/>
              </a:rPr>
              <a:t>Статус методологии — </a:t>
            </a:r>
            <a:r>
              <a:rPr sz="900">
                <a:solidFill>
                  <a:srgbClr val="444746"/>
                </a:solidFill>
                <a:latin typeface="Golos Text"/>
              </a:rPr>
              <a:t>проверка приказа от 15.01.2021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72000" y="1050000"/>
            <a:ext cx="4074875" cy="420000"/>
          </a:xfrm>
          <a:prstGeom prst="roundRect">
            <a:avLst>
              <a:gd name="adj" fmla="val 12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Golos Text SemiBold"/>
              </a:rPr>
              <a:t>Фаза 1 · Фундамент (месяцы 2–3)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72000" y="1490000"/>
            <a:ext cx="4074875" cy="238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>
                <a:solidFill>
                  <a:srgbClr val="1E1E1E"/>
                </a:solidFill>
                <a:latin typeface="Golos Text SemiBold"/>
              </a:rPr>
              <a:t>Steering Committee — </a:t>
            </a:r>
            <a:r>
              <a:rPr sz="900">
                <a:solidFill>
                  <a:srgbClr val="444746"/>
                </a:solidFill>
                <a:latin typeface="Golos Text"/>
              </a:rPr>
              <a:t>состав, ритм, полномочия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900">
                <a:solidFill>
                  <a:srgbClr val="1E1E1E"/>
                </a:solidFill>
                <a:latin typeface="Golos Text SemiBold"/>
              </a:rPr>
              <a:t>Целевая оргсхема — </a:t>
            </a:r>
            <a:r>
              <a:rPr sz="900">
                <a:solidFill>
                  <a:srgbClr val="444746"/>
                </a:solidFill>
                <a:latin typeface="Golos Text"/>
              </a:rPr>
              <a:t>два заместителя, ПМО, менеджеры проектов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900">
                <a:solidFill>
                  <a:srgbClr val="1E1E1E"/>
                </a:solidFill>
                <a:latin typeface="Golos Text SemiBold"/>
              </a:rPr>
              <a:t>RACI v2 — </a:t>
            </a:r>
            <a:r>
              <a:rPr sz="900">
                <a:solidFill>
                  <a:srgbClr val="444746"/>
                </a:solidFill>
                <a:latin typeface="Golos Text"/>
              </a:rPr>
              <a:t>с владельцами процессов центрального офиса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900">
                <a:solidFill>
                  <a:srgbClr val="1E1E1E"/>
                </a:solidFill>
                <a:latin typeface="Golos Text SemiBold"/>
              </a:rPr>
              <a:t>Таблица ролей — </a:t>
            </a:r>
            <a:r>
              <a:rPr sz="900">
                <a:solidFill>
                  <a:srgbClr val="444746"/>
                </a:solidFill>
                <a:latin typeface="Golos Text"/>
              </a:rPr>
              <a:t>21 роль методологии → новая структура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900">
                <a:solidFill>
                  <a:srgbClr val="1E1E1E"/>
                </a:solidFill>
                <a:latin typeface="Golos Text SemiBold"/>
              </a:rPr>
              <a:t>Пауза утверждения ДИ — </a:t>
            </a:r>
            <a:r>
              <a:rPr sz="900">
                <a:solidFill>
                  <a:srgbClr val="444746"/>
                </a:solidFill>
                <a:latin typeface="Golos Text"/>
              </a:rPr>
              <a:t>до сверки с пунктом 3.5 методологии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900">
                <a:solidFill>
                  <a:srgbClr val="1E1E1E"/>
                </a:solidFill>
                <a:latin typeface="Golos Text SemiBold"/>
              </a:rPr>
              <a:t>Минимальный пакет ДРБ → ДУП — </a:t>
            </a:r>
            <a:r>
              <a:rPr sz="900">
                <a:solidFill>
                  <a:srgbClr val="444746"/>
                </a:solidFill>
                <a:latin typeface="Golos Text"/>
              </a:rPr>
              <a:t>письменно зафиксирован приказом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125" y="3950000"/>
            <a:ext cx="8349750" cy="56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90000" bIns="90000" wrap="square"/>
          <a:lstStyle/>
          <a:p>
            <a:pPr algn="l">
              <a:lnSpc>
                <a:spcPct val="125000"/>
              </a:lnSpc>
            </a:pPr>
            <a:r>
              <a:rPr sz="950">
                <a:solidFill>
                  <a:srgbClr val="28AB6A"/>
                </a:solidFill>
                <a:latin typeface="Golos Text SemiBold"/>
              </a:rPr>
              <a:t>Gate перехода:  </a:t>
            </a:r>
            <a:r>
              <a:rPr sz="950">
                <a:solidFill>
                  <a:srgbClr val="282828"/>
                </a:solidFill>
                <a:latin typeface="Golos Text"/>
              </a:rPr>
              <a:t>аудит завершён · не менее 70% директоров ответили на опросник · проведено минимум два интервью с ЦО · RACI v2 согласована с ДРБ и Финблоком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Фазы 2–4: исполнение, TO-BE и цифра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Месяцы 3–12 · основной объём изменений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125" y="1050000"/>
            <a:ext cx="2669916" cy="500000"/>
          </a:xfrm>
          <a:prstGeom prst="roundRect">
            <a:avLst>
              <a:gd name="adj" fmla="val 10000"/>
            </a:avLst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FFFFFF"/>
                </a:solidFill>
                <a:latin typeface="Golos Text SemiBold"/>
              </a:rPr>
              <a:t>Фаза 2 · Исполнение</a:t>
            </a:r>
          </a:p>
          <a:p>
            <a:pPr algn="ctr">
              <a:lnSpc>
                <a:spcPct val="105000"/>
              </a:lnSpc>
            </a:pPr>
            <a:r>
              <a:rPr sz="850">
                <a:solidFill>
                  <a:srgbClr val="FFFFFF"/>
                </a:solidFill>
                <a:latin typeface="Golos Text"/>
              </a:rPr>
              <a:t>Месяцы 3–6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125" y="1570000"/>
            <a:ext cx="2669916" cy="220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10 инициатив восстановления процедур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Реестр прогнозов ведётся по календарю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Трекер закупок с нормативами сроков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Регламент статус-встреч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Аудит масштабирован на 3 филиала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Единый канал претензий партнёров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125" y="3820000"/>
            <a:ext cx="2669916" cy="56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28AB6A"/>
                </a:solidFill>
                <a:latin typeface="Golos Text SemiBold"/>
              </a:rPr>
              <a:t>Gate: </a:t>
            </a:r>
            <a:r>
              <a:rPr sz="850">
                <a:solidFill>
                  <a:srgbClr val="282828"/>
                </a:solidFill>
                <a:latin typeface="Golos Text"/>
              </a:rPr>
              <a:t>≥ 8 из 10 инициатив в эксплуатации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37041" y="1050000"/>
            <a:ext cx="2669916" cy="500000"/>
          </a:xfrm>
          <a:prstGeom prst="roundRect">
            <a:avLst>
              <a:gd name="adj" fmla="val 10000"/>
            </a:avLst>
          </a:prstGeom>
          <a:solidFill>
            <a:srgbClr val="FBB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1E1E1E"/>
                </a:solidFill>
                <a:latin typeface="Golos Text SemiBold"/>
              </a:rPr>
              <a:t>Фаза 3 · TO-BE</a:t>
            </a:r>
          </a:p>
          <a:p>
            <a:pPr algn="ctr">
              <a:lnSpc>
                <a:spcPct val="105000"/>
              </a:lnSpc>
            </a:pPr>
            <a:r>
              <a:rPr sz="850">
                <a:solidFill>
                  <a:srgbClr val="1E1E1E"/>
                </a:solidFill>
                <a:latin typeface="Golos Text"/>
              </a:rPr>
              <a:t>Месяцы 5–8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37041" y="1570000"/>
            <a:ext cx="2669916" cy="220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Регламент gate готовности продукта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Чек-лист передачи «реализация → сопровождение»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Сквозной регламент открытия филиала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Приказ о разделении заместителей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Утверждение должностных инструкций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Матрица отчётности без дублей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37041" y="3820000"/>
            <a:ext cx="2669916" cy="56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A87300"/>
                </a:solidFill>
                <a:latin typeface="Golos Text SemiBold"/>
              </a:rPr>
              <a:t>Gate: </a:t>
            </a:r>
            <a:r>
              <a:rPr sz="850">
                <a:solidFill>
                  <a:srgbClr val="282828"/>
                </a:solidFill>
                <a:latin typeface="Golos Text"/>
              </a:rPr>
              <a:t>3 регламента утверждены, handover протестирован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76957" y="1050000"/>
            <a:ext cx="2669916" cy="500000"/>
          </a:xfrm>
          <a:prstGeom prst="roundRect">
            <a:avLst>
              <a:gd name="adj" fmla="val 10000"/>
            </a:avLst>
          </a:prstGeom>
          <a:solidFill>
            <a:srgbClr val="438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FFFFFF"/>
                </a:solidFill>
                <a:latin typeface="Golos Text SemiBold"/>
              </a:rPr>
              <a:t>Фаза 4 · Цифра</a:t>
            </a:r>
          </a:p>
          <a:p>
            <a:pPr algn="ctr">
              <a:lnSpc>
                <a:spcPct val="105000"/>
              </a:lnSpc>
            </a:pPr>
            <a:r>
              <a:rPr sz="850">
                <a:solidFill>
                  <a:srgbClr val="FFFFFF"/>
                </a:solidFill>
                <a:latin typeface="Golos Text"/>
              </a:rPr>
              <a:t>Месяцы 7–12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6957" y="1570000"/>
            <a:ext cx="2669916" cy="220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MVP единой карточки проекта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Автоматизация реестра прогнозов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Уведомления по срокам и платежам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Интеграции закупок и 1С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Актуализация ВНД: роли, глоссарий, архив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· Дерево процессов v5 (TO-BE)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6957" y="3820000"/>
            <a:ext cx="2669916" cy="56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4384F4"/>
                </a:solidFill>
                <a:latin typeface="Golos Text SemiBold"/>
              </a:rPr>
              <a:t>Gate: </a:t>
            </a:r>
            <a:r>
              <a:rPr sz="850">
                <a:solidFill>
                  <a:srgbClr val="282828"/>
                </a:solidFill>
                <a:latin typeface="Golos Text"/>
              </a:rPr>
              <a:t>KPI достигнуты, проект передан в ПМО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Реестр бизнес-процессов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Рабочий инструмент управления изменениями — 51 запись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125" y="1070000"/>
            <a:ext cx="2663250" cy="420000"/>
          </a:xfrm>
          <a:prstGeom prst="roundRect">
            <a:avLst>
              <a:gd name="adj" fmla="val 12000"/>
            </a:avLst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Golos Text SemiBold"/>
              </a:rPr>
              <a:t>Реестр процессов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125" y="1510000"/>
            <a:ext cx="2663250" cy="130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· Процессы, подпроцессы и этапы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· Владелец (A) и исполнитель (R)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· Статус AS-IS и приоритет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· Ссылка на норматив и узкое место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0375" y="1070000"/>
            <a:ext cx="2663250" cy="420000"/>
          </a:xfrm>
          <a:prstGeom prst="roundRect">
            <a:avLst>
              <a:gd name="adj" fmla="val 12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Golos Text SemiBold"/>
              </a:rPr>
              <a:t>Справочник владельцев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375" y="1510000"/>
            <a:ext cx="2663250" cy="130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· 12 ролей с зонами ответственности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· Внутренние роли ДУП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· Владельцы процессов ЦО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· Основа для RACI v2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3625" y="1070000"/>
            <a:ext cx="2663250" cy="420000"/>
          </a:xfrm>
          <a:prstGeom prst="roundRect">
            <a:avLst>
              <a:gd name="adj" fmla="val 12000"/>
            </a:avLst>
          </a:prstGeom>
          <a:solidFill>
            <a:srgbClr val="438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Golos Text SemiBold"/>
              </a:rPr>
              <a:t>Портфель трансформации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3625" y="1510000"/>
            <a:ext cx="2663250" cy="130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· 15 инициатив изменений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· Привязка к процессу и фазе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· Владелец инициативы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· Ожидаемый эффект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125" y="2920000"/>
            <a:ext cx="834975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Golos Text SemiBold"/>
              </a:rPr>
              <a:t>Структура записи реестра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125" y="3200000"/>
            <a:ext cx="667980" cy="33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Golos Text SemiBold"/>
              </a:rPr>
              <a:t>Код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5105" y="3200000"/>
            <a:ext cx="2671920" cy="33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Golos Text SemiBold"/>
              </a:rPr>
              <a:t>Наименование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37025" y="3200000"/>
            <a:ext cx="2337930" cy="33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Golos Text SemiBold"/>
              </a:rPr>
              <a:t>Владелец (A)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74955" y="3200000"/>
            <a:ext cx="1836945" cy="33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Golos Text SemiBold"/>
              </a:rPr>
              <a:t>Статус AS-IS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11900" y="3200000"/>
            <a:ext cx="834975" cy="33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Golos Text SemiBold"/>
              </a:rPr>
              <a:t>Приоритет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125" y="3530000"/>
            <a:ext cx="667980" cy="33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1.1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5105" y="3530000"/>
            <a:ext cx="2671920" cy="33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Приём и валидация пакета документов от ДРБ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37025" y="3530000"/>
            <a:ext cx="2337930" cy="33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Зам. по реализации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74955" y="3530000"/>
            <a:ext cx="1836945" cy="33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Не исполняется норматив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11900" y="3530000"/>
            <a:ext cx="834975" cy="33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P1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7125" y="3860000"/>
            <a:ext cx="667980" cy="33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1.2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5105" y="3860000"/>
            <a:ext cx="2671920" cy="33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Подтверждение готовности продукта (пилот)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37025" y="3860000"/>
            <a:ext cx="2337930" cy="33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Зам. по реализации + ДРБ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74955" y="3860000"/>
            <a:ext cx="1836945" cy="33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Пробел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11900" y="3860000"/>
            <a:ext cx="834975" cy="33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P1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125" y="4190000"/>
            <a:ext cx="667980" cy="33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2.3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5105" y="4190000"/>
            <a:ext cx="2671920" cy="33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Прогноз поступлений и расходов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37025" y="4190000"/>
            <a:ext cx="2337930" cy="33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Зам. по операционной деятельности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74955" y="4190000"/>
            <a:ext cx="1836945" cy="33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Не исполняется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11900" y="4190000"/>
            <a:ext cx="834975" cy="33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P1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KPI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Целевые показатели на горизонте 12 месяцев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125" y="1010000"/>
            <a:ext cx="4341870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Показатель</a:t>
            </a:r>
          </a:p>
        </p:txBody>
      </p:sp>
      <p:sp>
        <p:nvSpPr>
          <p:cNvPr id="5" name="Rectangle 4"/>
          <p:cNvSpPr/>
          <p:nvPr/>
        </p:nvSpPr>
        <p:spPr>
          <a:xfrm>
            <a:off x="4738995" y="1010000"/>
            <a:ext cx="2003940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Базовая линия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6742935" y="1010000"/>
            <a:ext cx="2003940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Цель через 12 месяцев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125" y="1380000"/>
            <a:ext cx="434187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Проекты с полным пакетом документов на старте</a:t>
            </a:r>
          </a:p>
        </p:txBody>
      </p:sp>
      <p:sp>
        <p:nvSpPr>
          <p:cNvPr id="8" name="Rectangle 7"/>
          <p:cNvSpPr/>
          <p:nvPr/>
        </p:nvSpPr>
        <p:spPr>
          <a:xfrm>
            <a:off x="4738995" y="1380000"/>
            <a:ext cx="200394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не измеряется</a:t>
            </a:r>
          </a:p>
        </p:txBody>
      </p:sp>
      <p:sp>
        <p:nvSpPr>
          <p:cNvPr id="9" name="Rectangle 8"/>
          <p:cNvSpPr/>
          <p:nvPr/>
        </p:nvSpPr>
        <p:spPr>
          <a:xfrm>
            <a:off x="6742935" y="1380000"/>
            <a:ext cx="200394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≥ 90%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125" y="1750000"/>
            <a:ext cx="434187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Среднее время старта проекта после передачи от ДРБ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38995" y="1750000"/>
            <a:ext cx="200394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не измеряется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42935" y="1750000"/>
            <a:ext cx="200394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−30%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125" y="2120000"/>
            <a:ext cx="434187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Заявки на оплату, проведённые в срок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38995" y="2120000"/>
            <a:ext cx="200394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ad-hoc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42935" y="2120000"/>
            <a:ext cx="200394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≥ 85%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125" y="2490000"/>
            <a:ext cx="434187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Регулярность прогноза поступлений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38995" y="2490000"/>
            <a:ext cx="200394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чат и разовые запросы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42935" y="2490000"/>
            <a:ext cx="200394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100% по календарю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7125" y="2860000"/>
            <a:ext cx="434187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Проекты с регулярными статус-встречами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38995" y="2860000"/>
            <a:ext cx="200394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нерегулярно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42935" y="2860000"/>
            <a:ext cx="200394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≥ 90% ежемесячно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7125" y="3230000"/>
            <a:ext cx="434187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Покрытие портфеля аудитом качества данных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38995" y="3230000"/>
            <a:ext cx="200394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0% с 2020 года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42935" y="3230000"/>
            <a:ext cx="200394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100% в год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7125" y="3600000"/>
            <a:ext cx="434187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Удовлетворённость филиалов взаимодействием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38995" y="3600000"/>
            <a:ext cx="200394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базовый замер в фазе 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42935" y="3600000"/>
            <a:ext cx="200394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+20 п.п.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7125" y="3970000"/>
            <a:ext cx="434187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Доля проектных данных в единой системе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38995" y="3970000"/>
            <a:ext cx="200394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фрагментировано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42935" y="3970000"/>
            <a:ext cx="200394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≥ 80%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Управление проектом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Governance, роли и ритм принятия решений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7125" y="1070000"/>
            <a:ext cx="4074875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Golos Text SemiBold"/>
              </a:rPr>
              <a:t>Структура управления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125" y="1370000"/>
            <a:ext cx="4074875" cy="62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013D85"/>
                </a:solidFill>
                <a:latin typeface="Golos Text SemiBold"/>
              </a:rPr>
              <a:t>Steering Committee</a:t>
            </a:r>
          </a:p>
          <a:p>
            <a:pPr algn="l">
              <a:lnSpc>
                <a:spcPct val="115000"/>
              </a:lnSpc>
            </a:pPr>
            <a:r>
              <a:rPr sz="850">
                <a:solidFill>
                  <a:srgbClr val="282828"/>
                </a:solidFill>
                <a:latin typeface="Golos Text"/>
              </a:rPr>
              <a:t>Директор ДУП, заместители, представители ДРБ и Финблока</a:t>
            </a:r>
          </a:p>
          <a:p>
            <a:pPr algn="l">
              <a:lnSpc>
                <a:spcPct val="115000"/>
              </a:lnSpc>
            </a:pPr>
            <a:r>
              <a:rPr sz="850">
                <a:solidFill>
                  <a:srgbClr val="444746"/>
                </a:solidFill>
                <a:latin typeface="Golos Text"/>
              </a:rPr>
              <a:t>Приоритеты, решения, эскалации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125" y="2050000"/>
            <a:ext cx="4074875" cy="62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013D85"/>
                </a:solidFill>
                <a:latin typeface="Golos Text SemiBold"/>
              </a:rPr>
              <a:t>Руководитель проекта</a:t>
            </a:r>
          </a:p>
          <a:p>
            <a:pPr algn="l">
              <a:lnSpc>
                <a:spcPct val="115000"/>
              </a:lnSpc>
            </a:pPr>
            <a:r>
              <a:rPr sz="850">
                <a:solidFill>
                  <a:srgbClr val="282828"/>
                </a:solidFill>
                <a:latin typeface="Golos Text"/>
              </a:rPr>
              <a:t>Назначается из ДУП или ПМО</a:t>
            </a:r>
          </a:p>
          <a:p>
            <a:pPr algn="l">
              <a:lnSpc>
                <a:spcPct val="115000"/>
              </a:lnSpc>
            </a:pPr>
            <a:r>
              <a:rPr sz="850">
                <a:solidFill>
                  <a:srgbClr val="444746"/>
                </a:solidFill>
                <a:latin typeface="Golos Text"/>
              </a:rPr>
              <a:t>Дорожная карта, риски, ежедневное управление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125" y="2730000"/>
            <a:ext cx="4074875" cy="62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013D85"/>
                </a:solidFill>
                <a:latin typeface="Golos Text SemiBold"/>
              </a:rPr>
              <a:t>Владельцы процессов</a:t>
            </a:r>
          </a:p>
          <a:p>
            <a:pPr algn="l">
              <a:lnSpc>
                <a:spcPct val="115000"/>
              </a:lnSpc>
            </a:pPr>
            <a:r>
              <a:rPr sz="850">
                <a:solidFill>
                  <a:srgbClr val="282828"/>
                </a:solidFill>
                <a:latin typeface="Golos Text"/>
              </a:rPr>
              <a:t>Владельцы блоков 1–4</a:t>
            </a:r>
          </a:p>
          <a:p>
            <a:pPr algn="l">
              <a:lnSpc>
                <a:spcPct val="115000"/>
              </a:lnSpc>
            </a:pPr>
            <a:r>
              <a:rPr sz="850">
                <a:solidFill>
                  <a:srgbClr val="444746"/>
                </a:solidFill>
                <a:latin typeface="Golos Text"/>
              </a:rPr>
              <a:t>Ответственность за целевое состояние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125" y="3410000"/>
            <a:ext cx="4074875" cy="62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013D85"/>
                </a:solidFill>
                <a:latin typeface="Golos Text SemiBold"/>
              </a:rPr>
              <a:t>Рабочие группы</a:t>
            </a:r>
          </a:p>
          <a:p>
            <a:pPr algn="l">
              <a:lnSpc>
                <a:spcPct val="115000"/>
              </a:lnSpc>
            </a:pPr>
            <a:r>
              <a:rPr sz="850">
                <a:solidFill>
                  <a:srgbClr val="282828"/>
                </a:solidFill>
                <a:latin typeface="Golos Text"/>
              </a:rPr>
              <a:t>ДУП + центральный офис + филиалы</a:t>
            </a:r>
          </a:p>
          <a:p>
            <a:pPr algn="l">
              <a:lnSpc>
                <a:spcPct val="115000"/>
              </a:lnSpc>
            </a:pPr>
            <a:r>
              <a:rPr sz="850">
                <a:solidFill>
                  <a:srgbClr val="444746"/>
                </a:solidFill>
                <a:latin typeface="Golos Text"/>
              </a:rPr>
              <a:t>Регламенты и интерфейсы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2000" y="1070000"/>
            <a:ext cx="4074875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Golos Text SemiBold"/>
              </a:rPr>
              <a:t>Ритм управления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72000" y="1370000"/>
            <a:ext cx="1180000" cy="300000"/>
          </a:xfrm>
          <a:prstGeom prst="roundRect">
            <a:avLst>
              <a:gd name="adj" fmla="val 16000"/>
            </a:avLst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90000" bIns="9000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Golos Text SemiBold"/>
              </a:rPr>
              <a:t>Еженедельно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2000" y="1400000"/>
            <a:ext cx="2774875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Статус проекта: руководитель проекта → директор ДУП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72000" y="1790000"/>
            <a:ext cx="1180000" cy="300000"/>
          </a:xfrm>
          <a:prstGeom prst="roundRect">
            <a:avLst>
              <a:gd name="adj" fmla="val 16000"/>
            </a:avLst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90000" bIns="9000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Golos Text SemiBold"/>
              </a:rPr>
              <a:t>Раз в две недели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72000" y="1820000"/>
            <a:ext cx="2774875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Рабочая группа по процессам и регламентам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72000" y="2210000"/>
            <a:ext cx="1180000" cy="300000"/>
          </a:xfrm>
          <a:prstGeom prst="roundRect">
            <a:avLst>
              <a:gd name="adj" fmla="val 16000"/>
            </a:avLst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90000" bIns="9000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Golos Text SemiBold"/>
              </a:rPr>
              <a:t>Ежемесячно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2000" y="2240000"/>
            <a:ext cx="2774875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Steering Committee: решения и эскалации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72000" y="2630000"/>
            <a:ext cx="1180000" cy="300000"/>
          </a:xfrm>
          <a:prstGeom prst="roundRect">
            <a:avLst>
              <a:gd name="adj" fmla="val 16000"/>
            </a:avLst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90000" bIns="9000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Golos Text SemiBold"/>
              </a:rPr>
              <a:t>Ежеквартально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2000" y="2660000"/>
            <a:ext cx="2774875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Пересмотр дорожной карты и KPI, отчёт Правлению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72000" y="3170000"/>
            <a:ext cx="4074875" cy="90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>
              <a:lnSpc>
                <a:spcPct val="130000"/>
              </a:lnSpc>
            </a:pPr>
            <a:r>
              <a:rPr sz="900">
                <a:solidFill>
                  <a:srgbClr val="013D85"/>
                </a:solidFill>
                <a:latin typeface="Golos Text SemiBold"/>
              </a:rPr>
              <a:t>Условие успеха: </a:t>
            </a:r>
            <a:r>
              <a:rPr sz="900">
                <a:solidFill>
                  <a:srgbClr val="282828"/>
                </a:solidFill>
                <a:latin typeface="Golos Text"/>
              </a:rPr>
              <a:t>спонсор проекта присутствует на Steering Committee. Изменения затрагивают процессы смежных подразделений, и решения такого уровня принимаются только с участием руководства.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Ключевые риски и меры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Управление рисками ведётся с фазы 0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125" y="1010000"/>
            <a:ext cx="3506895" cy="39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Риск</a:t>
            </a:r>
          </a:p>
        </p:txBody>
      </p:sp>
      <p:sp>
        <p:nvSpPr>
          <p:cNvPr id="5" name="Rectangle 4"/>
          <p:cNvSpPr/>
          <p:nvPr/>
        </p:nvSpPr>
        <p:spPr>
          <a:xfrm>
            <a:off x="3904020" y="1010000"/>
            <a:ext cx="1001970" cy="39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Оценка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5990" y="1010000"/>
            <a:ext cx="3840885" cy="39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Мера снижения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125" y="1400000"/>
            <a:ext cx="3506895" cy="3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Разделение заместителей без чек-листа передачи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4020" y="1400000"/>
            <a:ext cx="1001970" cy="3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Высокий</a:t>
            </a:r>
          </a:p>
        </p:txBody>
      </p:sp>
      <p:sp>
        <p:nvSpPr>
          <p:cNvPr id="9" name="Rectangle 8"/>
          <p:cNvSpPr/>
          <p:nvPr/>
        </p:nvSpPr>
        <p:spPr>
          <a:xfrm>
            <a:off x="4905990" y="1400000"/>
            <a:ext cx="3840885" cy="3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Чек-лист handover (2.0) утверждается до реструктуризации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125" y="1790000"/>
            <a:ext cx="3506895" cy="39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Перегрузка единственного заместителя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04020" y="1790000"/>
            <a:ext cx="1001970" cy="39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Высокий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05990" y="1790000"/>
            <a:ext cx="3840885" cy="39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Жёсткая приоритизация P1 и быстрые победы в фазе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125" y="2180000"/>
            <a:ext cx="3506895" cy="3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Сопротивление изменениям в центральном офисе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04020" y="2180000"/>
            <a:ext cx="1001970" cy="3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Средний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05990" y="2180000"/>
            <a:ext cx="3840885" cy="3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Интервью, RACI v2, спонсор на Steering Committee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125" y="2570000"/>
            <a:ext cx="3506895" cy="39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Недоступность ИТ-ресурсов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04020" y="2570000"/>
            <a:ext cx="1001970" cy="39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Средний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5990" y="2570000"/>
            <a:ext cx="3840885" cy="39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Поэтапная автоматизация, MVP вместо полной платформы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7125" y="2960000"/>
            <a:ext cx="3506895" cy="3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Низкий отклик филиалов на опросник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04020" y="2960000"/>
            <a:ext cx="1001970" cy="3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Средний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05990" y="2960000"/>
            <a:ext cx="3840885" cy="3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Служебная записка от руководства, контроль сроков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7125" y="3350000"/>
            <a:ext cx="3506895" cy="39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Методология формально отменена или изменена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04020" y="3350000"/>
            <a:ext cx="1001970" cy="39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Низкий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05990" y="3350000"/>
            <a:ext cx="3840885" cy="39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Проверка статуса приказа в фазе 0 до начала работ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125" y="3890000"/>
            <a:ext cx="834975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 Medium"/>
              </a:rPr>
              <a:t>Первые два риска связаны с одной причиной — совмещением блоков 1 и 2 в одной роли. Их снятие является приоритетом фаз 1 и 3.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Первые шаги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Шесть решений для запуска проекта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125" y="1090000"/>
            <a:ext cx="4074875" cy="94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0" rIns="110000" tIns="90000" bIns="90000" wrap="square"/>
          <a:lstStyle/>
          <a:p>
            <a:pPr algn="l">
              <a:lnSpc>
                <a:spcPct val="115000"/>
              </a:lnSpc>
            </a:pPr>
            <a:r>
              <a:rPr sz="1050">
                <a:solidFill>
                  <a:srgbClr val="1E1E1E"/>
                </a:solidFill>
                <a:latin typeface="Golos Text SemiBold"/>
              </a:rPr>
              <a:t>Утвердить паспорт проекта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900">
                <a:solidFill>
                  <a:srgbClr val="444746"/>
                </a:solidFill>
                <a:latin typeface="Golos Text"/>
              </a:rPr>
              <a:t>Назначить руководителя проекта трансформации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7125" y="1360000"/>
            <a:ext cx="420000" cy="400000"/>
          </a:xfrm>
          <a:prstGeom prst="roundRect">
            <a:avLst>
              <a:gd name="adj" fmla="val 20000"/>
            </a:avLst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90000" bIns="9000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72000" y="1090000"/>
            <a:ext cx="4074875" cy="94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0" rIns="110000" tIns="90000" bIns="90000" wrap="square"/>
          <a:lstStyle/>
          <a:p>
            <a:pPr algn="l">
              <a:lnSpc>
                <a:spcPct val="115000"/>
              </a:lnSpc>
            </a:pPr>
            <a:r>
              <a:rPr sz="1050">
                <a:solidFill>
                  <a:srgbClr val="1E1E1E"/>
                </a:solidFill>
                <a:latin typeface="Golos Text SemiBold"/>
              </a:rPr>
              <a:t>Созвать Steering Committee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900">
                <a:solidFill>
                  <a:srgbClr val="444746"/>
                </a:solidFill>
                <a:latin typeface="Golos Text"/>
              </a:rPr>
              <a:t>ДУП, ДРБ, Финблок — утвердить приоритеты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22000" y="1360000"/>
            <a:ext cx="420000" cy="400000"/>
          </a:xfrm>
          <a:prstGeom prst="roundRect">
            <a:avLst>
              <a:gd name="adj" fmla="val 20000"/>
            </a:avLst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90000" bIns="9000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125" y="2240000"/>
            <a:ext cx="4074875" cy="94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0" rIns="110000" tIns="90000" bIns="90000" wrap="square"/>
          <a:lstStyle/>
          <a:p>
            <a:pPr algn="l">
              <a:lnSpc>
                <a:spcPct val="115000"/>
              </a:lnSpc>
            </a:pPr>
            <a:r>
              <a:rPr sz="1050">
                <a:solidFill>
                  <a:srgbClr val="1E1E1E"/>
                </a:solidFill>
                <a:latin typeface="Golos Text SemiBold"/>
              </a:rPr>
              <a:t>Запустить опросник филиалов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900">
                <a:solidFill>
                  <a:srgbClr val="444746"/>
                </a:solidFill>
                <a:latin typeface="Golos Text"/>
              </a:rPr>
              <a:t>Форма готова, требуется служебная записка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7125" y="2510000"/>
            <a:ext cx="420000" cy="400000"/>
          </a:xfrm>
          <a:prstGeom prst="roundRect">
            <a:avLst>
              <a:gd name="adj" fmla="val 20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90000" bIns="9000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72000" y="2240000"/>
            <a:ext cx="4074875" cy="94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0" rIns="110000" tIns="90000" bIns="90000" wrap="square"/>
          <a:lstStyle/>
          <a:p>
            <a:pPr algn="l">
              <a:lnSpc>
                <a:spcPct val="115000"/>
              </a:lnSpc>
            </a:pPr>
            <a:r>
              <a:rPr sz="1050">
                <a:solidFill>
                  <a:srgbClr val="1E1E1E"/>
                </a:solidFill>
                <a:latin typeface="Golos Text SemiBold"/>
              </a:rPr>
              <a:t>Назначить пилотный филиал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900">
                <a:solidFill>
                  <a:srgbClr val="444746"/>
                </a:solidFill>
                <a:latin typeface="Golos Text"/>
              </a:rPr>
              <a:t>Аудит по чек-листам методологии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22000" y="2510000"/>
            <a:ext cx="420000" cy="400000"/>
          </a:xfrm>
          <a:prstGeom prst="roundRect">
            <a:avLst>
              <a:gd name="adj" fmla="val 20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90000" bIns="9000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125" y="3390000"/>
            <a:ext cx="4074875" cy="94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0" rIns="110000" tIns="90000" bIns="90000" wrap="square"/>
          <a:lstStyle/>
          <a:p>
            <a:pPr algn="l">
              <a:lnSpc>
                <a:spcPct val="115000"/>
              </a:lnSpc>
            </a:pPr>
            <a:r>
              <a:rPr sz="1050">
                <a:solidFill>
                  <a:srgbClr val="1E1E1E"/>
                </a:solidFill>
                <a:latin typeface="Golos Text SemiBold"/>
              </a:rPr>
              <a:t>Поставить паузу на утверждение ДИ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900">
                <a:solidFill>
                  <a:srgbClr val="444746"/>
                </a:solidFill>
                <a:latin typeface="Golos Text"/>
              </a:rPr>
              <a:t>До сверки с пунктом 3.5 методологии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7125" y="3660000"/>
            <a:ext cx="420000" cy="400000"/>
          </a:xfrm>
          <a:prstGeom prst="roundRect">
            <a:avLst>
              <a:gd name="adj" fmla="val 20000"/>
            </a:avLst>
          </a:prstGeom>
          <a:solidFill>
            <a:srgbClr val="FBB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90000" bIns="9000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E1E1E"/>
                </a:solidFill>
                <a:latin typeface="Golos Text SemiBold"/>
              </a:rPr>
              <a:t>05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72000" y="3390000"/>
            <a:ext cx="4074875" cy="94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0" rIns="110000" tIns="90000" bIns="90000" wrap="square"/>
          <a:lstStyle/>
          <a:p>
            <a:pPr algn="l">
              <a:lnSpc>
                <a:spcPct val="115000"/>
              </a:lnSpc>
            </a:pPr>
            <a:r>
              <a:rPr sz="1050">
                <a:solidFill>
                  <a:srgbClr val="1E1E1E"/>
                </a:solidFill>
                <a:latin typeface="Golos Text SemiBold"/>
              </a:rPr>
              <a:t>Зафиксировать пакет ДРБ → ДУП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900">
                <a:solidFill>
                  <a:srgbClr val="444746"/>
                </a:solidFill>
                <a:latin typeface="Golos Text"/>
              </a:rPr>
              <a:t>Письменно, с блокировкой старта без пакета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22000" y="3660000"/>
            <a:ext cx="420000" cy="400000"/>
          </a:xfrm>
          <a:prstGeom prst="roundRect">
            <a:avLst>
              <a:gd name="adj" fmla="val 20000"/>
            </a:avLst>
          </a:prstGeom>
          <a:solidFill>
            <a:srgbClr val="FBB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90000" bIns="9000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E1E1E"/>
                </a:solidFill>
                <a:latin typeface="Golos Text SemiBold"/>
              </a:rPr>
              <a:t>06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g34fc5f99509_2_26"/>
          <p:cNvPicPr preferRelativeResize="0"/>
          <p:nvPr/>
        </p:nvPicPr>
        <p:blipFill rotWithShape="1">
          <a:blip r:embed="rId3">
            <a:alphaModFix/>
          </a:blip>
          <a:srcRect b="0" l="0" r="0" t="15626"/>
          <a:stretch/>
        </p:blipFill>
        <p:spPr>
          <a:xfrm>
            <a:off x="0" y="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g34fc5f99509_2_26"/>
          <p:cNvSpPr/>
          <p:nvPr/>
        </p:nvSpPr>
        <p:spPr>
          <a:xfrm>
            <a:off x="0" y="25"/>
            <a:ext cx="9014700" cy="5143500"/>
          </a:xfrm>
          <a:prstGeom prst="rect">
            <a:avLst/>
          </a:prstGeom>
          <a:gradFill>
            <a:gsLst>
              <a:gs pos="0">
                <a:srgbClr val="013D85">
                  <a:alpha val="63137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4fc5f99509_2_26"/>
          <p:cNvSpPr/>
          <p:nvPr/>
        </p:nvSpPr>
        <p:spPr>
          <a:xfrm>
            <a:off x="0" y="25"/>
            <a:ext cx="9014700" cy="5143500"/>
          </a:xfrm>
          <a:prstGeom prst="rect">
            <a:avLst/>
          </a:prstGeom>
          <a:gradFill>
            <a:gsLst>
              <a:gs pos="0">
                <a:srgbClr val="013D85">
                  <a:alpha val="63137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4fc5f99509_2_26"/>
          <p:cNvSpPr txBox="1"/>
          <p:nvPr/>
        </p:nvSpPr>
        <p:spPr>
          <a:xfrm>
            <a:off x="576526" y="2202300"/>
            <a:ext cx="7991100" cy="738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600" b="0">
                <a:solidFill>
                  <a:srgbClr val="FFFFFF"/>
                </a:solidFill>
                <a:latin typeface="Golos Text Medium"/>
              </a:rPr>
              <a:t>Управляемые процессы — предсказуемые проекты в каждом филиале</a:t>
            </a:r>
            <a:endParaRPr sz="2400">
              <a:solidFill>
                <a:schemeClr val="lt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347" name="Google Shape;347;g34fc5f99509_2_26"/>
          <p:cNvSpPr txBox="1"/>
          <p:nvPr/>
        </p:nvSpPr>
        <p:spPr>
          <a:xfrm>
            <a:off x="2081987" y="493525"/>
            <a:ext cx="4897200" cy="708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4000" u="none" cap="none" strike="noStrike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Спасибо!</a:t>
            </a:r>
            <a:endParaRPr b="1" i="0" sz="4000" u="none" cap="none" strike="noStrike">
              <a:solidFill>
                <a:srgbClr val="FFFFFF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grpSp>
        <p:nvGrpSpPr>
          <p:cNvPr id="348" name="Google Shape;348;g34fc5f99509_2_26"/>
          <p:cNvGrpSpPr/>
          <p:nvPr/>
        </p:nvGrpSpPr>
        <p:grpSpPr>
          <a:xfrm>
            <a:off x="3256171" y="4260137"/>
            <a:ext cx="2631820" cy="395775"/>
            <a:chOff x="7419975" y="4637527"/>
            <a:chExt cx="1105946" cy="166306"/>
          </a:xfrm>
        </p:grpSpPr>
        <p:sp>
          <p:nvSpPr>
            <p:cNvPr id="349" name="Google Shape;349;g34fc5f99509_2_26"/>
            <p:cNvSpPr/>
            <p:nvPr/>
          </p:nvSpPr>
          <p:spPr>
            <a:xfrm>
              <a:off x="7419975" y="4674865"/>
              <a:ext cx="86010" cy="94678"/>
            </a:xfrm>
            <a:custGeom>
              <a:rect b="b" l="l" r="r" t="t"/>
              <a:pathLst>
                <a:path extrusionOk="0" h="94678" w="86010">
                  <a:moveTo>
                    <a:pt x="2667" y="73914"/>
                  </a:moveTo>
                  <a:lnTo>
                    <a:pt x="55912" y="73914"/>
                  </a:lnTo>
                  <a:cubicBezTo>
                    <a:pt x="63246" y="73914"/>
                    <a:pt x="65342" y="72104"/>
                    <a:pt x="65342" y="64865"/>
                  </a:cubicBezTo>
                  <a:cubicBezTo>
                    <a:pt x="65342" y="57626"/>
                    <a:pt x="63246" y="55816"/>
                    <a:pt x="55912" y="55816"/>
                  </a:cubicBezTo>
                  <a:lnTo>
                    <a:pt x="28289" y="55816"/>
                  </a:lnTo>
                  <a:cubicBezTo>
                    <a:pt x="10668" y="55816"/>
                    <a:pt x="0" y="45529"/>
                    <a:pt x="0" y="27908"/>
                  </a:cubicBezTo>
                  <a:cubicBezTo>
                    <a:pt x="0" y="10287"/>
                    <a:pt x="10668" y="0"/>
                    <a:pt x="28289" y="0"/>
                  </a:cubicBezTo>
                  <a:lnTo>
                    <a:pt x="76200" y="0"/>
                  </a:lnTo>
                  <a:lnTo>
                    <a:pt x="76200" y="20574"/>
                  </a:lnTo>
                  <a:lnTo>
                    <a:pt x="28289" y="20574"/>
                  </a:lnTo>
                  <a:cubicBezTo>
                    <a:pt x="22193" y="20574"/>
                    <a:pt x="20669" y="21622"/>
                    <a:pt x="20669" y="27908"/>
                  </a:cubicBezTo>
                  <a:cubicBezTo>
                    <a:pt x="20669" y="34195"/>
                    <a:pt x="22289" y="35243"/>
                    <a:pt x="28289" y="35243"/>
                  </a:cubicBezTo>
                  <a:lnTo>
                    <a:pt x="55912" y="35243"/>
                  </a:lnTo>
                  <a:cubicBezTo>
                    <a:pt x="74581" y="35243"/>
                    <a:pt x="86011" y="46101"/>
                    <a:pt x="86011" y="64960"/>
                  </a:cubicBezTo>
                  <a:cubicBezTo>
                    <a:pt x="86011" y="83820"/>
                    <a:pt x="74581" y="94678"/>
                    <a:pt x="55912" y="94678"/>
                  </a:cubicBezTo>
                  <a:lnTo>
                    <a:pt x="2667" y="94678"/>
                  </a:lnTo>
                  <a:lnTo>
                    <a:pt x="2667" y="7410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g34fc5f99509_2_26"/>
            <p:cNvSpPr/>
            <p:nvPr/>
          </p:nvSpPr>
          <p:spPr>
            <a:xfrm>
              <a:off x="7517415" y="4672960"/>
              <a:ext cx="91359" cy="96393"/>
            </a:xfrm>
            <a:custGeom>
              <a:rect b="b" l="l" r="r" t="t"/>
              <a:pathLst>
                <a:path extrusionOk="0" h="96393" w="91359">
                  <a:moveTo>
                    <a:pt x="20860" y="57721"/>
                  </a:moveTo>
                  <a:cubicBezTo>
                    <a:pt x="22098" y="73724"/>
                    <a:pt x="27242" y="75819"/>
                    <a:pt x="48101" y="75819"/>
                  </a:cubicBezTo>
                  <a:lnTo>
                    <a:pt x="85725" y="75819"/>
                  </a:lnTo>
                  <a:lnTo>
                    <a:pt x="85725" y="96393"/>
                  </a:lnTo>
                  <a:lnTo>
                    <a:pt x="48101" y="96393"/>
                  </a:lnTo>
                  <a:cubicBezTo>
                    <a:pt x="12287" y="96393"/>
                    <a:pt x="0" y="84106"/>
                    <a:pt x="0" y="48196"/>
                  </a:cubicBezTo>
                  <a:cubicBezTo>
                    <a:pt x="0" y="12287"/>
                    <a:pt x="11430" y="0"/>
                    <a:pt x="46292" y="0"/>
                  </a:cubicBezTo>
                  <a:cubicBezTo>
                    <a:pt x="82963" y="0"/>
                    <a:pt x="93345" y="14573"/>
                    <a:pt x="91059" y="57626"/>
                  </a:cubicBezTo>
                  <a:lnTo>
                    <a:pt x="20860" y="57626"/>
                  </a:lnTo>
                  <a:close/>
                  <a:moveTo>
                    <a:pt x="70390" y="37148"/>
                  </a:moveTo>
                  <a:cubicBezTo>
                    <a:pt x="69152" y="24194"/>
                    <a:pt x="66770" y="20765"/>
                    <a:pt x="46292" y="20765"/>
                  </a:cubicBezTo>
                  <a:cubicBezTo>
                    <a:pt x="27718" y="20765"/>
                    <a:pt x="22384" y="22574"/>
                    <a:pt x="20955" y="37148"/>
                  </a:cubicBezTo>
                  <a:lnTo>
                    <a:pt x="70295" y="371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g34fc5f99509_2_26"/>
            <p:cNvSpPr/>
            <p:nvPr/>
          </p:nvSpPr>
          <p:spPr>
            <a:xfrm>
              <a:off x="7622381" y="4674865"/>
              <a:ext cx="50387" cy="94583"/>
            </a:xfrm>
            <a:custGeom>
              <a:rect b="b" l="l" r="r" t="t"/>
              <a:pathLst>
                <a:path extrusionOk="0" h="94583" w="50387">
                  <a:moveTo>
                    <a:pt x="20669" y="94583"/>
                  </a:moveTo>
                  <a:lnTo>
                    <a:pt x="0" y="94583"/>
                  </a:lnTo>
                  <a:lnTo>
                    <a:pt x="0" y="45148"/>
                  </a:lnTo>
                  <a:cubicBezTo>
                    <a:pt x="0" y="11525"/>
                    <a:pt x="11620" y="0"/>
                    <a:pt x="45244" y="0"/>
                  </a:cubicBezTo>
                  <a:lnTo>
                    <a:pt x="50387" y="0"/>
                  </a:lnTo>
                  <a:lnTo>
                    <a:pt x="50387" y="20574"/>
                  </a:lnTo>
                  <a:lnTo>
                    <a:pt x="45244" y="20574"/>
                  </a:lnTo>
                  <a:cubicBezTo>
                    <a:pt x="22955" y="20574"/>
                    <a:pt x="20669" y="22860"/>
                    <a:pt x="20669" y="45148"/>
                  </a:cubicBezTo>
                  <a:lnTo>
                    <a:pt x="20669" y="945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g34fc5f99509_2_26"/>
            <p:cNvSpPr/>
            <p:nvPr/>
          </p:nvSpPr>
          <p:spPr>
            <a:xfrm>
              <a:off x="7684389" y="4673055"/>
              <a:ext cx="94488" cy="130778"/>
            </a:xfrm>
            <a:custGeom>
              <a:rect b="b" l="l" r="r" t="t"/>
              <a:pathLst>
                <a:path extrusionOk="0" h="130778" w="94488">
                  <a:moveTo>
                    <a:pt x="47244" y="98108"/>
                  </a:moveTo>
                  <a:cubicBezTo>
                    <a:pt x="11620" y="98108"/>
                    <a:pt x="0" y="85154"/>
                    <a:pt x="0" y="49054"/>
                  </a:cubicBezTo>
                  <a:cubicBezTo>
                    <a:pt x="0" y="12954"/>
                    <a:pt x="11620" y="0"/>
                    <a:pt x="47244" y="0"/>
                  </a:cubicBezTo>
                  <a:cubicBezTo>
                    <a:pt x="82867" y="0"/>
                    <a:pt x="94488" y="12954"/>
                    <a:pt x="94488" y="49054"/>
                  </a:cubicBezTo>
                  <a:lnTo>
                    <a:pt x="94488" y="85630"/>
                  </a:lnTo>
                  <a:cubicBezTo>
                    <a:pt x="94488" y="119253"/>
                    <a:pt x="82772" y="130778"/>
                    <a:pt x="49054" y="130778"/>
                  </a:cubicBezTo>
                  <a:lnTo>
                    <a:pt x="15907" y="130778"/>
                  </a:lnTo>
                  <a:lnTo>
                    <a:pt x="15907" y="110204"/>
                  </a:lnTo>
                  <a:lnTo>
                    <a:pt x="49054" y="110204"/>
                  </a:lnTo>
                  <a:cubicBezTo>
                    <a:pt x="68866" y="110204"/>
                    <a:pt x="72581" y="107918"/>
                    <a:pt x="73628" y="94202"/>
                  </a:cubicBezTo>
                  <a:cubicBezTo>
                    <a:pt x="66865" y="96869"/>
                    <a:pt x="58103" y="98108"/>
                    <a:pt x="47244" y="98108"/>
                  </a:cubicBezTo>
                  <a:close/>
                  <a:moveTo>
                    <a:pt x="20669" y="49054"/>
                  </a:moveTo>
                  <a:cubicBezTo>
                    <a:pt x="20669" y="74867"/>
                    <a:pt x="24098" y="77534"/>
                    <a:pt x="47244" y="77534"/>
                  </a:cubicBezTo>
                  <a:cubicBezTo>
                    <a:pt x="70390" y="77534"/>
                    <a:pt x="73819" y="74867"/>
                    <a:pt x="73819" y="49054"/>
                  </a:cubicBezTo>
                  <a:cubicBezTo>
                    <a:pt x="73819" y="23241"/>
                    <a:pt x="70390" y="20574"/>
                    <a:pt x="47244" y="20574"/>
                  </a:cubicBezTo>
                  <a:cubicBezTo>
                    <a:pt x="24098" y="20574"/>
                    <a:pt x="20669" y="23241"/>
                    <a:pt x="20669" y="49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g34fc5f99509_2_26"/>
            <p:cNvSpPr/>
            <p:nvPr/>
          </p:nvSpPr>
          <p:spPr>
            <a:xfrm>
              <a:off x="7792116" y="4672960"/>
              <a:ext cx="91359" cy="96393"/>
            </a:xfrm>
            <a:custGeom>
              <a:rect b="b" l="l" r="r" t="t"/>
              <a:pathLst>
                <a:path extrusionOk="0" h="96393" w="91359">
                  <a:moveTo>
                    <a:pt x="20860" y="57721"/>
                  </a:moveTo>
                  <a:cubicBezTo>
                    <a:pt x="22098" y="73724"/>
                    <a:pt x="27242" y="75819"/>
                    <a:pt x="48101" y="75819"/>
                  </a:cubicBezTo>
                  <a:lnTo>
                    <a:pt x="85725" y="75819"/>
                  </a:lnTo>
                  <a:lnTo>
                    <a:pt x="85725" y="96393"/>
                  </a:lnTo>
                  <a:lnTo>
                    <a:pt x="48101" y="96393"/>
                  </a:lnTo>
                  <a:cubicBezTo>
                    <a:pt x="12287" y="96393"/>
                    <a:pt x="0" y="84106"/>
                    <a:pt x="0" y="48196"/>
                  </a:cubicBezTo>
                  <a:cubicBezTo>
                    <a:pt x="0" y="12287"/>
                    <a:pt x="11430" y="0"/>
                    <a:pt x="46292" y="0"/>
                  </a:cubicBezTo>
                  <a:cubicBezTo>
                    <a:pt x="82963" y="0"/>
                    <a:pt x="93345" y="14573"/>
                    <a:pt x="91059" y="57626"/>
                  </a:cubicBezTo>
                  <a:lnTo>
                    <a:pt x="20860" y="57626"/>
                  </a:lnTo>
                  <a:close/>
                  <a:moveTo>
                    <a:pt x="70390" y="37148"/>
                  </a:moveTo>
                  <a:cubicBezTo>
                    <a:pt x="69152" y="24194"/>
                    <a:pt x="66770" y="20765"/>
                    <a:pt x="46292" y="20765"/>
                  </a:cubicBezTo>
                  <a:cubicBezTo>
                    <a:pt x="27718" y="20765"/>
                    <a:pt x="22384" y="22574"/>
                    <a:pt x="20955" y="37148"/>
                  </a:cubicBezTo>
                  <a:lnTo>
                    <a:pt x="70295" y="371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g34fc5f99509_2_26"/>
            <p:cNvSpPr/>
            <p:nvPr/>
          </p:nvSpPr>
          <p:spPr>
            <a:xfrm>
              <a:off x="7896891" y="4637527"/>
              <a:ext cx="85058" cy="131921"/>
            </a:xfrm>
            <a:custGeom>
              <a:rect b="b" l="l" r="r" t="t"/>
              <a:pathLst>
                <a:path extrusionOk="0" h="131921" w="85058">
                  <a:moveTo>
                    <a:pt x="20860" y="0"/>
                  </a:moveTo>
                  <a:lnTo>
                    <a:pt x="20860" y="72485"/>
                  </a:lnTo>
                  <a:lnTo>
                    <a:pt x="38481" y="72485"/>
                  </a:lnTo>
                  <a:cubicBezTo>
                    <a:pt x="62389" y="56483"/>
                    <a:pt x="62675" y="54007"/>
                    <a:pt x="62675" y="37338"/>
                  </a:cubicBezTo>
                  <a:lnTo>
                    <a:pt x="83344" y="37338"/>
                  </a:lnTo>
                  <a:cubicBezTo>
                    <a:pt x="83344" y="59912"/>
                    <a:pt x="78677" y="68771"/>
                    <a:pt x="59627" y="82868"/>
                  </a:cubicBezTo>
                  <a:cubicBezTo>
                    <a:pt x="80105" y="97060"/>
                    <a:pt x="85058" y="106490"/>
                    <a:pt x="85058" y="131921"/>
                  </a:cubicBezTo>
                  <a:lnTo>
                    <a:pt x="64389" y="131921"/>
                  </a:lnTo>
                  <a:cubicBezTo>
                    <a:pt x="64389" y="112205"/>
                    <a:pt x="63532" y="109538"/>
                    <a:pt x="37814" y="93155"/>
                  </a:cubicBezTo>
                  <a:lnTo>
                    <a:pt x="20669" y="93155"/>
                  </a:lnTo>
                  <a:lnTo>
                    <a:pt x="20669" y="131921"/>
                  </a:lnTo>
                  <a:lnTo>
                    <a:pt x="0" y="131921"/>
                  </a:lnTo>
                  <a:lnTo>
                    <a:pt x="0" y="0"/>
                  </a:lnTo>
                  <a:lnTo>
                    <a:pt x="206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g34fc5f99509_2_26"/>
            <p:cNvSpPr/>
            <p:nvPr/>
          </p:nvSpPr>
          <p:spPr>
            <a:xfrm>
              <a:off x="8044433" y="4673055"/>
              <a:ext cx="94488" cy="130778"/>
            </a:xfrm>
            <a:custGeom>
              <a:rect b="b" l="l" r="r" t="t"/>
              <a:pathLst>
                <a:path extrusionOk="0" h="130778" w="94488">
                  <a:moveTo>
                    <a:pt x="47244" y="98108"/>
                  </a:moveTo>
                  <a:cubicBezTo>
                    <a:pt x="11621" y="98108"/>
                    <a:pt x="0" y="85154"/>
                    <a:pt x="0" y="49054"/>
                  </a:cubicBezTo>
                  <a:cubicBezTo>
                    <a:pt x="0" y="12954"/>
                    <a:pt x="11621" y="0"/>
                    <a:pt x="47244" y="0"/>
                  </a:cubicBezTo>
                  <a:cubicBezTo>
                    <a:pt x="82868" y="0"/>
                    <a:pt x="94488" y="12954"/>
                    <a:pt x="94488" y="49054"/>
                  </a:cubicBezTo>
                  <a:lnTo>
                    <a:pt x="94488" y="85630"/>
                  </a:lnTo>
                  <a:cubicBezTo>
                    <a:pt x="94488" y="119253"/>
                    <a:pt x="82772" y="130778"/>
                    <a:pt x="49054" y="130778"/>
                  </a:cubicBezTo>
                  <a:lnTo>
                    <a:pt x="15907" y="130778"/>
                  </a:lnTo>
                  <a:lnTo>
                    <a:pt x="15907" y="110204"/>
                  </a:lnTo>
                  <a:lnTo>
                    <a:pt x="49054" y="110204"/>
                  </a:lnTo>
                  <a:cubicBezTo>
                    <a:pt x="68866" y="110204"/>
                    <a:pt x="72581" y="107918"/>
                    <a:pt x="73628" y="94202"/>
                  </a:cubicBezTo>
                  <a:cubicBezTo>
                    <a:pt x="66866" y="96869"/>
                    <a:pt x="58103" y="98108"/>
                    <a:pt x="47244" y="98108"/>
                  </a:cubicBezTo>
                  <a:close/>
                  <a:moveTo>
                    <a:pt x="20669" y="49054"/>
                  </a:moveTo>
                  <a:cubicBezTo>
                    <a:pt x="20669" y="74867"/>
                    <a:pt x="24098" y="77534"/>
                    <a:pt x="47244" y="77534"/>
                  </a:cubicBezTo>
                  <a:cubicBezTo>
                    <a:pt x="70390" y="77534"/>
                    <a:pt x="73819" y="74867"/>
                    <a:pt x="73819" y="49054"/>
                  </a:cubicBezTo>
                  <a:cubicBezTo>
                    <a:pt x="73819" y="23241"/>
                    <a:pt x="70390" y="20574"/>
                    <a:pt x="47244" y="20574"/>
                  </a:cubicBezTo>
                  <a:cubicBezTo>
                    <a:pt x="24098" y="20574"/>
                    <a:pt x="20669" y="23241"/>
                    <a:pt x="20669" y="49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g34fc5f99509_2_26"/>
            <p:cNvSpPr/>
            <p:nvPr/>
          </p:nvSpPr>
          <p:spPr>
            <a:xfrm>
              <a:off x="8154066" y="4674865"/>
              <a:ext cx="50387" cy="94583"/>
            </a:xfrm>
            <a:custGeom>
              <a:rect b="b" l="l" r="r" t="t"/>
              <a:pathLst>
                <a:path extrusionOk="0" h="94583" w="50387">
                  <a:moveTo>
                    <a:pt x="20669" y="94583"/>
                  </a:moveTo>
                  <a:lnTo>
                    <a:pt x="0" y="94583"/>
                  </a:lnTo>
                  <a:lnTo>
                    <a:pt x="0" y="45148"/>
                  </a:lnTo>
                  <a:cubicBezTo>
                    <a:pt x="0" y="11525"/>
                    <a:pt x="11621" y="0"/>
                    <a:pt x="45244" y="0"/>
                  </a:cubicBezTo>
                  <a:lnTo>
                    <a:pt x="50387" y="0"/>
                  </a:lnTo>
                  <a:lnTo>
                    <a:pt x="50387" y="20574"/>
                  </a:lnTo>
                  <a:lnTo>
                    <a:pt x="45244" y="20574"/>
                  </a:lnTo>
                  <a:cubicBezTo>
                    <a:pt x="22955" y="20574"/>
                    <a:pt x="20669" y="22860"/>
                    <a:pt x="20669" y="45148"/>
                  </a:cubicBezTo>
                  <a:lnTo>
                    <a:pt x="20669" y="945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g34fc5f99509_2_26"/>
            <p:cNvSpPr/>
            <p:nvPr/>
          </p:nvSpPr>
          <p:spPr>
            <a:xfrm>
              <a:off x="8216074" y="4673055"/>
              <a:ext cx="96202" cy="98107"/>
            </a:xfrm>
            <a:custGeom>
              <a:rect b="b" l="l" r="r" t="t"/>
              <a:pathLst>
                <a:path extrusionOk="0" h="98107" w="96202">
                  <a:moveTo>
                    <a:pt x="48101" y="0"/>
                  </a:moveTo>
                  <a:cubicBezTo>
                    <a:pt x="84582" y="0"/>
                    <a:pt x="96202" y="13716"/>
                    <a:pt x="96202" y="49054"/>
                  </a:cubicBezTo>
                  <a:cubicBezTo>
                    <a:pt x="96202" y="84392"/>
                    <a:pt x="84582" y="98108"/>
                    <a:pt x="48101" y="98108"/>
                  </a:cubicBezTo>
                  <a:cubicBezTo>
                    <a:pt x="11621" y="98108"/>
                    <a:pt x="0" y="84582"/>
                    <a:pt x="0" y="49054"/>
                  </a:cubicBezTo>
                  <a:cubicBezTo>
                    <a:pt x="0" y="13526"/>
                    <a:pt x="11906" y="0"/>
                    <a:pt x="48101" y="0"/>
                  </a:cubicBezTo>
                  <a:close/>
                  <a:moveTo>
                    <a:pt x="48101" y="77534"/>
                  </a:moveTo>
                  <a:cubicBezTo>
                    <a:pt x="72200" y="77534"/>
                    <a:pt x="75533" y="74200"/>
                    <a:pt x="75533" y="49054"/>
                  </a:cubicBezTo>
                  <a:cubicBezTo>
                    <a:pt x="75533" y="23908"/>
                    <a:pt x="72104" y="20574"/>
                    <a:pt x="48101" y="20574"/>
                  </a:cubicBezTo>
                  <a:cubicBezTo>
                    <a:pt x="24098" y="20574"/>
                    <a:pt x="20669" y="24098"/>
                    <a:pt x="20669" y="49054"/>
                  </a:cubicBezTo>
                  <a:cubicBezTo>
                    <a:pt x="20669" y="74009"/>
                    <a:pt x="24098" y="77534"/>
                    <a:pt x="48101" y="775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g34fc5f99509_2_26"/>
            <p:cNvSpPr/>
            <p:nvPr/>
          </p:nvSpPr>
          <p:spPr>
            <a:xfrm>
              <a:off x="8325612" y="4674865"/>
              <a:ext cx="90677" cy="96297"/>
            </a:xfrm>
            <a:custGeom>
              <a:rect b="b" l="l" r="r" t="t"/>
              <a:pathLst>
                <a:path extrusionOk="0" h="96297" w="90677">
                  <a:moveTo>
                    <a:pt x="70009" y="0"/>
                  </a:moveTo>
                  <a:lnTo>
                    <a:pt x="90678" y="0"/>
                  </a:lnTo>
                  <a:lnTo>
                    <a:pt x="90678" y="51149"/>
                  </a:lnTo>
                  <a:cubicBezTo>
                    <a:pt x="90678" y="84773"/>
                    <a:pt x="78962" y="96298"/>
                    <a:pt x="45244" y="96298"/>
                  </a:cubicBezTo>
                  <a:cubicBezTo>
                    <a:pt x="11525" y="96298"/>
                    <a:pt x="0" y="84773"/>
                    <a:pt x="0" y="51149"/>
                  </a:cubicBezTo>
                  <a:lnTo>
                    <a:pt x="0" y="0"/>
                  </a:lnTo>
                  <a:lnTo>
                    <a:pt x="20669" y="0"/>
                  </a:lnTo>
                  <a:lnTo>
                    <a:pt x="20669" y="51149"/>
                  </a:lnTo>
                  <a:cubicBezTo>
                    <a:pt x="20669" y="73343"/>
                    <a:pt x="22955" y="75724"/>
                    <a:pt x="45244" y="75724"/>
                  </a:cubicBezTo>
                  <a:cubicBezTo>
                    <a:pt x="67532" y="75724"/>
                    <a:pt x="70009" y="73438"/>
                    <a:pt x="70009" y="51149"/>
                  </a:cubicBezTo>
                  <a:lnTo>
                    <a:pt x="700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g34fc5f99509_2_26"/>
            <p:cNvSpPr/>
            <p:nvPr/>
          </p:nvSpPr>
          <p:spPr>
            <a:xfrm>
              <a:off x="8431434" y="4673055"/>
              <a:ext cx="94487" cy="130778"/>
            </a:xfrm>
            <a:custGeom>
              <a:rect b="b" l="l" r="r" t="t"/>
              <a:pathLst>
                <a:path extrusionOk="0" h="130778" w="94487">
                  <a:moveTo>
                    <a:pt x="47244" y="0"/>
                  </a:moveTo>
                  <a:cubicBezTo>
                    <a:pt x="83058" y="0"/>
                    <a:pt x="94488" y="12954"/>
                    <a:pt x="94488" y="49054"/>
                  </a:cubicBezTo>
                  <a:cubicBezTo>
                    <a:pt x="94488" y="85154"/>
                    <a:pt x="83058" y="98108"/>
                    <a:pt x="47244" y="98108"/>
                  </a:cubicBezTo>
                  <a:cubicBezTo>
                    <a:pt x="36195" y="98108"/>
                    <a:pt x="27432" y="96869"/>
                    <a:pt x="20669" y="94012"/>
                  </a:cubicBezTo>
                  <a:lnTo>
                    <a:pt x="20669" y="130778"/>
                  </a:lnTo>
                  <a:lnTo>
                    <a:pt x="0" y="130778"/>
                  </a:lnTo>
                  <a:lnTo>
                    <a:pt x="0" y="49054"/>
                  </a:lnTo>
                  <a:cubicBezTo>
                    <a:pt x="0" y="12954"/>
                    <a:pt x="11621" y="0"/>
                    <a:pt x="47244" y="0"/>
                  </a:cubicBezTo>
                  <a:close/>
                  <a:moveTo>
                    <a:pt x="47244" y="77534"/>
                  </a:moveTo>
                  <a:cubicBezTo>
                    <a:pt x="70580" y="77534"/>
                    <a:pt x="73819" y="74867"/>
                    <a:pt x="73819" y="49054"/>
                  </a:cubicBezTo>
                  <a:cubicBezTo>
                    <a:pt x="73819" y="23241"/>
                    <a:pt x="70580" y="20574"/>
                    <a:pt x="47244" y="20574"/>
                  </a:cubicBezTo>
                  <a:cubicBezTo>
                    <a:pt x="23908" y="20574"/>
                    <a:pt x="20669" y="23241"/>
                    <a:pt x="20669" y="49054"/>
                  </a:cubicBezTo>
                  <a:cubicBezTo>
                    <a:pt x="20669" y="74867"/>
                    <a:pt x="24098" y="77534"/>
                    <a:pt x="47244" y="775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Фоны">
  <a:themeElements>
    <a:clrScheme name="SG_pptx">
      <a:dk1>
        <a:srgbClr val="1E1E1E"/>
      </a:dk1>
      <a:lt1>
        <a:srgbClr val="FFFFFF"/>
      </a:lt1>
      <a:dk2>
        <a:srgbClr val="1C3341"/>
      </a:dk2>
      <a:lt2>
        <a:srgbClr val="013D85"/>
      </a:lt2>
      <a:accent1>
        <a:srgbClr val="28AB6A"/>
      </a:accent1>
      <a:accent2>
        <a:srgbClr val="D4D8E4"/>
      </a:accent2>
      <a:accent3>
        <a:srgbClr val="A7B6BD"/>
      </a:accent3>
      <a:accent4>
        <a:srgbClr val="FBBB05"/>
      </a:accent4>
      <a:accent5>
        <a:srgbClr val="4384F4"/>
      </a:accent5>
      <a:accent6>
        <a:srgbClr val="E94235"/>
      </a:accent6>
      <a:hlink>
        <a:srgbClr val="FFFFFF"/>
      </a:hlink>
      <a:folHlink>
        <a:srgbClr val="A7B6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Фоны">
  <a:themeElements>
    <a:clrScheme name="SG_pptx">
      <a:dk1>
        <a:srgbClr val="1E1E1E"/>
      </a:dk1>
      <a:lt1>
        <a:srgbClr val="FFFFFF"/>
      </a:lt1>
      <a:dk2>
        <a:srgbClr val="1C3341"/>
      </a:dk2>
      <a:lt2>
        <a:srgbClr val="013D85"/>
      </a:lt2>
      <a:accent1>
        <a:srgbClr val="28AB6A"/>
      </a:accent1>
      <a:accent2>
        <a:srgbClr val="D4D8E4"/>
      </a:accent2>
      <a:accent3>
        <a:srgbClr val="A7B6BD"/>
      </a:accent3>
      <a:accent4>
        <a:srgbClr val="FBBB05"/>
      </a:accent4>
      <a:accent5>
        <a:srgbClr val="4384F4"/>
      </a:accent5>
      <a:accent6>
        <a:srgbClr val="E94235"/>
      </a:accent6>
      <a:hlink>
        <a:srgbClr val="FFFFFF"/>
      </a:hlink>
      <a:folHlink>
        <a:srgbClr val="A7B6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Пользователь</dc:creator>
</cp:coreProperties>
</file>