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  <p:sldMasterId id="2147483670" r:id="rId4"/>
  </p:sldMasterIdLst>
  <p:notesMasterIdLst>
    <p:notesMasterId r:id="rId5"/>
  </p:notesMasterIdLst>
  <p:sldIdLst>
    <p:sldId id="256" r:id="rId6"/>
    <p:sldId id="268" r:id="rId16"/>
    <p:sldId id="269" r:id="rId15"/>
    <p:sldId id="270" r:id="rId14"/>
    <p:sldId id="271" r:id="rId13"/>
    <p:sldId id="272" r:id="rId12"/>
    <p:sldId id="273" r:id="rId11"/>
    <p:sldId id="274" r:id="rId10"/>
    <p:sldId id="275" r:id="rId9"/>
    <p:sldId id="276" r:id="rId8"/>
    <p:sldId id="277" r:id="rId7"/>
    <p:sldId id="278" r:id="rId37"/>
    <p:sldId id="279" r:id="rId38"/>
    <p:sldId id="280" r:id="rId39"/>
    <p:sldId id="281" r:id="rId40"/>
    <p:sldId id="282" r:id="rId41"/>
    <p:sldId id="283" r:id="rId42"/>
    <p:sldId id="267" r:id="rId17"/>
  </p:sldIdLst>
  <p:sldSz cy="5143500" cx="9144000"/>
  <p:notesSz cx="6858000" cy="9144000"/>
  <p:embeddedFontLst>
    <p:embeddedFont>
      <p:font typeface="Golos Text"/>
      <p:regular r:id="rId18"/>
      <p:bold r:id="rId19"/>
    </p:embeddedFont>
    <p:embeddedFont>
      <p:font typeface="IBM Plex Sans"/>
      <p:regular r:id="rId20"/>
      <p:bold r:id="rId21"/>
      <p:italic r:id="rId22"/>
      <p:boldItalic r:id="rId23"/>
    </p:embeddedFont>
    <p:embeddedFont>
      <p:font typeface="Golos Text Medium"/>
      <p:regular r:id="rId24"/>
      <p:bold r:id="rId25"/>
    </p:embeddedFont>
    <p:embeddedFont>
      <p:font typeface="Montserrat"/>
      <p:regular r:id="rId26"/>
      <p:bold r:id="rId27"/>
      <p:italic r:id="rId28"/>
      <p:boldItalic r:id="rId29"/>
    </p:embeddedFont>
    <p:embeddedFont>
      <p:font typeface="JetBrains Mono"/>
      <p:regular r:id="rId30"/>
      <p:bold r:id="rId31"/>
      <p:italic r:id="rId32"/>
      <p:boldItalic r:id="rId33"/>
    </p:embeddedFont>
    <p:embeddedFont>
      <p:font typeface="Golos Text SemiBold"/>
      <p:regular r:id="rId34"/>
      <p:bold r:id="rId3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6" roundtripDataSignature="AMtx7mjiC108pgRb5se202Y13m7UAO+Vj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12.xml"/><Relationship Id="rId8" Type="http://schemas.openxmlformats.org/officeDocument/2006/relationships/slide" Target="slides/slide11.xml"/><Relationship Id="rId9" Type="http://schemas.openxmlformats.org/officeDocument/2006/relationships/slide" Target="slides/slide10.xml"/><Relationship Id="rId10" Type="http://schemas.openxmlformats.org/officeDocument/2006/relationships/slide" Target="slides/slide9.xml"/><Relationship Id="rId11" Type="http://schemas.openxmlformats.org/officeDocument/2006/relationships/slide" Target="slides/slide8.xml"/><Relationship Id="rId12" Type="http://schemas.openxmlformats.org/officeDocument/2006/relationships/slide" Target="slides/slide7.xml"/><Relationship Id="rId13" Type="http://schemas.openxmlformats.org/officeDocument/2006/relationships/slide" Target="slides/slide6.xml"/><Relationship Id="rId14" Type="http://schemas.openxmlformats.org/officeDocument/2006/relationships/slide" Target="slides/slide5.xml"/><Relationship Id="rId15" Type="http://schemas.openxmlformats.org/officeDocument/2006/relationships/slide" Target="slides/slide4.xml"/><Relationship Id="rId16" Type="http://schemas.openxmlformats.org/officeDocument/2006/relationships/slide" Target="slides/slide3.xml"/><Relationship Id="rId17" Type="http://schemas.openxmlformats.org/officeDocument/2006/relationships/slide" Target="slides/slide90.xml"/><Relationship Id="rId18" Type="http://schemas.openxmlformats.org/officeDocument/2006/relationships/font" Target="fonts/GolosText-regular.fntdata"/><Relationship Id="rId19" Type="http://schemas.openxmlformats.org/officeDocument/2006/relationships/font" Target="fonts/GolosText-bold.fntdata"/><Relationship Id="rId20" Type="http://schemas.openxmlformats.org/officeDocument/2006/relationships/font" Target="fonts/IBMPlexSans-regular.fntdata"/><Relationship Id="rId21" Type="http://schemas.openxmlformats.org/officeDocument/2006/relationships/font" Target="fonts/IBMPlexSans-bold.fntdata"/><Relationship Id="rId22" Type="http://schemas.openxmlformats.org/officeDocument/2006/relationships/font" Target="fonts/IBMPlexSans-italic.fntdata"/><Relationship Id="rId23" Type="http://schemas.openxmlformats.org/officeDocument/2006/relationships/font" Target="fonts/IBMPlexSans-boldItalic.fntdata"/><Relationship Id="rId24" Type="http://schemas.openxmlformats.org/officeDocument/2006/relationships/font" Target="fonts/GolosTextMedium-regular.fntdata"/><Relationship Id="rId25" Type="http://schemas.openxmlformats.org/officeDocument/2006/relationships/font" Target="fonts/GolosTextMedium-bold.fntdata"/><Relationship Id="rId26" Type="http://schemas.openxmlformats.org/officeDocument/2006/relationships/font" Target="fonts/Montserrat-regular.fntdata"/><Relationship Id="rId27" Type="http://schemas.openxmlformats.org/officeDocument/2006/relationships/font" Target="fonts/Montserrat-bold.fntdata"/><Relationship Id="rId28" Type="http://schemas.openxmlformats.org/officeDocument/2006/relationships/font" Target="fonts/Montserrat-italic.fntdata"/><Relationship Id="rId29" Type="http://schemas.openxmlformats.org/officeDocument/2006/relationships/font" Target="fonts/Montserrat-boldItalic.fntdata"/><Relationship Id="rId30" Type="http://schemas.openxmlformats.org/officeDocument/2006/relationships/font" Target="fonts/JetBrainsMono-regular.fntdata"/><Relationship Id="rId31" Type="http://schemas.openxmlformats.org/officeDocument/2006/relationships/font" Target="fonts/JetBrainsMono-bold.fntdata"/><Relationship Id="rId32" Type="http://schemas.openxmlformats.org/officeDocument/2006/relationships/font" Target="fonts/JetBrainsMono-italic.fntdata"/><Relationship Id="rId33" Type="http://schemas.openxmlformats.org/officeDocument/2006/relationships/font" Target="fonts/JetBrainsMono-boldItalic.fntdata"/><Relationship Id="rId34" Type="http://schemas.openxmlformats.org/officeDocument/2006/relationships/font" Target="fonts/GolosTextSemiBold-regular.fntdata"/><Relationship Id="rId35" Type="http://schemas.openxmlformats.org/officeDocument/2006/relationships/font" Target="fonts/GolosTextSemiBold-bold.fntdata"/><Relationship Id="rId36" Type="http://customschemas.google.com/relationships/presentationmetadata" Target="metadata"/><Relationship Id="rId37" Type="http://schemas.openxmlformats.org/officeDocument/2006/relationships/slide" Target="slides/slide13.xml"/><Relationship Id="rId38" Type="http://schemas.openxmlformats.org/officeDocument/2006/relationships/slide" Target="slides/slide14.xml"/><Relationship Id="rId39" Type="http://schemas.openxmlformats.org/officeDocument/2006/relationships/slide" Target="slides/slide15.xml"/><Relationship Id="rId40" Type="http://schemas.openxmlformats.org/officeDocument/2006/relationships/slide" Target="slides/slide16.xml"/><Relationship Id="rId41" Type="http://schemas.openxmlformats.org/officeDocument/2006/relationships/slide" Target="slides/slide17.xml"/><Relationship Id="rId42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1bf351e6d1_0_3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31bf351e6d1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34fc5f99509_2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1" name="Google Shape;341;g34fc5f99509_2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ТЕМНО СЕРЫЙ ФОН"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g31b4f510750_5_35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33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g31b4f510750_5_358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grpSp>
        <p:nvGrpSpPr>
          <p:cNvPr id="9" name="Google Shape;9;g31b4f510750_5_358"/>
          <p:cNvGrpSpPr/>
          <p:nvPr/>
        </p:nvGrpSpPr>
        <p:grpSpPr>
          <a:xfrm>
            <a:off x="7487100" y="394845"/>
            <a:ext cx="1191767" cy="179211"/>
            <a:chOff x="7419975" y="4637527"/>
            <a:chExt cx="1105946" cy="166306"/>
          </a:xfrm>
        </p:grpSpPr>
        <p:sp>
          <p:nvSpPr>
            <p:cNvPr id="10" name="Google Shape;10;g31b4f510750_5_358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" name="Google Shape;11;g31b4f510750_5_358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" name="Google Shape;12;g31b4f510750_5_358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g31b4f510750_5_358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" name="Google Shape;14;g31b4f510750_5_358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" name="Google Shape;15;g31b4f510750_5_358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6;g31b4f510750_5_358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" name="Google Shape;17;g31b4f510750_5_358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g31b4f510750_5_358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g31b4f510750_5_358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20;g31b4f510750_5_358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1" name="Google Shape;21;g31b4f510750_5_358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3">
  <p:cSld name="Слайд ТЕМНО СЕРЫЙ ФОН_1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g31d6e50d44b_1_34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33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">
    <p:bg>
      <p:bgPr>
        <a:solidFill>
          <a:schemeClr val="lt1"/>
        </a:solid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oogle Shape;25;g31b4f510750_5_374"/>
          <p:cNvGrpSpPr/>
          <p:nvPr/>
        </p:nvGrpSpPr>
        <p:grpSpPr>
          <a:xfrm>
            <a:off x="7487097" y="394835"/>
            <a:ext cx="1191767" cy="179211"/>
            <a:chOff x="7419975" y="4637527"/>
            <a:chExt cx="1105946" cy="166306"/>
          </a:xfrm>
        </p:grpSpPr>
        <p:sp>
          <p:nvSpPr>
            <p:cNvPr id="26" name="Google Shape;26;g31b4f510750_5_374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" name="Google Shape;27;g31b4f510750_5_374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" name="Google Shape;28;g31b4f510750_5_374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" name="Google Shape;29;g31b4f510750_5_374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" name="Google Shape;30;g31b4f510750_5_374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Google Shape;31;g31b4f510750_5_374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" name="Google Shape;32;g31b4f510750_5_374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3;g31b4f510750_5_374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" name="Google Shape;34;g31b4f510750_5_374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" name="Google Shape;35;g31b4f510750_5_374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6;g31b4f510750_5_374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7" name="Google Shape;37;g31b4f510750_5_374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accent2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accent2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38" name="Google Shape;38;g31b4f510750_5_374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rgbClr val="B7B7B7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БЕЛЫЙ ФОН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31b4f510750_5_357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accent2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accent2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41" name="Google Shape;41;g31b4f510750_5_357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rgbClr val="B7B7B7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">
  <p:cSld name="Слайд ЧЕРНЫЙ ФОН">
    <p:bg>
      <p:bgPr>
        <a:solidFill>
          <a:schemeClr val="lt1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31b4f510750_5_36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g31b4f510750_5_360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grpSp>
        <p:nvGrpSpPr>
          <p:cNvPr id="45" name="Google Shape;45;g31b4f510750_5_360"/>
          <p:cNvGrpSpPr/>
          <p:nvPr/>
        </p:nvGrpSpPr>
        <p:grpSpPr>
          <a:xfrm>
            <a:off x="7487100" y="394845"/>
            <a:ext cx="1191767" cy="179211"/>
            <a:chOff x="7419975" y="4637527"/>
            <a:chExt cx="1105946" cy="166306"/>
          </a:xfrm>
        </p:grpSpPr>
        <p:sp>
          <p:nvSpPr>
            <p:cNvPr id="46" name="Google Shape;46;g31b4f510750_5_360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47;g31b4f510750_5_360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" name="Google Shape;48;g31b4f510750_5_360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Google Shape;49;g31b4f510750_5_360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g31b4f510750_5_360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g31b4f510750_5_360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Google Shape;52;g31b4f510750_5_360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" name="Google Shape;53;g31b4f510750_5_360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" name="Google Shape;54;g31b4f510750_5_360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" name="Google Shape;55;g31b4f510750_5_360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" name="Google Shape;56;g31b4f510750_5_360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7" name="Google Shape;57;g31b4f510750_5_360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1b4f510750_5_3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0" name="Google Shape;60;g31b4f510750_5_36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g31b4f510750_5_3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1">
  <p:cSld name="1_Заголовок и два столбца_белый">
    <p:bg>
      <p:bgPr>
        <a:solidFill>
          <a:schemeClr val="lt1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1b4f510750_5_36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4" name="Google Shape;64;g31b4f510750_5_366"/>
          <p:cNvPicPr preferRelativeResize="0"/>
          <p:nvPr/>
        </p:nvPicPr>
        <p:blipFill rotWithShape="1">
          <a:blip r:embed="rId2">
            <a:alphaModFix amt="5000"/>
          </a:blip>
          <a:srcRect b="-2976" l="0" r="-2459" t="0"/>
          <a:stretch/>
        </p:blipFill>
        <p:spPr>
          <a:xfrm rot="-995823">
            <a:off x="1146996" y="41721"/>
            <a:ext cx="9001550" cy="55892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2">
  <p:cSld name="Заголовок и два столбца_белый">
    <p:bg>
      <p:bgPr>
        <a:solidFill>
          <a:schemeClr val="lt1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1b4f510750_5_36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3">
  <p:cSld name="1_Заголовок и два столбца_белый 2">
    <p:bg>
      <p:bgPr>
        <a:solidFill>
          <a:schemeClr val="lt1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1b4f510750_5_37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9" name="Google Shape;69;g31b4f510750_5_371"/>
          <p:cNvPicPr preferRelativeResize="0"/>
          <p:nvPr/>
        </p:nvPicPr>
        <p:blipFill rotWithShape="1">
          <a:blip r:embed="rId2">
            <a:alphaModFix amt="5000"/>
          </a:blip>
          <a:srcRect b="-2976" l="-1468" r="-1944" t="0"/>
          <a:stretch/>
        </p:blipFill>
        <p:spPr>
          <a:xfrm>
            <a:off x="-1203960" y="0"/>
            <a:ext cx="11207539" cy="54838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bg>
      <p:bgPr>
        <a:solidFill>
          <a:schemeClr val="lt1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1b4f510750_5_37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2" name="Google Shape;72;g31b4f510750_5_375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3" name="Google Shape;73;g31b4f510750_5_375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4" name="Google Shape;74;g31b4f510750_5_375"/>
          <p:cNvSpPr txBox="1"/>
          <p:nvPr/>
        </p:nvSpPr>
        <p:spPr>
          <a:xfrm>
            <a:off x="5095284" y="4751328"/>
            <a:ext cx="3890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rgbClr val="BFBFBF"/>
                </a:solidFill>
                <a:latin typeface="IBM Plex Sans"/>
                <a:ea typeface="IBM Plex Sans"/>
                <a:cs typeface="IBM Plex Sans"/>
                <a:sym typeface="IBM Plex Sans"/>
              </a:rPr>
              <a:t>Строго конфиденциально. Все права принадлежат Sergek Group ©</a:t>
            </a:r>
            <a:endParaRPr b="0" i="0" sz="1400" u="none" cap="none" strike="noStrike">
              <a:solidFill>
                <a:srgbClr val="BFBFB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дин столбец_белый 1">
  <p:cSld name="Один столбец_белый 1">
    <p:bg>
      <p:bgPr>
        <a:solidFill>
          <a:srgbClr val="6C85DB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1b4f510750_5_380"/>
          <p:cNvSpPr txBox="1"/>
          <p:nvPr>
            <p:ph type="title"/>
          </p:nvPr>
        </p:nvSpPr>
        <p:spPr>
          <a:xfrm>
            <a:off x="180000" y="180000"/>
            <a:ext cx="3990600" cy="15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g31b4f510750_5_380"/>
          <p:cNvSpPr txBox="1"/>
          <p:nvPr>
            <p:ph idx="12" type="sldNum"/>
          </p:nvPr>
        </p:nvSpPr>
        <p:spPr>
          <a:xfrm>
            <a:off x="7637975" y="4717050"/>
            <a:ext cx="1436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" name="Google Shape;78;g31b4f510750_5_380"/>
          <p:cNvSpPr txBox="1"/>
          <p:nvPr>
            <p:ph idx="1" type="body"/>
          </p:nvPr>
        </p:nvSpPr>
        <p:spPr>
          <a:xfrm>
            <a:off x="4369500" y="180000"/>
            <a:ext cx="4594500" cy="46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 type="title">
  <p:cSld name="TITLE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1b4f510750_5_38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1" name="Google Shape;81;g31b4f510750_5_38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g31b4f510750_5_38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">
  <p:cSld name="Title and Content_1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1b4f510750_5_388"/>
          <p:cNvSpPr txBox="1"/>
          <p:nvPr>
            <p:ph type="title"/>
          </p:nvPr>
        </p:nvSpPr>
        <p:spPr>
          <a:xfrm>
            <a:off x="327479" y="327457"/>
            <a:ext cx="48651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5" name="Google Shape;85;g31b4f510750_5_388"/>
          <p:cNvSpPr txBox="1"/>
          <p:nvPr/>
        </p:nvSpPr>
        <p:spPr>
          <a:xfrm>
            <a:off x="328333" y="1203800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600" lIns="41600" spcFirstLastPara="1" rIns="41600" wrap="square" tIns="416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9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1">
  <p:cSld name="Title and Content_2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1b4f510750_5_391"/>
          <p:cNvSpPr txBox="1"/>
          <p:nvPr>
            <p:ph type="title"/>
          </p:nvPr>
        </p:nvSpPr>
        <p:spPr>
          <a:xfrm>
            <a:off x="327479" y="327457"/>
            <a:ext cx="48651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g31b4f510750_5_391"/>
          <p:cNvSpPr txBox="1"/>
          <p:nvPr/>
        </p:nvSpPr>
        <p:spPr>
          <a:xfrm>
            <a:off x="328333" y="1203800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600" lIns="41600" spcFirstLastPara="1" rIns="41600" wrap="square" tIns="416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9">
          <p15:clr>
            <a:srgbClr val="E46962"/>
          </p15:clr>
        </p15:guide>
        <p15:guide id="3" orient="horz" pos="759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2">
  <p:cSld name="Заголовок и контент 2">
    <p:bg>
      <p:bgPr>
        <a:solidFill>
          <a:schemeClr val="lt1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1b4f510750_5_394"/>
          <p:cNvSpPr txBox="1"/>
          <p:nvPr>
            <p:ph type="title"/>
          </p:nvPr>
        </p:nvSpPr>
        <p:spPr>
          <a:xfrm>
            <a:off x="327479" y="327456"/>
            <a:ext cx="48651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g31b4f510750_5_394"/>
          <p:cNvSpPr txBox="1"/>
          <p:nvPr/>
        </p:nvSpPr>
        <p:spPr>
          <a:xfrm>
            <a:off x="328332" y="1203801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92" name="Google Shape;92;g31b4f510750_5_394"/>
          <p:cNvSpPr txBox="1"/>
          <p:nvPr>
            <p:ph idx="12" type="sldNum"/>
          </p:nvPr>
        </p:nvSpPr>
        <p:spPr>
          <a:xfrm>
            <a:off x="8556784" y="4749851"/>
            <a:ext cx="5487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8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3">
  <p:cSld name="Заголовок и контент">
    <p:bg>
      <p:bgPr>
        <a:solidFill>
          <a:schemeClr val="lt1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1b4f510750_5_398"/>
          <p:cNvSpPr txBox="1"/>
          <p:nvPr>
            <p:ph type="title"/>
          </p:nvPr>
        </p:nvSpPr>
        <p:spPr>
          <a:xfrm>
            <a:off x="327479" y="327456"/>
            <a:ext cx="4865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5" name="Google Shape;95;g31b4f510750_5_398"/>
          <p:cNvSpPr txBox="1"/>
          <p:nvPr/>
        </p:nvSpPr>
        <p:spPr>
          <a:xfrm>
            <a:off x="328332" y="1203801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96" name="Google Shape;96;g31b4f510750_5_398"/>
          <p:cNvSpPr txBox="1"/>
          <p:nvPr/>
        </p:nvSpPr>
        <p:spPr>
          <a:xfrm>
            <a:off x="5095284" y="4751328"/>
            <a:ext cx="3890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rgbClr val="BFBFBF"/>
                </a:solidFill>
                <a:latin typeface="IBM Plex Sans"/>
                <a:ea typeface="IBM Plex Sans"/>
                <a:cs typeface="IBM Plex Sans"/>
                <a:sym typeface="IBM Plex Sans"/>
              </a:rPr>
              <a:t>Строго конфиденциально. Все права принадлежат Sergek Group ©</a:t>
            </a:r>
            <a:endParaRPr b="0" i="0" sz="1400" u="none" cap="none" strike="noStrike">
              <a:solidFill>
                <a:srgbClr val="BFBFB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8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3 1">
  <p:cSld name="Заголовок и контент 3">
    <p:bg>
      <p:bgPr>
        <a:solidFill>
          <a:schemeClr val="lt1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1b4f510750_5_402"/>
          <p:cNvSpPr txBox="1"/>
          <p:nvPr>
            <p:ph type="title"/>
          </p:nvPr>
        </p:nvSpPr>
        <p:spPr>
          <a:xfrm>
            <a:off x="327479" y="327456"/>
            <a:ext cx="48651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9" name="Google Shape;99;g31b4f510750_5_402"/>
          <p:cNvSpPr txBox="1"/>
          <p:nvPr/>
        </p:nvSpPr>
        <p:spPr>
          <a:xfrm>
            <a:off x="328332" y="1203801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8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дин столбец_графит">
  <p:cSld name="ONE_COLUMN_TEXT_1">
    <p:bg>
      <p:bgPr>
        <a:solidFill>
          <a:srgbClr val="1E1E1E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1b4f510750_5_405"/>
          <p:cNvSpPr txBox="1"/>
          <p:nvPr>
            <p:ph idx="12" type="sldNum"/>
          </p:nvPr>
        </p:nvSpPr>
        <p:spPr>
          <a:xfrm>
            <a:off x="7637975" y="4717050"/>
            <a:ext cx="1436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02" name="Google Shape;102;g31b4f510750_5_405"/>
          <p:cNvSpPr txBox="1"/>
          <p:nvPr>
            <p:ph type="title"/>
          </p:nvPr>
        </p:nvSpPr>
        <p:spPr>
          <a:xfrm>
            <a:off x="180000" y="180000"/>
            <a:ext cx="3990600" cy="1525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3" name="Google Shape;103;g31b4f510750_5_405"/>
          <p:cNvSpPr txBox="1"/>
          <p:nvPr>
            <p:ph idx="1" type="body"/>
          </p:nvPr>
        </p:nvSpPr>
        <p:spPr>
          <a:xfrm>
            <a:off x="180000" y="1883600"/>
            <a:ext cx="4594500" cy="26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4" name="Google Shape;104;g31b4f510750_5_40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80000" y="4682460"/>
            <a:ext cx="713135" cy="328725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g31b4f510750_5_405"/>
          <p:cNvSpPr txBox="1"/>
          <p:nvPr/>
        </p:nvSpPr>
        <p:spPr>
          <a:xfrm>
            <a:off x="5095284" y="4751328"/>
            <a:ext cx="3890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Строго конфиденциально. Все права принадлежат Sergek Group ©</a:t>
            </a:r>
            <a:endParaRPr b="0" i="0" sz="1400" u="none" cap="none" strike="noStrike">
              <a:solidFill>
                <a:schemeClr val="lt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дин столбец_белый">
  <p:cSld name="Один столбец_белый">
    <p:bg>
      <p:bgPr>
        <a:solidFill>
          <a:schemeClr val="lt1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1b4f510750_5_411"/>
          <p:cNvSpPr txBox="1"/>
          <p:nvPr>
            <p:ph type="title"/>
          </p:nvPr>
        </p:nvSpPr>
        <p:spPr>
          <a:xfrm>
            <a:off x="312125" y="180000"/>
            <a:ext cx="4117800" cy="15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bg>
      <p:bgPr>
        <a:solidFill>
          <a:schemeClr val="lt1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1b4f510750_5_413"/>
          <p:cNvSpPr txBox="1"/>
          <p:nvPr>
            <p:ph type="title"/>
          </p:nvPr>
        </p:nvSpPr>
        <p:spPr>
          <a:xfrm>
            <a:off x="630785" y="441132"/>
            <a:ext cx="78825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1" i="0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1b4f510750_2_431"/>
          <p:cNvSpPr txBox="1"/>
          <p:nvPr>
            <p:ph type="title"/>
          </p:nvPr>
        </p:nvSpPr>
        <p:spPr>
          <a:xfrm>
            <a:off x="684682" y="308559"/>
            <a:ext cx="3743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800" u="none" cap="none" strike="noStrike">
                <a:solidFill>
                  <a:srgbClr val="23A8DE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2" name="Google Shape;112;g31b4f510750_2_431"/>
          <p:cNvSpPr txBox="1"/>
          <p:nvPr/>
        </p:nvSpPr>
        <p:spPr>
          <a:xfrm>
            <a:off x="375200" y="4823550"/>
            <a:ext cx="3458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Strictly Confidential. Copyright Reserved to Sergek Projects Ltd ©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g31b4f510750_2_431"/>
          <p:cNvSpPr txBox="1"/>
          <p:nvPr>
            <p:ph idx="12" type="sldNum"/>
          </p:nvPr>
        </p:nvSpPr>
        <p:spPr>
          <a:xfrm>
            <a:off x="8677835" y="4889749"/>
            <a:ext cx="152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БЕЛЫЙ ФОН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ТЕМНО СЕРЫЙ ФОН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1bf351e6d1_0_5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33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">
  <p:cSld name="Слайд ЧЕРНЫЙ ФОН">
    <p:bg>
      <p:bgPr>
        <a:solidFill>
          <a:schemeClr val="lt1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1bf351e6d1_0_6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1bf351e6d1_0_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2" name="Google Shape;122;g31bf351e6d1_0_6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3" name="Google Shape;123;g31bf351e6d1_0_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10000"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1">
  <p:cSld name="1_Заголовок и два столбца_белый">
    <p:bg>
      <p:bgPr>
        <a:solidFill>
          <a:schemeClr val="lt1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1bf351e6d1_0_6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6" name="Google Shape;126;g31bf351e6d1_0_66"/>
          <p:cNvPicPr preferRelativeResize="0"/>
          <p:nvPr/>
        </p:nvPicPr>
        <p:blipFill rotWithShape="1">
          <a:blip r:embed="rId2">
            <a:alphaModFix amt="5000"/>
          </a:blip>
          <a:srcRect b="-2976" l="0" r="-2459" t="0"/>
          <a:stretch/>
        </p:blipFill>
        <p:spPr>
          <a:xfrm rot="-995823">
            <a:off x="1146996" y="41721"/>
            <a:ext cx="9001550" cy="55892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2">
  <p:cSld name="Заголовок и два столбца_белый">
    <p:bg>
      <p:bgPr>
        <a:solidFill>
          <a:schemeClr val="lt1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1bf351e6d1_0_6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3">
  <p:cSld name="1_Заголовок и два столбца_белый 2">
    <p:bg>
      <p:bgPr>
        <a:solidFill>
          <a:schemeClr val="lt1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1bf351e6d1_0_7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1" name="Google Shape;131;g31bf351e6d1_0_71"/>
          <p:cNvPicPr preferRelativeResize="0"/>
          <p:nvPr/>
        </p:nvPicPr>
        <p:blipFill rotWithShape="1">
          <a:blip r:embed="rId2">
            <a:alphaModFix amt="5000"/>
          </a:blip>
          <a:srcRect b="-2976" l="-1468" r="-1944" t="0"/>
          <a:stretch/>
        </p:blipFill>
        <p:spPr>
          <a:xfrm>
            <a:off x="-1203960" y="0"/>
            <a:ext cx="11207539" cy="54838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3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oogle Shape;136;g31bf351e6d1_0_37"/>
          <p:cNvGrpSpPr/>
          <p:nvPr/>
        </p:nvGrpSpPr>
        <p:grpSpPr>
          <a:xfrm>
            <a:off x="486285" y="590175"/>
            <a:ext cx="2398023" cy="360601"/>
            <a:chOff x="7419975" y="4637527"/>
            <a:chExt cx="1105946" cy="166306"/>
          </a:xfrm>
        </p:grpSpPr>
        <p:sp>
          <p:nvSpPr>
            <p:cNvPr id="137" name="Google Shape;137;g31bf351e6d1_0_37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" name="Google Shape;138;g31bf351e6d1_0_37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" name="Google Shape;139;g31bf351e6d1_0_37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g31bf351e6d1_0_37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g31bf351e6d1_0_37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" name="Google Shape;142;g31bf351e6d1_0_37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g31bf351e6d1_0_37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g31bf351e6d1_0_37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g31bf351e6d1_0_37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" name="Google Shape;146;g31bf351e6d1_0_37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" name="Google Shape;147;g31bf351e6d1_0_37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8" name="Google Shape;148;g31bf351e6d1_0_37"/>
          <p:cNvSpPr txBox="1"/>
          <p:nvPr/>
        </p:nvSpPr>
        <p:spPr>
          <a:xfrm>
            <a:off x="373227" y="3420000"/>
            <a:ext cx="300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000" b="0">
                <a:solidFill>
                  <a:srgbClr val="A7B6BD"/>
                </a:solidFill>
                <a:latin typeface="Golos Text"/>
              </a:rPr>
              <a:t>Сентябрь 2026</a:t>
            </a:r>
            <a:endParaRPr b="0" i="0" sz="10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149" name="Google Shape;149;g31bf351e6d1_0_37"/>
          <p:cNvSpPr txBox="1"/>
          <p:nvPr/>
        </p:nvSpPr>
        <p:spPr>
          <a:xfrm>
            <a:off x="373227" y="1320000"/>
            <a:ext cx="41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500" b="0">
                <a:solidFill>
                  <a:srgbClr val="FFFFFF"/>
                </a:solidFill>
                <a:latin typeface="Golos Text SemiBold"/>
              </a:rPr>
              <a:t>Реинжиниринг процессов ДУП</a:t>
            </a:r>
            <a:endParaRPr b="0" i="0" sz="2400" u="none" cap="none" strike="noStrike">
              <a:solidFill>
                <a:schemeClr val="lt1"/>
              </a:solidFill>
              <a:latin typeface="Golos Text Medium"/>
              <a:ea typeface="Golos Text Medium"/>
              <a:cs typeface="Golos Text Medium"/>
              <a:sym typeface="Golos Text Medium"/>
            </a:endParaRPr>
          </a:p>
        </p:txBody>
      </p:sp>
      <p:pic>
        <p:nvPicPr>
          <p:cNvPr id="150" name="Google Shape;150;g31bf351e6d1_0_37"/>
          <p:cNvPicPr preferRelativeResize="0"/>
          <p:nvPr/>
        </p:nvPicPr>
        <p:blipFill rotWithShape="1">
          <a:blip r:embed="rId3">
            <a:alphaModFix/>
          </a:blip>
          <a:srcRect b="0" l="44680" r="6316" t="0"/>
          <a:stretch/>
        </p:blipFill>
        <p:spPr>
          <a:xfrm rot="5400000">
            <a:off x="4094185" y="266040"/>
            <a:ext cx="5143504" cy="4611422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Rectangle 150"/>
          <p:cNvSpPr/>
          <p:nvPr/>
        </p:nvSpPr>
        <p:spPr>
          <a:xfrm>
            <a:off x="433227" y="2440000"/>
            <a:ext cx="620000" cy="30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52" name="TextBox 151"/>
          <p:cNvSpPr txBox="1"/>
          <p:nvPr/>
        </p:nvSpPr>
        <p:spPr>
          <a:xfrm>
            <a:off x="433227" y="2600000"/>
            <a:ext cx="41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28AB6A"/>
                </a:solidFill>
                <a:latin typeface="Golos Text Medium"/>
              </a:rPr>
              <a:t>От предпосылок до очереди работ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33227" y="2990000"/>
            <a:ext cx="410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D4D8E4"/>
                </a:solidFill>
                <a:latin typeface="Golos Text"/>
              </a:rPr>
              <a:t>Департамент управления проектами · ТОО «Көркем Телеком»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Почему мы взялись за этот проект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Три предпосылки, с которых начался проект трансформации процессов ДУП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90000"/>
            <a:ext cx="2663250" cy="215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397125" y="1090000"/>
            <a:ext cx="420000" cy="26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6" name="TextBox 5"/>
          <p:cNvSpPr txBox="1"/>
          <p:nvPr/>
        </p:nvSpPr>
        <p:spPr>
          <a:xfrm>
            <a:off x="557125" y="1330000"/>
            <a:ext cx="2343250" cy="5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13D85"/>
                </a:solidFill>
                <a:latin typeface="Golos Text SemiBold"/>
              </a:rPr>
              <a:t>Портфель вырос, управление —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125" y="1950000"/>
            <a:ext cx="2343250" cy="1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ДУП ведёт доходные проекты компании по ГЧП и госзакупу: фото-видеофиксация, каналы связи, эко-мониторинг. Портфель и филиальная сеть выросли, а управление осталось на устных договорённостях.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0375" y="1090000"/>
            <a:ext cx="2663250" cy="215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9" name="Rectangle 8"/>
          <p:cNvSpPr/>
          <p:nvPr/>
        </p:nvSpPr>
        <p:spPr>
          <a:xfrm>
            <a:off x="3240375" y="1090000"/>
            <a:ext cx="420000" cy="26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0" name="TextBox 9"/>
          <p:cNvSpPr txBox="1"/>
          <p:nvPr/>
        </p:nvSpPr>
        <p:spPr>
          <a:xfrm>
            <a:off x="3400375" y="1330000"/>
            <a:ext cx="2343250" cy="5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13D85"/>
                </a:solidFill>
                <a:latin typeface="Golos Text SemiBold"/>
              </a:rPr>
              <a:t>Методика компании обязательна, но не применяется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0375" y="1950000"/>
            <a:ext cx="2343250" cy="1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В компании действует Методика системы управления бизнес-процессами KT_METHOD v1. Она обязательна для всех работников (п. 4), однако процессы ДУП по ней не описаны, владельцы не закреплены по критериям, метрики не установлены.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3625" y="1090000"/>
            <a:ext cx="2663250" cy="215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3" name="Rectangle 12"/>
          <p:cNvSpPr/>
          <p:nvPr/>
        </p:nvSpPr>
        <p:spPr>
          <a:xfrm>
            <a:off x="6083625" y="1090000"/>
            <a:ext cx="420000" cy="26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6243625" y="1330000"/>
            <a:ext cx="2343250" cy="5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13D85"/>
                </a:solidFill>
                <a:latin typeface="Golos Text SemiBold"/>
              </a:rPr>
              <a:t>Спорить о сроке приходится словами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3625" y="1950000"/>
            <a:ext cx="2343250" cy="1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На старте проекта часть процессов не была закреплена ни за одной должностью, а фактические значения не измерялись. Ни доказать эффект изменения, ни назвать виновника срыва было нечем — только мнения.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125" y="3480000"/>
            <a:ext cx="8349750" cy="64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Golos Text SemiBold"/>
              </a:rPr>
              <a:t>Цель проекта: выстроить управляемую, прозрачную и масштабируемую модель управления проектами — предсказуемый запуск во всех филиалах, единые правила стыка филиала, ДУП и центрального офиса, восстановленное исполнение методологии.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Что уже сделано в проекте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Диагностика завершена: процессная модель описана, владение закреплено, метрики и очередь работ определены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90000"/>
            <a:ext cx="4064875" cy="286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620000" bIns="90000" wrap="square"/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>
                <a:solidFill>
                  <a:srgbClr val="282828"/>
                </a:solidFill>
                <a:latin typeface="Golos Text"/>
              </a:rPr>
              <a:t>Слой А — текущий анализ: интервью, дерево процессов v4, RACI-матрица, кадровая матрица</a:t>
            </a:r>
          </a:p>
          <a:p>
            <a:pPr algn="l">
              <a:lnSpc>
                <a:spcPct val="130000"/>
              </a:lnSpc>
              <a:spcBef>
                <a:spcPts val="1100"/>
              </a:spcBef>
            </a:pPr>
            <a:r>
              <a:rPr sz="950">
                <a:solidFill>
                  <a:srgbClr val="282828"/>
                </a:solidFill>
                <a:latin typeface="Golos Text"/>
              </a:rPr>
              <a:t>Слой B — наследие методологии «Сергек»: 434 документа, реестр Confluence</a:t>
            </a:r>
          </a:p>
          <a:p>
            <a:pPr algn="l">
              <a:lnSpc>
                <a:spcPct val="130000"/>
              </a:lnSpc>
              <a:spcBef>
                <a:spcPts val="1100"/>
              </a:spcBef>
            </a:pPr>
            <a:r>
              <a:rPr sz="950">
                <a:solidFill>
                  <a:srgbClr val="282828"/>
                </a:solidFill>
                <a:latin typeface="Golos Text"/>
              </a:rPr>
              <a:t>Методика системы управления бизнес-процессами KT_METHOD v1 — 52 страницы</a:t>
            </a:r>
          </a:p>
          <a:p>
            <a:pPr algn="l">
              <a:lnSpc>
                <a:spcPct val="130000"/>
              </a:lnSpc>
              <a:spcBef>
                <a:spcPts val="1100"/>
              </a:spcBef>
            </a:pPr>
            <a:r>
              <a:rPr sz="950">
                <a:solidFill>
                  <a:srgbClr val="282828"/>
                </a:solidFill>
                <a:latin typeface="Golos Text"/>
              </a:rPr>
              <a:t>Матрица стыков ДУП со смежными подразделениями центрального офиса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125" y="1270000"/>
            <a:ext cx="374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13D85"/>
                </a:solidFill>
                <a:latin typeface="Golos Text SemiBold"/>
              </a:rPr>
              <a:t>Что проанализировали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82000" y="1090000"/>
            <a:ext cx="4064875" cy="286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7" name="TextBox 6"/>
          <p:cNvSpPr txBox="1"/>
          <p:nvPr/>
        </p:nvSpPr>
        <p:spPr>
          <a:xfrm>
            <a:off x="4842000" y="1270000"/>
            <a:ext cx="374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28AB6A"/>
                </a:solidFill>
                <a:latin typeface="Golos Text SemiBold"/>
              </a:rPr>
              <a:t>Что построено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2000" y="1710000"/>
            <a:ext cx="3744875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Реестр процессной модели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2000" y="1940000"/>
            <a:ext cx="3744875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62 объекта: процессы, подпроцессы и этапы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2000" y="2250000"/>
            <a:ext cx="3744875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Карта ролей ДУП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2000" y="2480000"/>
            <a:ext cx="3744875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роль ДУП и бизнес-владелец у каждого объекта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2000" y="2790000"/>
            <a:ext cx="3744875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Реестр метрик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2000" y="3020000"/>
            <a:ext cx="3744875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423 критерия оценки с формулой и источником данных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2000" y="3330000"/>
            <a:ext cx="3744875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Приоритеты реинжиниринга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2000" y="3560000"/>
            <a:ext cx="3744875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61 объект — балл, место в очереди и обоснование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125" y="4140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A7B6BD"/>
                </a:solidFill>
                <a:latin typeface="Golos Text"/>
              </a:rPr>
              <a:t>Четыре файла собираются из одного источника: правка в карте ролей сама проходит в метрики, приоритеты и эту презентацию — разойтись между собой они не могут.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Система управления процессами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Определение, цель и цикл управления — из Методики KT_METHOD v1, обязательной для всех подразделений компании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10000"/>
            <a:ext cx="8349750" cy="80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Процесс — сквозная последовательность действий, преобразующая входы в результат, ценный для клиента. У процесса ровно один бизнес-владелец, отвечающий за результат целиком.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Система управления процессами нужна, чтобы описывать, измерять и улучшать работу одинаково во всех подразделениях, не спорить о том, кто владелец, и не терять ответственность при передаче процесса между блоками (п. 3 Методики).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7125" y="2050000"/>
            <a:ext cx="834975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E1E1E"/>
                </a:solidFill>
                <a:latin typeface="Golos Text Medium"/>
              </a:rPr>
              <a:t>Цикл управления процессом — пять последовательных этапов (Таблица 20 Методики)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125" y="2390000"/>
            <a:ext cx="1573950" cy="38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1. Проектирование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7125" y="2790000"/>
            <a:ext cx="1573950" cy="9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Схема, паспорт процесса, карта SIPOC, KPI и SLA, назначение владельца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1075" y="2390000"/>
            <a:ext cx="1573950" cy="38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2. Внедрение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1075" y="2790000"/>
            <a:ext cx="1573950" cy="9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Автоматизация шагов, интеграция систем, обучение, ввод в эксплуатацию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85025" y="2390000"/>
            <a:ext cx="1573950" cy="38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3. Анализ и оценка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85025" y="2790000"/>
            <a:ext cx="1573950" cy="9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Сбор фактических значений метрик, контроль SLA, отчётность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78975" y="2390000"/>
            <a:ext cx="1573950" cy="380000"/>
          </a:xfrm>
          <a:prstGeom prst="roundRect">
            <a:avLst>
              <a:gd name="adj" fmla="val 12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4. Улучшение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78975" y="2790000"/>
            <a:ext cx="1573950" cy="9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Поиск узких мест, оценка зрелости, приоритизация улучшений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72925" y="2390000"/>
            <a:ext cx="1573950" cy="38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5. Оптимизация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72925" y="2790000"/>
            <a:ext cx="1573950" cy="9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Устранение узких мест, рост зрелости, тиражирование решений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125" y="3790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A7B6BD"/>
                </a:solidFill>
                <a:latin typeface="Golos Text"/>
              </a:rPr>
              <a:t>Проект ДУП стоит на четвёртом этапе для описанных процессов — мы ищем узкие места и расставляем улучшения по очереди — и возвращается на первый там, где процедуры не существует вовсе.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Как измеряется процесс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Формулы и целевые значения взяты из Глав 9–13 Методики, а не придуманы под задачу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60000"/>
            <a:ext cx="1335960" cy="26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Группа</a:t>
            </a:r>
          </a:p>
        </p:txBody>
      </p:sp>
      <p:sp>
        <p:nvSpPr>
          <p:cNvPr id="5" name="Rectangle 4"/>
          <p:cNvSpPr/>
          <p:nvPr/>
        </p:nvSpPr>
        <p:spPr>
          <a:xfrm>
            <a:off x="1733085" y="1160000"/>
            <a:ext cx="2504925" cy="26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Метрика</a:t>
            </a:r>
          </a:p>
        </p:txBody>
      </p:sp>
      <p:sp>
        <p:nvSpPr>
          <p:cNvPr id="6" name="Rectangle 5"/>
          <p:cNvSpPr/>
          <p:nvPr/>
        </p:nvSpPr>
        <p:spPr>
          <a:xfrm>
            <a:off x="4238010" y="1160000"/>
            <a:ext cx="2838915" cy="26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Формула расчёта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6925" y="1160000"/>
            <a:ext cx="1669950" cy="26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Целевое значение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125" y="1422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Время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3085" y="1422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Cycle Time — время цикла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8010" y="1422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CT = Дата завершения − Дата начала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76925" y="1422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≤ норматив SLA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125" y="1684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Время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33085" y="1684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On-Time % — соблюдение срока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38010" y="1684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OT% = (Выполнено в срок ÷ Всего задач) × 100%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76925" y="1684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95%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1946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Время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33085" y="1946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Wait Time % — доля ожидания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38010" y="1946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WT% = (Время ожидания ÷ Cycle Time) × 100%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76925" y="1946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&lt; 20%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125" y="2208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Качество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33085" y="2208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First Pass Yield — выход с первого раза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38010" y="2208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FPY = (Единицы без доработок ÷ Всего) × 100%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76925" y="2208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90%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125" y="2470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Качество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33085" y="2470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Defect Rate — доля дефектов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8010" y="2470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DR = (Дефекты ÷ Всего единиц) × 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76925" y="2470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&lt; 2%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125" y="2732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Стоимость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33085" y="2732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COPQ — стоимость несоответствий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38010" y="2732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COPQ = Внутренние потери + Внешние потери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76925" y="2732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устойчивое снижение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7125" y="2994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Стоимость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33085" y="2994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Budget Variance — отклонение от бюджета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38010" y="2994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BV = ((Факт − Бюджет) ÷ Бюджет) ×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76925" y="2994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BV ≤ 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7125" y="3256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Загрузка и автоматизация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33085" y="3256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Bottleneck Index — индекс узкого места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38010" y="3256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BNI = Загрузка узкого места ÷ Средняя загрузка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76925" y="3256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≤ 1,15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125" y="3518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Загрузка и автоматизация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33085" y="3518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SLA Compliance % — соблюдение SLA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38010" y="3518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SLA% = (Выполнено в SLA ÷ Всего задач) × 100%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76925" y="3518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95%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7125" y="3780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Загрузка и автоматизация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33085" y="3780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Уровень автоматизации (Automation Rate)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38010" y="3780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УА = Кша ÷ Кшо × 100%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076925" y="3780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70%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7125" y="4262000"/>
            <a:ext cx="834975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В справочнике Методики 26 метрик; по объектам реестра из них разложено 423 критерия оценки.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Набор метрик зависит от роли ДУП: владелец отвечает за объект целиком, участник — за свой шаг, клиент — за требования к входу и приёмку.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Как считается приоритет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Пять критериев, шкала от 1 до 5 и вес критерия — одинаково для всех объектов реестра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90000"/>
            <a:ext cx="2504925" cy="35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Критерий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2050" y="1190000"/>
            <a:ext cx="834975" cy="35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Вес</a:t>
            </a:r>
          </a:p>
        </p:txBody>
      </p:sp>
      <p:sp>
        <p:nvSpPr>
          <p:cNvPr id="6" name="Rectangle 5"/>
          <p:cNvSpPr/>
          <p:nvPr/>
        </p:nvSpPr>
        <p:spPr>
          <a:xfrm>
            <a:off x="3737025" y="1190000"/>
            <a:ext cx="5009850" cy="35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На какой вопрос отвечает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546000"/>
            <a:ext cx="250492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Влияние на результат</a:t>
            </a:r>
          </a:p>
        </p:txBody>
      </p:sp>
      <p:sp>
        <p:nvSpPr>
          <p:cNvPr id="8" name="Rectangle 7"/>
          <p:cNvSpPr/>
          <p:nvPr/>
        </p:nvSpPr>
        <p:spPr>
          <a:xfrm>
            <a:off x="2902050" y="1546000"/>
            <a:ext cx="83497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3737025" y="1546000"/>
            <a:ext cx="5009850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Насколько объект определяет срок запуска и доходность проекта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125" y="1902000"/>
            <a:ext cx="2504925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Экономия времени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02050" y="1902000"/>
            <a:ext cx="834975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20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37025" y="1902000"/>
            <a:ext cx="5009850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Сколько времени цикла высвобождается после вмешательства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125" y="2258000"/>
            <a:ext cx="250492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Экономия денег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02050" y="2258000"/>
            <a:ext cx="83497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20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7025" y="2258000"/>
            <a:ext cx="5009850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Какой прямой денежный эффект даёт вмешательство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2614000"/>
            <a:ext cx="2504925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Риск бездействия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02050" y="2614000"/>
            <a:ext cx="834975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37025" y="2614000"/>
            <a:ext cx="5009850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Что произойдёт, если объект не трогать в этом году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2970000"/>
            <a:ext cx="250492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Лёгкость реализации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02050" y="2970000"/>
            <a:ext cx="83497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37025" y="2970000"/>
            <a:ext cx="5009850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Сколько усилий и согласий требует вмешательство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7125" y="3526000"/>
            <a:ext cx="8349750" cy="46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Golos Text SemiBold"/>
              </a:rPr>
              <a:t>Балл объекта = сумма (оценка от 1 до 5 × вес критерия) ÷ 500 × 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125" y="4066000"/>
            <a:ext cx="834975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Вес отражает управленческий приоритет: то, что даёт результат, стоит дороже того, что даёт удобство.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В файле приоритетов расписаны все пять ступеней каждой шкалы — оценка 2 или 4 не ставится на глаз и защищается на комитете.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Почему очередь не совпадает с рейтингом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Пять правил очерёдности, каждое опирается на пункт Методики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13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125" y="112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Владение раньше метрик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38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Спрашивать за результат можно только с той должности, которая есть — п.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70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7125" y="179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125" y="178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Базовая линия раньше улучшений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125" y="204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Без замера «до» эффект будет предметом спора, а не расчёта — п. 176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125" y="23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7125" y="245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125" y="244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Узкое место раньше соседних шагов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125" y="270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Пока шаг-ограничитель на месте, остальные ускорения не дают срока — п. 140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30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31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125" y="310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Своё раньше общего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125" y="336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Требовать норматив у смежника убедительнее, когда исполняешь свой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368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7125" y="377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125" y="376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Автоматизация после регламента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125" y="402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Автоматизировать неисполняемый процесс — закрепить беспорядок в коде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Где мы сейчас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Состояние зафиксировано по каждому из объектов реестра — это диагноз системы, а не оценка людей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7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7125" y="106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объектов из 62 описаны, но не исполняются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7125" y="131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Проект стартует по договорённости, а не по правилу: срок зависит от того, кто вспомнил о шаге и до кого дошли руки.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61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7125" y="169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7125" y="168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процедуры не существует вовсе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7125" y="193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Готовность продукта, передача в сопровождение и открытие филиала решаются каждый раз заново и доходят до директора.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125" y="223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7125" y="231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7125" y="230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критериев из 423 измеряется сегодня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7125" y="255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Ни срок, ни стоимость, ни качество подтвердить нечем: спор о результате выигрывает тот, кто увереннее.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285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293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7125" y="292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из 5 — уровень зрелости каждого сквозного процесса ДУП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7125" y="317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По Методике это «Начальный»: результат держится на конкретном человеке, а не на системе. Целевой уровень — 3.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347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7125" y="355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7125" y="354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портфеля проверено аудитом по чек-листам с 2020 года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7125" y="379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Чек-листы написаны и лежат в методологии. Ошибка в проектных данных всплывает не на аудите, а на приёмке у госпартнёра.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125" y="4200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A7B6BD"/>
                </a:solidFill>
                <a:latin typeface="Golos Text"/>
              </a:rPr>
              <a:t>Важная оговорка: двенадцать из пятнадцати узких мест уже описаны в методологии компании. Проблема не в том, что никто не придумал правил, а в том, что правила перестали исполняться.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Что предлагаем и что получим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Целевое состояние: процессы описаны, измеряются и улучшаются по циклу Методики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7125" y="1050000"/>
            <a:ext cx="318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013D85"/>
                </a:solidFill>
                <a:latin typeface="Golos Text SemiBold"/>
              </a:rPr>
              <a:t>Что предлагаем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7125" y="14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400000"/>
            <a:ext cx="264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Восстановить исполнение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125" y="1660000"/>
            <a:ext cx="2640000" cy="3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444746"/>
                </a:solidFill>
                <a:latin typeface="Golos Text"/>
              </a:rPr>
              <a:t>Там, где процедура уже описана в методологии, — вернуть её в работу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7125" y="21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125" y="2100000"/>
            <a:ext cx="264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Закрыть подлинные пробелы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125" y="2360000"/>
            <a:ext cx="2640000" cy="3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444746"/>
                </a:solidFill>
                <a:latin typeface="Golos Text"/>
              </a:rPr>
              <a:t>Спроектировать с нуля три процедуры, которых нет ни в одном документе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125" y="28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125" y="2800000"/>
            <a:ext cx="264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Закрепить организацию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125" y="3060000"/>
            <a:ext cx="2640000" cy="3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444746"/>
                </a:solidFill>
                <a:latin typeface="Golos Text"/>
              </a:rPr>
              <a:t>Разделение заместителей, полномочия процессного офиса, RACI v2 и паспорта процессов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125" y="35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7125" y="3500000"/>
            <a:ext cx="264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Оцифровать управляемое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125" y="3760000"/>
            <a:ext cx="2640000" cy="3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444746"/>
                </a:solidFill>
                <a:latin typeface="Golos Text"/>
              </a:rPr>
              <a:t>Единая карточка проекта, автопрогноз и интеграции — после того, как процесс исполняется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57125" y="1050000"/>
            <a:ext cx="488975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28AB6A"/>
                </a:solidFill>
                <a:latin typeface="Golos Text SemiBold"/>
              </a:rPr>
              <a:t>Что получим за 12 месяцев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57125" y="1410000"/>
            <a:ext cx="2542670" cy="34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Показатель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99795" y="1410000"/>
            <a:ext cx="1173540" cy="34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Сегодня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73335" y="1410000"/>
            <a:ext cx="1173540" cy="34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Цель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57125" y="1750000"/>
            <a:ext cx="2542670" cy="34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Полный пакет документов на старте проекта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99795" y="1750000"/>
            <a:ext cx="1173540" cy="34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не измеряется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73335" y="1750000"/>
            <a:ext cx="1173540" cy="34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90% проектов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57125" y="2090000"/>
            <a:ext cx="2542670" cy="34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Срок старта проекта после передачи от ДРБ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99795" y="2090000"/>
            <a:ext cx="1173540" cy="34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не измеряется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73335" y="2090000"/>
            <a:ext cx="1173540" cy="34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−30% к базовой линии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57125" y="2430000"/>
            <a:ext cx="2542670" cy="34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Заявки на оплату, поданные в срок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99795" y="2430000"/>
            <a:ext cx="1173540" cy="34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по обстоятельствам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73335" y="2430000"/>
            <a:ext cx="1173540" cy="34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85%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57125" y="2770000"/>
            <a:ext cx="2542670" cy="34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Покрытие портфеля аудитом по чек-листам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99795" y="2770000"/>
            <a:ext cx="1173540" cy="34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0% с 2020 года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73335" y="2770000"/>
            <a:ext cx="1173540" cy="34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100% портфеля за год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57125" y="3110000"/>
            <a:ext cx="2542670" cy="34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Регулярность прогноза поступлений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99795" y="3110000"/>
            <a:ext cx="1173540" cy="34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чаты и разовые запросы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73335" y="3110000"/>
            <a:ext cx="1173540" cy="34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100% по календарю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57125" y="3450000"/>
            <a:ext cx="2542670" cy="34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Доля данных в единой системе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99795" y="3450000"/>
            <a:ext cx="1173540" cy="34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фрагментировано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73335" y="3450000"/>
            <a:ext cx="1173540" cy="34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80%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7125" y="4350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A7B6BD"/>
                </a:solidFill>
                <a:latin typeface="Golos Text"/>
              </a:rPr>
              <a:t>Уровень зрелости процессов поднимается с 1 до 3 из 5: паспорт процесса, измеряемые метрики и регулярный цикл улучшений.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Очередь реинжиниринга построена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97125" y="920000"/>
            <a:ext cx="8349750" cy="70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Первыми берём не самые выгодные процессы, а те, что разблокируют остальные.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Владелец закреплён у каждого объекта. Пока решение не доведено до приказа и не снят замер «до», выгоду от оптимизации нечем доказать.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5" name="TextBox 4"/>
          <p:cNvSpPr txBox="1"/>
          <p:nvPr/>
        </p:nvSpPr>
        <p:spPr>
          <a:xfrm>
            <a:off x="557125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28AB6A"/>
                </a:solidFill>
                <a:latin typeface="Golos Text SemiBold"/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125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объекта реестра оценены и поставлены в очередь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4562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8" name="TextBox 7"/>
          <p:cNvSpPr txBox="1"/>
          <p:nvPr/>
        </p:nvSpPr>
        <p:spPr>
          <a:xfrm>
            <a:off x="2684562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E94235"/>
                </a:solidFill>
                <a:latin typeface="Golos Text SemiBold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84562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решений о владении ждут документа — они держат очередь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51999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1" name="TextBox 10"/>
          <p:cNvSpPr txBox="1"/>
          <p:nvPr/>
        </p:nvSpPr>
        <p:spPr>
          <a:xfrm>
            <a:off x="4811999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28AB6A"/>
                </a:solidFill>
                <a:latin typeface="Golos Text SemiBold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1999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быстрых побед: высокая ценность, лёгкая реализация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79436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6939436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013D85"/>
                </a:solidFill>
                <a:latin typeface="Golos Text SemiBold"/>
              </a:rP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9436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первых шагов — без бюджета и ИТ-разработки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37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7125" y="3840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Источник: реестр из 62 процессов, подпроцессов и этапов; оценка по 5 критериям на основании Методики KT_METHOD v1.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Четыре волны работ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Волна задаёт зависимости, балл — порядок внутри волны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70000"/>
            <a:ext cx="1982437" cy="420000"/>
          </a:xfrm>
          <a:prstGeom prst="roundRect">
            <a:avLst>
              <a:gd name="adj" fmla="val 1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Волна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7125" y="1510000"/>
            <a:ext cx="1982437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13D85"/>
                </a:solidFill>
                <a:latin typeface="Golos Text SemiBold"/>
              </a:rPr>
              <a:t>Закрепление владения и базовая линия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Довести решения о владении до приказа и снять базовую линию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125" y="2750000"/>
            <a:ext cx="1982437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7 объектов  ·  Фазы 0–1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19562" y="1070000"/>
            <a:ext cx="1982437" cy="420000"/>
          </a:xfrm>
          <a:prstGeom prst="roundRect">
            <a:avLst>
              <a:gd name="adj" fmla="val 1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Волна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9562" y="1510000"/>
            <a:ext cx="1982437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28AB6A"/>
                </a:solidFill>
                <a:latin typeface="Golos Text SemiBold"/>
              </a:rPr>
              <a:t>Быстрые победы внутри ДУП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Восстановить исполнение там, где ДУП решает в одиночку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9562" y="2750000"/>
            <a:ext cx="1982437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20 объектов  ·  Фаза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41999" y="1070000"/>
            <a:ext cx="1982437" cy="420000"/>
          </a:xfrm>
          <a:prstGeom prst="roundRect">
            <a:avLst>
              <a:gd name="adj" fmla="val 10000"/>
            </a:avLst>
          </a:prstGeom>
          <a:solidFill>
            <a:srgbClr val="FBBB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Волна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41999" y="1510000"/>
            <a:ext cx="1982437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A87300"/>
                </a:solidFill>
                <a:latin typeface="Golos Text SemiBold"/>
              </a:rPr>
              <a:t>Стыки с ЦО и закрытие пробелов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Договориться о стыках и спроектировать то, чего нет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41999" y="2750000"/>
            <a:ext cx="1982437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23 объекта  ·  Фаза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4436" y="1070000"/>
            <a:ext cx="1982437" cy="420000"/>
          </a:xfrm>
          <a:prstGeom prst="roundRect">
            <a:avLst>
              <a:gd name="adj" fmla="val 10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Волна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4436" y="1510000"/>
            <a:ext cx="1982437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4384F4"/>
                </a:solidFill>
                <a:latin typeface="Golos Text SemiBold"/>
              </a:rPr>
              <a:t>Масштаб, экономика и автоматизация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Пересмотреть экономику и закрепить результат в системах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4436" y="2750000"/>
            <a:ext cx="1982437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8 объектов  ·  Фаза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125" y="3190000"/>
            <a:ext cx="834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Отдельно: 3 объекта вне очереди — исполняются другим подразделением целиком, срок контролируется через SLA по родительскому объекту.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7125" y="349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7125" y="3520000"/>
            <a:ext cx="834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Medium"/>
              </a:rPr>
              <a:t>Из чего состоит волна 1: 7 объектов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7125" y="3810000"/>
            <a:ext cx="2689916" cy="81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80000" bIns="80000" wrap="square"/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E94235"/>
                </a:solidFill>
                <a:latin typeface="Golos Text SemiBold"/>
              </a:rPr>
              <a:t>4</a:t>
            </a:r>
            <a:r>
              <a:rPr sz="1000">
                <a:solidFill>
                  <a:srgbClr val="E94235"/>
                </a:solidFill>
                <a:latin typeface="Golos Text SemiBold"/>
              </a:rPr>
              <a:t>   доводим владение до приказа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Чек-лист передачи между блоками 1 и 2, разделение заместителей, полномочия ПМО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27041" y="3810000"/>
            <a:ext cx="2689916" cy="81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80000" bIns="80000" wrap="square"/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013D85"/>
                </a:solidFill>
                <a:latin typeface="Golos Text SemiBold"/>
              </a:rPr>
              <a:t>2</a:t>
            </a:r>
            <a:r>
              <a:rPr sz="1000">
                <a:solidFill>
                  <a:srgbClr val="013D85"/>
                </a:solidFill>
                <a:latin typeface="Golos Text SemiBold"/>
              </a:rPr>
              <a:t>   снимаем базовую линию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Пилотный аудит одного филиала и регулярный контроль качества данных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56957" y="3810000"/>
            <a:ext cx="2689916" cy="81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80000" bIns="80000" wrap="square"/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013D85"/>
                </a:solidFill>
                <a:latin typeface="Golos Text SemiBold"/>
              </a:rPr>
              <a:t>1</a:t>
            </a:r>
            <a:r>
              <a:rPr sz="1000">
                <a:solidFill>
                  <a:srgbClr val="013D85"/>
                </a:solidFill>
                <a:latin typeface="Golos Text SemiBold"/>
              </a:rPr>
              <a:t>   нормируем срок стыка с ЦО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Решения волны вступают в силу в день приказа HR — нужен норматив срока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Ценность и лёгкость реализации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Ценность — четыре критерия без учёта лёгкости; граница высокой ценности — 60 из 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77125" y="1090000"/>
            <a:ext cx="355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 Medium"/>
              </a:rPr>
              <a:t>Реализация лёгкая (4–5 из 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92000" y="1090000"/>
            <a:ext cx="355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 Medium"/>
              </a:rPr>
              <a:t>Реализация тяжёлая (1–3 из 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125" y="1410000"/>
            <a:ext cx="940000" cy="1330000"/>
          </a:xfrm>
          <a:prstGeom prst="roundRect">
            <a:avLst>
              <a:gd name="adj" fmla="val 1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0000" rIns="40000" tIns="90000" bIns="90000" wrap="square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Ценность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высокая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77125" y="141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28AB6A"/>
                </a:solidFill>
                <a:latin typeface="Golos Text SemiBold"/>
              </a:rPr>
              <a:t>10</a:t>
            </a:r>
            <a:r>
              <a:rPr sz="1150">
                <a:solidFill>
                  <a:srgbClr val="28AB6A"/>
                </a:solidFill>
                <a:latin typeface="Golos Text SemiBold"/>
              </a:rPr>
              <a:t>   Быстрые победы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Берём первыми: результат виден до того, как закончатся переговоры со смежниками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92000" y="141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013D85"/>
                </a:solidFill>
                <a:latin typeface="Golos Text SemiBold"/>
              </a:rPr>
              <a:t>21</a:t>
            </a:r>
            <a:r>
              <a:rPr sz="1150">
                <a:solidFill>
                  <a:srgbClr val="013D85"/>
                </a:solidFill>
                <a:latin typeface="Golos Text SemiBold"/>
              </a:rPr>
              <a:t>   Крупные проекты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Планируем как проект с ресурсом и сроком: SLA со смежниками, новые регламенты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125" y="2900000"/>
            <a:ext cx="940000" cy="1330000"/>
          </a:xfrm>
          <a:prstGeom prst="roundRect">
            <a:avLst>
              <a:gd name="adj" fmla="val 1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0000" rIns="40000" tIns="90000" bIns="90000" wrap="square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Ценность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умеренная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77125" y="290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4384F4"/>
                </a:solidFill>
                <a:latin typeface="Golos Text SemiBold"/>
              </a:rPr>
              <a:t>15</a:t>
            </a:r>
            <a:r>
              <a:rPr sz="1150">
                <a:solidFill>
                  <a:srgbClr val="4384F4"/>
                </a:solidFill>
                <a:latin typeface="Golos Text SemiBold"/>
              </a:rPr>
              <a:t>   Заполнители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Делаем попутно, когда освобождается ресурс; в отдельную инициативу не выносим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92000" y="290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444746"/>
                </a:solidFill>
                <a:latin typeface="Golos Text SemiBold"/>
              </a:rPr>
              <a:t>15</a:t>
            </a:r>
            <a:r>
              <a:rPr sz="1150">
                <a:solidFill>
                  <a:srgbClr val="444746"/>
                </a:solidFill>
                <a:latin typeface="Golos Text SemiBold"/>
              </a:rPr>
              <a:t>   Отложить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В работу не берём, пока не изменятся исходные данные или не появится бюджет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Начало очереди: первые десять объектов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Волна 1 целиком — закрепление владения и базовая линия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10000"/>
            <a:ext cx="500985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898110" y="1110000"/>
            <a:ext cx="834975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Код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733085" y="1110000"/>
            <a:ext cx="4007880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Объект реестра</a:t>
            </a:r>
          </a:p>
        </p:txBody>
      </p:sp>
      <p:sp>
        <p:nvSpPr>
          <p:cNvPr id="7" name="Rectangle 6"/>
          <p:cNvSpPr/>
          <p:nvPr/>
        </p:nvSpPr>
        <p:spPr>
          <a:xfrm>
            <a:off x="5740965" y="1110000"/>
            <a:ext cx="667980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8945" y="1110000"/>
            <a:ext cx="2337930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125" y="1392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8110" y="1392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2.0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33085" y="1392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Передача проекта «реализация → сопровождение»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40965" y="1392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8945" y="1392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Проектирование TO-BE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125" y="1674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8110" y="1674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3085" y="1674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Реализация проекта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40965" y="1674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8945" y="1674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Закрепление владения приказом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1956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8110" y="1956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33085" y="1956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Постпроектное сопровождение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40965" y="1956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8945" y="1956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Закрепление владения приказом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125" y="2238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110" y="2238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33085" y="2238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Методология и контроль качества (ПМО)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40965" y="2238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8945" y="2238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Закрепление владения приказом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125" y="2520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8110" y="2520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4.2.1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33085" y="2520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Аудит проектной документации по чек-листам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40965" y="2520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57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8945" y="2520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Базовая линия и замер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7125" y="2802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8110" y="2802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Б.9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33085" y="2802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Оформление штата и кадровых приказов по проекту и…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40965" y="2802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55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8945" y="2802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SLA на стык с ЦО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97125" y="3084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8110" y="3084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4.2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33085" y="3084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Контроль качества и полноты проектных данных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40965" y="3084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54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8945" y="3084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Базовая линия и замер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7125" y="3366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8110" y="3366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733085" y="3366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Приём и валидация пакета документов от ДРБ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40965" y="3366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8945" y="3366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7125" y="3648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9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8110" y="3648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1.1.2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733085" y="3648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Проверка полноты пакета (договор, ФЭМ, ТЗ, адресная…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40965" y="3648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8945" y="3648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97125" y="3930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8110" y="3930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733085" y="3930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Формирование реестра платежей и приоритизация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740965" y="3930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8945" y="3930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Самые ценные объекты идут не первыми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И это осознанное решение, а не недосмотр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10000"/>
            <a:ext cx="66798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5105" y="1110000"/>
            <a:ext cx="83497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Код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900080" y="1110000"/>
            <a:ext cx="400788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Объект реестра</a:t>
            </a:r>
          </a:p>
        </p:txBody>
      </p:sp>
      <p:sp>
        <p:nvSpPr>
          <p:cNvPr id="7" name="Rectangle 6"/>
          <p:cNvSpPr/>
          <p:nvPr/>
        </p:nvSpPr>
        <p:spPr>
          <a:xfrm>
            <a:off x="5907960" y="1110000"/>
            <a:ext cx="283891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Когда берём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125" y="1410000"/>
            <a:ext cx="6679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5105" y="1410000"/>
            <a:ext cx="83497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00080" y="1410000"/>
            <a:ext cx="40078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Приём и валидация пакета документов от ДРБ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07960" y="1410000"/>
            <a:ext cx="283891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2. Быстрые победы внутри ДУП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125" y="1710000"/>
            <a:ext cx="6679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5105" y="1710000"/>
            <a:ext cx="83497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1.9.2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00080" y="1710000"/>
            <a:ext cx="40078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Приоритизация реестра (ВУ / КИЗ / КОЗ)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07960" y="1710000"/>
            <a:ext cx="283891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2. Быстрые победы внутри ДУП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2010000"/>
            <a:ext cx="6679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5105" y="2010000"/>
            <a:ext cx="83497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1.1.2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0080" y="2010000"/>
            <a:ext cx="40078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Проверка полноты пакета (договор, ФЭМ, ТЗ…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07960" y="2010000"/>
            <a:ext cx="283891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2. Быстрые победы внутри ДУП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125" y="2310000"/>
            <a:ext cx="6679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65105" y="2310000"/>
            <a:ext cx="83497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00080" y="2310000"/>
            <a:ext cx="40078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Инициация и контроль закупок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07960" y="2310000"/>
            <a:ext cx="283891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3. Стыки с ЦО и закрытие пробелов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125" y="2610000"/>
            <a:ext cx="6679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5105" y="2610000"/>
            <a:ext cx="83497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Б.4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00080" y="2610000"/>
            <a:ext cx="40078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Закупки выше упрощённого порога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07960" y="2610000"/>
            <a:ext cx="283891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3. Стыки с ЦО и закрытие пробелов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125" y="2910000"/>
            <a:ext cx="6679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5105" y="2910000"/>
            <a:ext cx="83497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00080" y="2910000"/>
            <a:ext cx="40078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Подтверждение готовности продукта (пилот)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07960" y="2910000"/>
            <a:ext cx="283891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3. Стыки с ЦО и закрытие пробелов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7125" y="3510000"/>
            <a:ext cx="8349750" cy="620000"/>
          </a:xfrm>
          <a:prstGeom prst="roundRect">
            <a:avLst>
              <a:gd name="adj" fmla="val 12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Это вход проекта: приём пакета от ДРБ, приоритизация платежей, закупки и готовность продукта.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Они ждут волн 2 и 3: сначала приказы и замер, иначе эффект будет не доказан, а объявлен.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Программа старта: пять первых действий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Шаги 1–5 доводят владение до приказа и снимают базовую линию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9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125" y="108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Пилотный аудит одного филиала по трём чек-листам методологии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34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Отчёт аудита и зафиксированная базовая линия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46875" y="108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Главный менеджер проектов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46875" y="143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Фаза 0  ·  4.2.1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125" y="16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97125" y="17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7125" y="170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Чек-лист передачи «реализация → сопровождение»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125" y="196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Чек-лист передачи и обязательная дата handover в карточке проекта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6875" y="170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Зам. по строительству и реализации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6875" y="205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Фаза 1  ·  2.0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224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233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125" y="232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Приказ о разделении заместителей и матрица RACI 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125" y="258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Приказ, целевая оргсхема и RACI v2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6875" y="232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Директор ДУП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6875" y="267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Фаза 1  ·  1, 2, 2.0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7125" y="28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97125" y="295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125" y="294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Приказ о полномочиях процессного офиса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125" y="320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Приказ о полномочиях ПМО и должностная инструкция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6875" y="294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Директор ДУП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6875" y="329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Фаза 1  ·  4, 4.1, 4.2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7125" y="348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97125" y="357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125" y="356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Норматив срока оформления кадровых приказов с HR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7125" y="382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Соглашение с HR о сроке оформления приказов по филиалу и проекту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6875" y="356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Директор ДУП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6875" y="391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Фаза 1  ·  Б.9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125" y="4230000"/>
            <a:ext cx="834975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Шаги 6–11 — восстановление исполнения внутри ДУП: матрица кураторов, приёмка пакета от ДРБ, платежи, статус-встречи, прогноз, переносы оборудования.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Что требуется от руководства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Решения, без которых очередь не двигается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7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125" y="106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Приказ о разделении заместителей и матрица RACI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32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Приказ, целевая оргсхема и RACI v2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54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7125" y="163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125" y="162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Приказ о полномочиях процессного офиса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125" y="188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Приказ о полномочиях ПМО и должностная инструкция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125" y="210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7125" y="219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125" y="218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Норматив срока оформления кадровых приказов с HR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125" y="244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Соглашение с HR о сроке оформления приказов по филиалу и проекту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26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275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125" y="274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Утверждение матрицы «филиал → куратор»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125" y="300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Утверждённая приказом матрица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32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7125" y="33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125" y="330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Чек-лист минимального пакета от ДРБ и письмо о сроке передачи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125" y="356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Чек-лист приёмки и письмо в ДРБ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125" y="3910000"/>
            <a:ext cx="8349750" cy="42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Golos Text SemiBold"/>
              </a:rPr>
              <a:t>Ни одно из решений не требует бюджета, ИТ-разработки и согласия смежных блоков.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Участники проекта и дорожная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Кто принимает решения, кто исполняет и в каком порядке идут фазы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10000"/>
            <a:ext cx="1581950" cy="340000"/>
          </a:xfrm>
          <a:prstGeom prst="roundRect">
            <a:avLst>
              <a:gd name="adj" fmla="val 12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Фаза 0 · месяц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7125" y="1370000"/>
            <a:ext cx="1581950" cy="8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28AB6A"/>
                </a:solidFill>
                <a:latin typeface="Golos Text SemiBold"/>
              </a:rPr>
              <a:t>Диагностика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Пилотный аудит филиала и базовая линия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89075" y="1010000"/>
            <a:ext cx="1581950" cy="340000"/>
          </a:xfrm>
          <a:prstGeom prst="roundRect">
            <a:avLst>
              <a:gd name="adj" fmla="val 12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Фаза 1 · месяцы 2–3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89075" y="1370000"/>
            <a:ext cx="1581950" cy="8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28AB6A"/>
                </a:solidFill>
                <a:latin typeface="Golos Text SemiBold"/>
              </a:rPr>
              <a:t>Фундамент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Приказы о владении, RACI v2, целевая оргсхема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81025" y="1010000"/>
            <a:ext cx="1581950" cy="34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Фаза 2 · месяцы 3–6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81025" y="1370000"/>
            <a:ext cx="1581950" cy="8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384F4"/>
                </a:solidFill>
                <a:latin typeface="Golos Text SemiBold"/>
              </a:rPr>
              <a:t>Исполнение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Двенадцать процедур возвращены в работу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72975" y="1010000"/>
            <a:ext cx="1581950" cy="34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Фаза 3 · месяцы 5–8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72975" y="1370000"/>
            <a:ext cx="1581950" cy="8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384F4"/>
                </a:solidFill>
                <a:latin typeface="Golos Text SemiBold"/>
              </a:rPr>
              <a:t>Проектирование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Три новых регламента и разделение замов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64925" y="1010000"/>
            <a:ext cx="1581950" cy="34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Фаза 4 · месяцы 7–12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64925" y="1370000"/>
            <a:ext cx="1581950" cy="8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384F4"/>
                </a:solidFill>
                <a:latin typeface="Golos Text SemiBold"/>
              </a:rPr>
              <a:t>Цифра и устойчивость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Единая карточка проекта, ВНД v2, KPI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125" y="23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7125" y="2470000"/>
            <a:ext cx="1836945" cy="28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Роль в проекте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34070" y="2470000"/>
            <a:ext cx="2504925" cy="28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Кто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38995" y="2470000"/>
            <a:ext cx="4007880" cy="28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За что отвечает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7125" y="2756000"/>
            <a:ext cx="183694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Заказчик и спонсор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34070" y="2756000"/>
            <a:ext cx="250492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Директор ДУП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8995" y="2756000"/>
            <a:ext cx="4007880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Приоритеты, приказы о владении и полномочиях, эскалации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7125" y="3042000"/>
            <a:ext cx="1836945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Руководитель проекта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34070" y="3042000"/>
            <a:ext cx="2504925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Назначается из ДУП / ГМП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38995" y="3042000"/>
            <a:ext cx="4007880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Дорожная карта, риски, еженедельный статус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125" y="3328000"/>
            <a:ext cx="183694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Владельцы процессов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34070" y="3328000"/>
            <a:ext cx="250492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Зам. по реализации, зам. по сопровождению, ГМП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38995" y="3328000"/>
            <a:ext cx="4007880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Результат своих блоков, паспорта процессов, целевые значения метрик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7125" y="3614000"/>
            <a:ext cx="1836945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Процессный офис (ПМО)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4070" y="3614000"/>
            <a:ext cx="2504925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Главный менеджер проектов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38995" y="3614000"/>
            <a:ext cx="4007880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Методология, аудит качества данных, реестр процессов и метрик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7125" y="3900000"/>
            <a:ext cx="183694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Рабочие группы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34070" y="3900000"/>
            <a:ext cx="250492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ДУП, центральный офис, филиалы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8995" y="3900000"/>
            <a:ext cx="4007880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Регламенты стыков, SLA, проверка решений на практике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125" y="4336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Смежные подразделения, с которыми согласуются стыки: HR, ДРБ, Закупщики (ОЛЖА), Зерек, СТ, Финблок, Юр блок, филиалы и госпартнёр.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3" name="Google Shape;343;g34fc5f99509_2_26"/>
          <p:cNvPicPr preferRelativeResize="0"/>
          <p:nvPr/>
        </p:nvPicPr>
        <p:blipFill rotWithShape="1">
          <a:blip r:embed="rId3">
            <a:alphaModFix/>
          </a:blip>
          <a:srcRect b="0" l="0" r="0" t="15626"/>
          <a:stretch/>
        </p:blipFill>
        <p:spPr>
          <a:xfrm>
            <a:off x="0" y="25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4" name="Google Shape;344;g34fc5f99509_2_26"/>
          <p:cNvSpPr/>
          <p:nvPr/>
        </p:nvSpPr>
        <p:spPr>
          <a:xfrm>
            <a:off x="0" y="25"/>
            <a:ext cx="9014700" cy="5143500"/>
          </a:xfrm>
          <a:prstGeom prst="rect">
            <a:avLst/>
          </a:prstGeom>
          <a:gradFill>
            <a:gsLst>
              <a:gs pos="0">
                <a:srgbClr val="013D85">
                  <a:alpha val="6313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g34fc5f99509_2_26"/>
          <p:cNvSpPr/>
          <p:nvPr/>
        </p:nvSpPr>
        <p:spPr>
          <a:xfrm>
            <a:off x="0" y="25"/>
            <a:ext cx="9014700" cy="5143500"/>
          </a:xfrm>
          <a:prstGeom prst="rect">
            <a:avLst/>
          </a:prstGeom>
          <a:gradFill>
            <a:gsLst>
              <a:gs pos="0">
                <a:srgbClr val="013D85">
                  <a:alpha val="6313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g34fc5f99509_2_26"/>
          <p:cNvSpPr txBox="1"/>
          <p:nvPr/>
        </p:nvSpPr>
        <p:spPr>
          <a:xfrm>
            <a:off x="576526" y="2202300"/>
            <a:ext cx="7991100" cy="7389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600" b="0">
                <a:solidFill>
                  <a:srgbClr val="FFFFFF"/>
                </a:solidFill>
                <a:latin typeface="Golos Text Medium"/>
              </a:rPr>
              <a:t>Начинаем с ответственности и замера — дальше очередь считается сама</a:t>
            </a:r>
            <a:endParaRPr sz="2400">
              <a:solidFill>
                <a:schemeClr val="lt1"/>
              </a:solidFill>
              <a:latin typeface="Golos Text SemiBold"/>
              <a:ea typeface="Golos Text SemiBold"/>
              <a:cs typeface="Golos Text SemiBold"/>
              <a:sym typeface="Golos Text SemiBold"/>
            </a:endParaRPr>
          </a:p>
        </p:txBody>
      </p:sp>
      <p:sp>
        <p:nvSpPr>
          <p:cNvPr id="347" name="Google Shape;347;g34fc5f99509_2_26"/>
          <p:cNvSpPr txBox="1"/>
          <p:nvPr/>
        </p:nvSpPr>
        <p:spPr>
          <a:xfrm>
            <a:off x="2081987" y="493525"/>
            <a:ext cx="4897200" cy="7080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12700" marR="0" rt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ru" sz="4000" u="none" cap="none" strike="noStrike">
                <a:solidFill>
                  <a:srgbClr val="FFFFFF"/>
                </a:solidFill>
                <a:latin typeface="Golos Text SemiBold"/>
                <a:ea typeface="Golos Text SemiBold"/>
                <a:cs typeface="Golos Text SemiBold"/>
                <a:sym typeface="Golos Text SemiBold"/>
              </a:rPr>
              <a:t>Спасибо!</a:t>
            </a:r>
            <a:endParaRPr b="1" i="0" sz="4000" u="none" cap="none" strike="noStrike">
              <a:solidFill>
                <a:srgbClr val="FFFFFF"/>
              </a:solidFill>
              <a:latin typeface="Golos Text SemiBold"/>
              <a:ea typeface="Golos Text SemiBold"/>
              <a:cs typeface="Golos Text SemiBold"/>
              <a:sym typeface="Golos Text SemiBold"/>
            </a:endParaRPr>
          </a:p>
        </p:txBody>
      </p:sp>
      <p:grpSp>
        <p:nvGrpSpPr>
          <p:cNvPr id="348" name="Google Shape;348;g34fc5f99509_2_26"/>
          <p:cNvGrpSpPr/>
          <p:nvPr/>
        </p:nvGrpSpPr>
        <p:grpSpPr>
          <a:xfrm>
            <a:off x="3256171" y="4260137"/>
            <a:ext cx="2631820" cy="395775"/>
            <a:chOff x="7419975" y="4637527"/>
            <a:chExt cx="1105946" cy="166306"/>
          </a:xfrm>
        </p:grpSpPr>
        <p:sp>
          <p:nvSpPr>
            <p:cNvPr id="349" name="Google Shape;349;g34fc5f99509_2_26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" name="Google Shape;350;g34fc5f99509_2_26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" name="Google Shape;351;g34fc5f99509_2_26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" name="Google Shape;352;g34fc5f99509_2_26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" name="Google Shape;353;g34fc5f99509_2_26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" name="Google Shape;354;g34fc5f99509_2_26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" name="Google Shape;355;g34fc5f99509_2_26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" name="Google Shape;356;g34fc5f99509_2_26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" name="Google Shape;357;g34fc5f99509_2_26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g34fc5f99509_2_26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" name="Google Shape;359;g34fc5f99509_2_26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Фоны">
  <a:themeElements>
    <a:clrScheme name="SG_pptx">
      <a:dk1>
        <a:srgbClr val="1E1E1E"/>
      </a:dk1>
      <a:lt1>
        <a:srgbClr val="FFFFFF"/>
      </a:lt1>
      <a:dk2>
        <a:srgbClr val="1C3341"/>
      </a:dk2>
      <a:lt2>
        <a:srgbClr val="013D85"/>
      </a:lt2>
      <a:accent1>
        <a:srgbClr val="28AB6A"/>
      </a:accent1>
      <a:accent2>
        <a:srgbClr val="D4D8E4"/>
      </a:accent2>
      <a:accent3>
        <a:srgbClr val="A7B6BD"/>
      </a:accent3>
      <a:accent4>
        <a:srgbClr val="FBBB05"/>
      </a:accent4>
      <a:accent5>
        <a:srgbClr val="4384F4"/>
      </a:accent5>
      <a:accent6>
        <a:srgbClr val="E94235"/>
      </a:accent6>
      <a:hlink>
        <a:srgbClr val="FFFFFF"/>
      </a:hlink>
      <a:folHlink>
        <a:srgbClr val="A7B6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Фоны">
  <a:themeElements>
    <a:clrScheme name="SG_pptx">
      <a:dk1>
        <a:srgbClr val="1E1E1E"/>
      </a:dk1>
      <a:lt1>
        <a:srgbClr val="FFFFFF"/>
      </a:lt1>
      <a:dk2>
        <a:srgbClr val="1C3341"/>
      </a:dk2>
      <a:lt2>
        <a:srgbClr val="013D85"/>
      </a:lt2>
      <a:accent1>
        <a:srgbClr val="28AB6A"/>
      </a:accent1>
      <a:accent2>
        <a:srgbClr val="D4D8E4"/>
      </a:accent2>
      <a:accent3>
        <a:srgbClr val="A7B6BD"/>
      </a:accent3>
      <a:accent4>
        <a:srgbClr val="FBBB05"/>
      </a:accent4>
      <a:accent5>
        <a:srgbClr val="4384F4"/>
      </a:accent5>
      <a:accent6>
        <a:srgbClr val="E94235"/>
      </a:accent6>
      <a:hlink>
        <a:srgbClr val="FFFFFF"/>
      </a:hlink>
      <a:folHlink>
        <a:srgbClr val="A7B6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Пользователь</dc:creator>
</cp:coreProperties>
</file>