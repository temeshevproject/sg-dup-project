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0" r:id="rId4"/>
  </p:sldMasterIdLst>
  <p:notesMasterIdLst>
    <p:notesMasterId r:id="rId5"/>
  </p:notesMasterIdLst>
  <p:sldIdLst>
    <p:sldId id="256" r:id="rId6"/>
    <p:sldId id="268" r:id="rId16"/>
    <p:sldId id="269" r:id="rId15"/>
    <p:sldId id="270" r:id="rId14"/>
    <p:sldId id="271" r:id="rId13"/>
    <p:sldId id="272" r:id="rId12"/>
    <p:sldId id="273" r:id="rId11"/>
    <p:sldId id="274" r:id="rId10"/>
    <p:sldId id="275" r:id="rId9"/>
    <p:sldId id="276" r:id="rId8"/>
    <p:sldId id="277" r:id="rId7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67" r:id="rId17"/>
  </p:sldIdLst>
  <p:sldSz cy="5143500" cx="9144000"/>
  <p:notesSz cx="6858000" cy="9144000"/>
  <p:embeddedFontLst>
    <p:embeddedFont>
      <p:font typeface="Golos Text"/>
      <p:regular r:id="rId18"/>
      <p:bold r:id="rId19"/>
    </p:embeddedFont>
    <p:embeddedFont>
      <p:font typeface="IBM Plex Sans"/>
      <p:regular r:id="rId20"/>
      <p:bold r:id="rId21"/>
      <p:italic r:id="rId22"/>
      <p:boldItalic r:id="rId23"/>
    </p:embeddedFont>
    <p:embeddedFont>
      <p:font typeface="Golos Text Medium"/>
      <p:regular r:id="rId24"/>
      <p:bold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JetBrains Mono"/>
      <p:regular r:id="rId30"/>
      <p:bold r:id="rId31"/>
      <p:italic r:id="rId32"/>
      <p:boldItalic r:id="rId33"/>
    </p:embeddedFont>
    <p:embeddedFont>
      <p:font typeface="Golos Text SemiBo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iC108pgRb5se202Y13m7UAO+V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slide" Target="slides/slide5.xml"/><Relationship Id="rId15" Type="http://schemas.openxmlformats.org/officeDocument/2006/relationships/slide" Target="slides/slide4.xml"/><Relationship Id="rId16" Type="http://schemas.openxmlformats.org/officeDocument/2006/relationships/slide" Target="slides/slide3.xml"/><Relationship Id="rId17" Type="http://schemas.openxmlformats.org/officeDocument/2006/relationships/slide" Target="slides/slide90.xml"/><Relationship Id="rId18" Type="http://schemas.openxmlformats.org/officeDocument/2006/relationships/font" Target="fonts/GolosText-regular.fntdata"/><Relationship Id="rId19" Type="http://schemas.openxmlformats.org/officeDocument/2006/relationships/font" Target="fonts/GolosText-bold.fntdata"/><Relationship Id="rId20" Type="http://schemas.openxmlformats.org/officeDocument/2006/relationships/font" Target="fonts/IBMPlexSans-regular.fntdata"/><Relationship Id="rId21" Type="http://schemas.openxmlformats.org/officeDocument/2006/relationships/font" Target="fonts/IBMPlexSans-bold.fntdata"/><Relationship Id="rId22" Type="http://schemas.openxmlformats.org/officeDocument/2006/relationships/font" Target="fonts/IBMPlexSans-italic.fntdata"/><Relationship Id="rId23" Type="http://schemas.openxmlformats.org/officeDocument/2006/relationships/font" Target="fonts/IBMPlexSans-boldItalic.fntdata"/><Relationship Id="rId24" Type="http://schemas.openxmlformats.org/officeDocument/2006/relationships/font" Target="fonts/GolosTextMedium-regular.fntdata"/><Relationship Id="rId25" Type="http://schemas.openxmlformats.org/officeDocument/2006/relationships/font" Target="fonts/GolosTextMedium-bold.fntdata"/><Relationship Id="rId26" Type="http://schemas.openxmlformats.org/officeDocument/2006/relationships/font" Target="fonts/Montserrat-regular.fntdata"/><Relationship Id="rId27" Type="http://schemas.openxmlformats.org/officeDocument/2006/relationships/font" Target="fonts/Montserrat-bold.fntdata"/><Relationship Id="rId28" Type="http://schemas.openxmlformats.org/officeDocument/2006/relationships/font" Target="fonts/Montserrat-italic.fntdata"/><Relationship Id="rId29" Type="http://schemas.openxmlformats.org/officeDocument/2006/relationships/font" Target="fonts/Montserrat-boldItalic.fntdata"/><Relationship Id="rId30" Type="http://schemas.openxmlformats.org/officeDocument/2006/relationships/font" Target="fonts/JetBrainsMono-regular.fntdata"/><Relationship Id="rId31" Type="http://schemas.openxmlformats.org/officeDocument/2006/relationships/font" Target="fonts/JetBrainsMono-bold.fntdata"/><Relationship Id="rId32" Type="http://schemas.openxmlformats.org/officeDocument/2006/relationships/font" Target="fonts/JetBrainsMono-italic.fntdata"/><Relationship Id="rId33" Type="http://schemas.openxmlformats.org/officeDocument/2006/relationships/font" Target="fonts/JetBrainsMono-boldItalic.fntdata"/><Relationship Id="rId34" Type="http://schemas.openxmlformats.org/officeDocument/2006/relationships/font" Target="fonts/GolosTextSemiBold-regular.fntdata"/><Relationship Id="rId35" Type="http://schemas.openxmlformats.org/officeDocument/2006/relationships/font" Target="fonts/GolosTextSemiBold-bold.fntdata"/><Relationship Id="rId36" Type="http://customschemas.google.com/relationships/presentationmetadata" Target="metadata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Relationship Id="rId40" Type="http://schemas.openxmlformats.org/officeDocument/2006/relationships/slide" Target="slides/slide16.xml"/><Relationship Id="rId41" Type="http://schemas.openxmlformats.org/officeDocument/2006/relationships/slide" Target="slides/slide17.xml"/><Relationship Id="rId42" Type="http://schemas.openxmlformats.org/officeDocument/2006/relationships/slide" Target="slides/slide18.xml"/><Relationship Id="rId43" Type="http://schemas.openxmlformats.org/officeDocument/2006/relationships/slide" Target="slides/slide19.xml"/><Relationship Id="rId44" Type="http://schemas.openxmlformats.org/officeDocument/2006/relationships/slide" Target="slides/slide20.xml"/><Relationship Id="rId45" Type="http://schemas.openxmlformats.org/officeDocument/2006/relationships/slide" Target="slides/slide21.xml"/><Relationship Id="rId46" Type="http://schemas.openxmlformats.org/officeDocument/2006/relationships/slide" Target="slides/slide22.xml"/><Relationship Id="rId47" Type="http://schemas.openxmlformats.org/officeDocument/2006/relationships/slide" Target="slides/slide23.xml"/><Relationship Id="rId48" Type="http://schemas.openxmlformats.org/officeDocument/2006/relationships/slide" Target="slides/slide24.xml"/><Relationship Id="rId49" Type="http://schemas.openxmlformats.org/officeDocument/2006/relationships/slide" Target="slides/slide25.xml"/><Relationship Id="rId50" Type="http://schemas.openxmlformats.org/officeDocument/2006/relationships/slide" Target="slides/slide26.xml"/><Relationship Id="rId51" Type="http://schemas.openxmlformats.org/officeDocument/2006/relationships/slide" Target="slides/slide27.xml"/><Relationship Id="rId52" Type="http://schemas.openxmlformats.org/officeDocument/2006/relationships/slide" Target="slides/slide28.xml"/><Relationship Id="rId53" Type="http://schemas.openxmlformats.org/officeDocument/2006/relationships/slide" Target="slides/slide29.xml"/><Relationship Id="rId54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bf351e6d1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1bf351e6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4fc5f99509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4fc5f99509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ТЕМНО СЕРЫЙ ФОН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31b4f510750_5_3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g31b4f510750_5_358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9" name="Google Shape;9;g31b4f510750_5_358"/>
          <p:cNvGrpSpPr/>
          <p:nvPr/>
        </p:nvGrpSpPr>
        <p:grpSpPr>
          <a:xfrm>
            <a:off x="7487100" y="394845"/>
            <a:ext cx="1191767" cy="179211"/>
            <a:chOff x="7419975" y="4637527"/>
            <a:chExt cx="1105946" cy="166306"/>
          </a:xfrm>
        </p:grpSpPr>
        <p:sp>
          <p:nvSpPr>
            <p:cNvPr id="10" name="Google Shape;10;g31b4f510750_5_358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g31b4f510750_5_358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1b4f510750_5_358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1b4f510750_5_358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1b4f510750_5_358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1b4f510750_5_358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g31b4f510750_5_358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1b4f510750_5_358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1b4f510750_5_358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1b4f510750_5_358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1b4f510750_5_358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g31b4f510750_5_358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Слайд ТЕМНО СЕРЫЙ ФОН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1d6e50d44b_1_3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g31b4f510750_5_374"/>
          <p:cNvGrpSpPr/>
          <p:nvPr/>
        </p:nvGrpSpPr>
        <p:grpSpPr>
          <a:xfrm>
            <a:off x="7487097" y="394835"/>
            <a:ext cx="1191767" cy="179211"/>
            <a:chOff x="7419975" y="4637527"/>
            <a:chExt cx="1105946" cy="166306"/>
          </a:xfrm>
        </p:grpSpPr>
        <p:sp>
          <p:nvSpPr>
            <p:cNvPr id="26" name="Google Shape;26;g31b4f510750_5_374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g31b4f510750_5_374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g31b4f510750_5_374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g31b4f510750_5_374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1b4f510750_5_374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1b4f510750_5_374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1b4f510750_5_374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1b4f510750_5_374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31b4f510750_5_374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1b4f510750_5_374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1b4f510750_5_374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g31b4f510750_5_374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accent2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accen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38" name="Google Shape;38;g31b4f510750_5_374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БЕЛЫЙ ФОН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b4f510750_5_357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accent2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accen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1" name="Google Shape;41;g31b4f510750_5_357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rgbClr val="B7B7B7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rgbClr val="B7B7B7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">
  <p:cSld name="Слайд ЧЕРНЫЙ ФОН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1b4f510750_5_3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g31b4f510750_5_360"/>
          <p:cNvSpPr txBox="1"/>
          <p:nvPr/>
        </p:nvSpPr>
        <p:spPr>
          <a:xfrm>
            <a:off x="8489450" y="4729775"/>
            <a:ext cx="654600" cy="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‹#›</a:t>
            </a:fld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pSp>
        <p:nvGrpSpPr>
          <p:cNvPr id="45" name="Google Shape;45;g31b4f510750_5_360"/>
          <p:cNvGrpSpPr/>
          <p:nvPr/>
        </p:nvGrpSpPr>
        <p:grpSpPr>
          <a:xfrm>
            <a:off x="7487100" y="394845"/>
            <a:ext cx="1191767" cy="179211"/>
            <a:chOff x="7419975" y="4637527"/>
            <a:chExt cx="1105946" cy="166306"/>
          </a:xfrm>
        </p:grpSpPr>
        <p:sp>
          <p:nvSpPr>
            <p:cNvPr id="46" name="Google Shape;46;g31b4f510750_5_360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1b4f510750_5_360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1b4f510750_5_360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g31b4f510750_5_360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g31b4f510750_5_360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g31b4f510750_5_360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g31b4f510750_5_360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g31b4f510750_5_360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g31b4f510750_5_360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1b4f510750_5_360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1b4f510750_5_360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g31b4f510750_5_360"/>
          <p:cNvSpPr txBox="1"/>
          <p:nvPr/>
        </p:nvSpPr>
        <p:spPr>
          <a:xfrm>
            <a:off x="308275" y="4709050"/>
            <a:ext cx="5542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" sz="9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Строго конфиденциально. Все права принадлежат Sergek Group ©</a:t>
            </a:r>
            <a:endParaRPr b="0" i="0" sz="9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b4f510750_5_3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1b4f510750_5_3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g31b4f510750_5_3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1">
  <p:cSld name="1_Заголовок и два столбца_белый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b4f510750_5_3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g31b4f510750_5_366"/>
          <p:cNvPicPr preferRelativeResize="0"/>
          <p:nvPr/>
        </p:nvPicPr>
        <p:blipFill rotWithShape="1">
          <a:blip r:embed="rId2">
            <a:alphaModFix amt="5000"/>
          </a:blip>
          <a:srcRect b="-2976" l="0" r="-2459" t="0"/>
          <a:stretch/>
        </p:blipFill>
        <p:spPr>
          <a:xfrm rot="-995823">
            <a:off x="1146996" y="41721"/>
            <a:ext cx="9001550" cy="558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2">
  <p:cSld name="Заголовок и два столбца_белый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b4f510750_5_3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3">
  <p:cSld name="1_Заголовок и два столбца_белый 2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b4f510750_5_3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g31b4f510750_5_371"/>
          <p:cNvPicPr preferRelativeResize="0"/>
          <p:nvPr/>
        </p:nvPicPr>
        <p:blipFill rotWithShape="1">
          <a:blip r:embed="rId2">
            <a:alphaModFix amt="5000"/>
          </a:blip>
          <a:srcRect b="-2976" l="-1468" r="-1944" t="0"/>
          <a:stretch/>
        </p:blipFill>
        <p:spPr>
          <a:xfrm>
            <a:off x="-1203960" y="0"/>
            <a:ext cx="11207539" cy="5483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b4f510750_5_37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1b4f510750_5_37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1b4f510750_5_3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1E1E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4" name="Google Shape;74;g31b4f510750_5_375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BFBFB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rgbClr val="BFBFB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белый 1">
  <p:cSld name="Один столбец_белый 1">
    <p:bg>
      <p:bgPr>
        <a:solidFill>
          <a:srgbClr val="6C85DB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b4f510750_5_380"/>
          <p:cNvSpPr txBox="1"/>
          <p:nvPr>
            <p:ph type="title"/>
          </p:nvPr>
        </p:nvSpPr>
        <p:spPr>
          <a:xfrm>
            <a:off x="180000" y="180000"/>
            <a:ext cx="39906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g31b4f510750_5_380"/>
          <p:cNvSpPr txBox="1"/>
          <p:nvPr>
            <p:ph idx="12" type="sldNum"/>
          </p:nvPr>
        </p:nvSpPr>
        <p:spPr>
          <a:xfrm>
            <a:off x="7637975" y="4717050"/>
            <a:ext cx="14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" name="Google Shape;78;g31b4f510750_5_380"/>
          <p:cNvSpPr txBox="1"/>
          <p:nvPr>
            <p:ph idx="1" type="body"/>
          </p:nvPr>
        </p:nvSpPr>
        <p:spPr>
          <a:xfrm>
            <a:off x="4369500" y="180000"/>
            <a:ext cx="4594500" cy="4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b4f510750_5_38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31b4f510750_5_38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1b4f510750_5_3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">
  <p:cSld name="Title and Content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b4f510750_5_388"/>
          <p:cNvSpPr txBox="1"/>
          <p:nvPr>
            <p:ph type="title"/>
          </p:nvPr>
        </p:nvSpPr>
        <p:spPr>
          <a:xfrm>
            <a:off x="327479" y="327457"/>
            <a:ext cx="4865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1b4f510750_5_388"/>
          <p:cNvSpPr txBox="1"/>
          <p:nvPr/>
        </p:nvSpPr>
        <p:spPr>
          <a:xfrm>
            <a:off x="328333" y="1203800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00" lIns="41600" spcFirstLastPara="1" rIns="41600" wrap="square" tIns="4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9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1">
  <p:cSld name="Title and Content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b4f510750_5_391"/>
          <p:cNvSpPr txBox="1"/>
          <p:nvPr>
            <p:ph type="title"/>
          </p:nvPr>
        </p:nvSpPr>
        <p:spPr>
          <a:xfrm>
            <a:off x="327479" y="327457"/>
            <a:ext cx="48651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1b4f510750_5_391"/>
          <p:cNvSpPr txBox="1"/>
          <p:nvPr/>
        </p:nvSpPr>
        <p:spPr>
          <a:xfrm>
            <a:off x="328333" y="1203800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600" lIns="41600" spcFirstLastPara="1" rIns="41600" wrap="square" tIns="41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9">
          <p15:clr>
            <a:srgbClr val="E46962"/>
          </p15:clr>
        </p15:guide>
        <p15:guide id="3" orient="horz" pos="759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2">
  <p:cSld name="Заголовок и контент 2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b4f510750_5_394"/>
          <p:cNvSpPr txBox="1"/>
          <p:nvPr>
            <p:ph type="title"/>
          </p:nvPr>
        </p:nvSpPr>
        <p:spPr>
          <a:xfrm>
            <a:off x="327479" y="327456"/>
            <a:ext cx="486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g31b4f510750_5_394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2" name="Google Shape;92;g31b4f510750_5_394"/>
          <p:cNvSpPr txBox="1"/>
          <p:nvPr>
            <p:ph idx="12" type="sldNum"/>
          </p:nvPr>
        </p:nvSpPr>
        <p:spPr>
          <a:xfrm>
            <a:off x="8556784" y="4749851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88888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3">
  <p:cSld name="Заголовок и контент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b4f510750_5_398"/>
          <p:cNvSpPr txBox="1"/>
          <p:nvPr>
            <p:ph type="title"/>
          </p:nvPr>
        </p:nvSpPr>
        <p:spPr>
          <a:xfrm>
            <a:off x="327479" y="327456"/>
            <a:ext cx="48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g31b4f510750_5_398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6" name="Google Shape;96;g31b4f510750_5_398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BFBFBF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rgbClr val="BFBFB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контент 3 1">
  <p:cSld name="Заголовок и контент 3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b4f510750_5_402"/>
          <p:cNvSpPr txBox="1"/>
          <p:nvPr>
            <p:ph type="title"/>
          </p:nvPr>
        </p:nvSpPr>
        <p:spPr>
          <a:xfrm>
            <a:off x="327479" y="327456"/>
            <a:ext cx="486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g31b4f510750_5_402"/>
          <p:cNvSpPr txBox="1"/>
          <p:nvPr/>
        </p:nvSpPr>
        <p:spPr>
          <a:xfrm>
            <a:off x="328332" y="1203801"/>
            <a:ext cx="4243800" cy="3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E46962"/>
          </p15:clr>
        </p15:guide>
        <p15:guide id="2" orient="horz" pos="538">
          <p15:clr>
            <a:srgbClr val="E46962"/>
          </p15:clr>
        </p15:guide>
        <p15:guide id="3" orient="horz" pos="758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графит">
  <p:cSld name="ONE_COLUMN_TEXT_1">
    <p:bg>
      <p:bgPr>
        <a:solidFill>
          <a:srgbClr val="1E1E1E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b4f510750_5_405"/>
          <p:cNvSpPr txBox="1"/>
          <p:nvPr>
            <p:ph idx="12" type="sldNum"/>
          </p:nvPr>
        </p:nvSpPr>
        <p:spPr>
          <a:xfrm>
            <a:off x="7637975" y="4717050"/>
            <a:ext cx="14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EFEFE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2" name="Google Shape;102;g31b4f510750_5_405"/>
          <p:cNvSpPr txBox="1"/>
          <p:nvPr>
            <p:ph type="title"/>
          </p:nvPr>
        </p:nvSpPr>
        <p:spPr>
          <a:xfrm>
            <a:off x="180000" y="180000"/>
            <a:ext cx="39906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31b4f510750_5_405"/>
          <p:cNvSpPr txBox="1"/>
          <p:nvPr>
            <p:ph idx="1" type="body"/>
          </p:nvPr>
        </p:nvSpPr>
        <p:spPr>
          <a:xfrm>
            <a:off x="180000" y="1883600"/>
            <a:ext cx="4594500" cy="26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4" name="Google Shape;104;g31b4f510750_5_4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0000" y="4682460"/>
            <a:ext cx="713135" cy="3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1b4f510750_5_405"/>
          <p:cNvSpPr txBox="1"/>
          <p:nvPr/>
        </p:nvSpPr>
        <p:spPr>
          <a:xfrm>
            <a:off x="5095284" y="4751328"/>
            <a:ext cx="389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Строго конфиденциально. Все права принадлежат Sergek Group ©</a:t>
            </a:r>
            <a:endParaRPr b="0" i="0" sz="14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дин столбец_белый">
  <p:cSld name="Один столбец_белый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b4f510750_5_411"/>
          <p:cNvSpPr txBox="1"/>
          <p:nvPr>
            <p:ph type="title"/>
          </p:nvPr>
        </p:nvSpPr>
        <p:spPr>
          <a:xfrm>
            <a:off x="312125" y="180000"/>
            <a:ext cx="4117800" cy="1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  <a:defRPr b="1" i="0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b4f510750_5_413"/>
          <p:cNvSpPr txBox="1"/>
          <p:nvPr>
            <p:ph type="title"/>
          </p:nvPr>
        </p:nvSpPr>
        <p:spPr>
          <a:xfrm>
            <a:off x="630785" y="441132"/>
            <a:ext cx="7882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1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4f510750_2_431"/>
          <p:cNvSpPr txBox="1"/>
          <p:nvPr>
            <p:ph type="title"/>
          </p:nvPr>
        </p:nvSpPr>
        <p:spPr>
          <a:xfrm>
            <a:off x="684682" y="308559"/>
            <a:ext cx="3743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23A8D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g31b4f510750_2_431"/>
          <p:cNvSpPr txBox="1"/>
          <p:nvPr/>
        </p:nvSpPr>
        <p:spPr>
          <a:xfrm>
            <a:off x="375200" y="4823550"/>
            <a:ext cx="345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Strictly Confidential. Copyright Reserved to Sergek Projects Ltd 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1b4f510750_2_431"/>
          <p:cNvSpPr txBox="1"/>
          <p:nvPr>
            <p:ph idx="12" type="sldNum"/>
          </p:nvPr>
        </p:nvSpPr>
        <p:spPr>
          <a:xfrm>
            <a:off x="8677835" y="4889749"/>
            <a:ext cx="152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БЕЛЫЙ ФОН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Слайд ТЕМНО СЕРЫЙ ФОН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bf351e6d1_0_5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33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">
  <p:cSld name="Слайд ЧЕРНЫЙ ФОН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bf351e6d1_0_6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bf351e6d1_0_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1bf351e6d1_0_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g31bf351e6d1_0_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1">
  <p:cSld name="1_Заголовок и два столбца_белый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bf351e6d1_0_6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g31bf351e6d1_0_66"/>
          <p:cNvPicPr preferRelativeResize="0"/>
          <p:nvPr/>
        </p:nvPicPr>
        <p:blipFill rotWithShape="1">
          <a:blip r:embed="rId2">
            <a:alphaModFix amt="5000"/>
          </a:blip>
          <a:srcRect b="-2976" l="0" r="-2459" t="0"/>
          <a:stretch/>
        </p:blipFill>
        <p:spPr>
          <a:xfrm rot="-995823">
            <a:off x="1146996" y="41721"/>
            <a:ext cx="9001550" cy="5589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2">
  <p:cSld name="Заголовок и два столбца_белый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bf351e6d1_0_6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два столбца_белый 3">
  <p:cSld name="1_Заголовок и два столбца_белый 2"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bf351e6d1_0_7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1bf351e6d1_0_71"/>
          <p:cNvPicPr preferRelativeResize="0"/>
          <p:nvPr/>
        </p:nvPicPr>
        <p:blipFill rotWithShape="1">
          <a:blip r:embed="rId2">
            <a:alphaModFix amt="5000"/>
          </a:blip>
          <a:srcRect b="-2976" l="-1468" r="-1944" t="0"/>
          <a:stretch/>
        </p:blipFill>
        <p:spPr>
          <a:xfrm>
            <a:off x="-1203960" y="0"/>
            <a:ext cx="11207539" cy="5483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01">
          <p15:clr>
            <a:srgbClr val="E46962"/>
          </p15:clr>
        </p15:guide>
        <p15:guide id="2" orient="horz" pos="2978">
          <p15:clr>
            <a:srgbClr val="E46962"/>
          </p15:clr>
        </p15:guide>
        <p15:guide id="3" orient="horz" pos="3163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g31bf351e6d1_0_37"/>
          <p:cNvGrpSpPr/>
          <p:nvPr/>
        </p:nvGrpSpPr>
        <p:grpSpPr>
          <a:xfrm>
            <a:off x="486285" y="590175"/>
            <a:ext cx="2398023" cy="360601"/>
            <a:chOff x="7419975" y="4637527"/>
            <a:chExt cx="1105946" cy="166306"/>
          </a:xfrm>
        </p:grpSpPr>
        <p:sp>
          <p:nvSpPr>
            <p:cNvPr id="137" name="Google Shape;137;g31bf351e6d1_0_37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g31bf351e6d1_0_37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1bf351e6d1_0_37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g31bf351e6d1_0_37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1bf351e6d1_0_37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1bf351e6d1_0_37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1bf351e6d1_0_37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1bf351e6d1_0_37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1bf351e6d1_0_37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1bf351e6d1_0_37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1bf351e6d1_0_37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g31bf351e6d1_0_37"/>
          <p:cNvSpPr txBox="1"/>
          <p:nvPr/>
        </p:nvSpPr>
        <p:spPr>
          <a:xfrm>
            <a:off x="373227" y="3420000"/>
            <a:ext cx="300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000" b="0">
                <a:solidFill>
                  <a:srgbClr val="A7B6BD"/>
                </a:solidFill>
                <a:latin typeface="Golos Text"/>
              </a:rPr>
              <a:t>Сентябрь 2026</a:t>
            </a:r>
            <a:endParaRPr b="0" i="0" sz="10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9" name="Google Shape;149;g31bf351e6d1_0_37"/>
          <p:cNvSpPr txBox="1"/>
          <p:nvPr/>
        </p:nvSpPr>
        <p:spPr>
          <a:xfrm>
            <a:off x="373227" y="1320000"/>
            <a:ext cx="41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500" b="0">
                <a:solidFill>
                  <a:srgbClr val="FFFFFF"/>
                </a:solidFill>
                <a:latin typeface="Golos Text SemiBold"/>
              </a:rPr>
              <a:t>Реинжиниринг процессов ДУП</a:t>
            </a:r>
            <a:endParaRPr b="0" i="0" sz="2400" u="none" cap="none" strike="noStrike">
              <a:solidFill>
                <a:schemeClr val="lt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50" name="Google Shape;150;g31bf351e6d1_0_37"/>
          <p:cNvPicPr preferRelativeResize="0"/>
          <p:nvPr/>
        </p:nvPicPr>
        <p:blipFill rotWithShape="1">
          <a:blip r:embed="rId3">
            <a:alphaModFix/>
          </a:blip>
          <a:srcRect b="0" l="44680" r="6316" t="0"/>
          <a:stretch/>
        </p:blipFill>
        <p:spPr>
          <a:xfrm rot="5400000">
            <a:off x="4094185" y="266040"/>
            <a:ext cx="5143504" cy="461142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Rectangle 150"/>
          <p:cNvSpPr/>
          <p:nvPr/>
        </p:nvSpPr>
        <p:spPr>
          <a:xfrm>
            <a:off x="433227" y="2440000"/>
            <a:ext cx="620000" cy="30000"/>
          </a:xfrm>
          <a:prstGeom prst="rect">
            <a:avLst/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52" name="TextBox 151"/>
          <p:cNvSpPr txBox="1"/>
          <p:nvPr/>
        </p:nvSpPr>
        <p:spPr>
          <a:xfrm>
            <a:off x="433227" y="2600000"/>
            <a:ext cx="41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28AB6A"/>
                </a:solidFill>
                <a:latin typeface="Golos Text Medium"/>
              </a:rPr>
              <a:t>От предпосылок до очереди работ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3227" y="2990000"/>
            <a:ext cx="410000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D4D8E4"/>
                </a:solidFill>
                <a:latin typeface="Golos Text"/>
              </a:rPr>
              <a:t>Департамент управления проектами · ТОО «Көркем Телеком»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Периметр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Управляем процессами. Строки реестра — это их подпроцессы и этапы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960000"/>
            <a:ext cx="2689916" cy="6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517125" y="1000000"/>
            <a:ext cx="2449916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28AB6A"/>
                </a:solidFill>
                <a:latin typeface="Golos Text SemiBold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125" y="1360000"/>
            <a:ext cx="2449916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Medium"/>
              </a:rPr>
              <a:t>процессов в периметре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7041" y="960000"/>
            <a:ext cx="2689916" cy="6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3347041" y="1000000"/>
            <a:ext cx="2449916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28AB6A"/>
                </a:solidFill>
                <a:latin typeface="Golos Text SemiBold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7041" y="1360000"/>
            <a:ext cx="2449916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Medium"/>
              </a:rPr>
              <a:t>ДУП — владелец результата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6957" y="960000"/>
            <a:ext cx="2689916" cy="64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1" name="TextBox 10"/>
          <p:cNvSpPr txBox="1"/>
          <p:nvPr/>
        </p:nvSpPr>
        <p:spPr>
          <a:xfrm>
            <a:off x="6176957" y="1000000"/>
            <a:ext cx="2449916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0">
                <a:solidFill>
                  <a:srgbClr val="013D85"/>
                </a:solidFill>
                <a:latin typeface="Golos Text SemiBold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6957" y="1360000"/>
            <a:ext cx="2449916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Medium"/>
              </a:rPr>
              <a:t>ДУП — участник или клиент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125" y="1680000"/>
            <a:ext cx="2680000" cy="24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397125" y="1680000"/>
            <a:ext cx="2680000" cy="70000"/>
          </a:xfrm>
          <a:prstGeom prst="rect">
            <a:avLst/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5" name="TextBox 14"/>
          <p:cNvSpPr txBox="1"/>
          <p:nvPr/>
        </p:nvSpPr>
        <p:spPr>
          <a:xfrm>
            <a:off x="517125" y="1770000"/>
            <a:ext cx="244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8AB6A"/>
                </a:solidFill>
                <a:latin typeface="Golos Text SemiBold"/>
              </a:rPr>
              <a:t>Владелец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125" y="2000000"/>
            <a:ext cx="2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"/>
              </a:rPr>
              <a:t>Реализация проекта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125" y="2420000"/>
            <a:ext cx="2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"/>
              </a:rPr>
              <a:t>Постпроектное сопровождение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125" y="2840000"/>
            <a:ext cx="2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"/>
              </a:rPr>
              <a:t>Управление филиальной сетью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125" y="3260000"/>
            <a:ext cx="2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"/>
              </a:rPr>
              <a:t>Открытие нового филиала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125" y="3680000"/>
            <a:ext cx="2400000" cy="3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"/>
              </a:rPr>
              <a:t>Методология и контроль качества (ПМО)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17125" y="1680000"/>
            <a:ext cx="2714875" cy="24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22" name="Rectangle 21"/>
          <p:cNvSpPr/>
          <p:nvPr/>
        </p:nvSpPr>
        <p:spPr>
          <a:xfrm>
            <a:off x="3217125" y="1680000"/>
            <a:ext cx="2714875" cy="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23" name="TextBox 22"/>
          <p:cNvSpPr txBox="1"/>
          <p:nvPr/>
        </p:nvSpPr>
        <p:spPr>
          <a:xfrm>
            <a:off x="3317125" y="1770000"/>
            <a:ext cx="2514875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013D85"/>
                </a:solidFill>
                <a:latin typeface="Golos Text SemiBold"/>
              </a:rPr>
              <a:t>Участник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7125" y="2000000"/>
            <a:ext cx="2514875" cy="3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Бюджетирование проекта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7125" y="2350000"/>
            <a:ext cx="2514875" cy="3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Осуществление закупок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7125" y="2700000"/>
            <a:ext cx="2514875" cy="3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Проведение платежей по проектам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7125" y="3050000"/>
            <a:ext cx="2514875" cy="3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Прогноз и контроль бюджета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7125" y="3400000"/>
            <a:ext cx="2514875" cy="3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Продление и модернизация контракта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7125" y="3750000"/>
            <a:ext cx="2514875" cy="3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Финансовое закрытие проекта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2000" y="1680000"/>
            <a:ext cx="2714875" cy="24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31" name="Rectangle 30"/>
          <p:cNvSpPr/>
          <p:nvPr/>
        </p:nvSpPr>
        <p:spPr>
          <a:xfrm>
            <a:off x="6032000" y="1680000"/>
            <a:ext cx="2714875" cy="70000"/>
          </a:xfrm>
          <a:prstGeom prst="rect">
            <a:avLst/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32" name="TextBox 31"/>
          <p:cNvSpPr txBox="1"/>
          <p:nvPr/>
        </p:nvSpPr>
        <p:spPr>
          <a:xfrm>
            <a:off x="6132000" y="1770000"/>
            <a:ext cx="2514875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A87300"/>
                </a:solidFill>
                <a:latin typeface="Golos Text SemiBold"/>
              </a:rPr>
              <a:t>Клиент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2000" y="2000000"/>
            <a:ext cx="2514875" cy="3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Вывод продукта в реализацию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2000" y="2420000"/>
            <a:ext cx="2514875" cy="3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Производство, монтаж и калибровка оборудования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2000" y="2840000"/>
            <a:ext cx="2514875" cy="3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Юридическое сопровождение договоров с контрагентами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2000" y="3260000"/>
            <a:ext cx="2514875" cy="3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Оформление штата и кадровых приказов по проекту и филиалу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2000" y="3680000"/>
            <a:ext cx="2514875" cy="38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"/>
              </a:rPr>
              <a:t>Монтаж и запуск ИТ-инфраструктуры ЦОД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125" y="4220000"/>
            <a:ext cx="834975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444746"/>
                </a:solidFill>
                <a:latin typeface="Golos Text"/>
              </a:rPr>
              <a:t>В реестре 60 объектов: 19 подпроцессов и 25 этапов. Роль ДУП по этим строкам: 25 — владелец, 20 — участник, 15 — клиент.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Перечень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Все 60 объектов по приоритету: волна, затем балл. Лист 1 из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970000"/>
            <a:ext cx="25049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7" y="970000"/>
            <a:ext cx="141945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Объект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7074" y="970000"/>
            <a:ext cx="166995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Бизнес-владелец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7024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1506" y="970000"/>
            <a:ext cx="75147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Подпроцесс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3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Этап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465" y="970000"/>
            <a:ext cx="217093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400" y="970000"/>
            <a:ext cx="50098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Волна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9385" y="970000"/>
            <a:ext cx="41748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134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17" y="134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Приём и валидация пакета документов от ДРБ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7074" y="134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Зам. по реализации — приёмка и валидация; ДРБ — передача пакета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7024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321506" y="134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983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657465" y="134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чек-лист минимального пакета и правило возврата неполного комплекта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400" y="134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385" y="134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171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17" y="171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Приоритизация реестра (ВУ / КИЗ / КОЗ)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074" y="171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7024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21506" y="171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072983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57465" y="171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Описать правило очерёдности: какой платёж попадает в начало реестра и почему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400" y="171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9385" y="171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25" y="208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17" y="208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Проверка полноты пакета (договор, ФЭМ, ТЗ, адресная программа)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7074" y="208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реализации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7024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321506" y="208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072983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7465" y="208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Ввести обязательную проверку по чек-листу до регистрации проекта в портфеле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400" y="208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9385" y="208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245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17" y="245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Формирование реестра платежей и приоритизация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074" y="245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 — владелец решения по оплате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7024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4321506" y="245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2983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5657465" y="245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инструкцию по трём потокам платежей и единую форму реестра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8400" y="245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9385" y="245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282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7617" y="282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Инициация заявки, сбор спецификаций и тех. карт (со СТ)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67074" y="282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Закупщики (ОЛЖА)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37024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321506" y="282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5072983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57465" y="282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Ввести форму заявки и правило: тех. карты СТ собираются до подачи заявки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28400" y="282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9385" y="282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125" y="319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617" y="319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Прогноз поступлений / расходов и контроль бюджета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7074" y="319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 — владелец решения и планирования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37024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321506" y="319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2983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657465" y="319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Завести единый реестр прогноза и календарь его обновления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28400" y="319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9385" y="319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73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125" y="356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617" y="356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Сбор данных и подтверждений по проектам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67074" y="356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37024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4321506" y="356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5072983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57465" y="356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форму и срок подачи данных филиалами в реестр прогноза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28400" y="356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9385" y="356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72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125" y="393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617" y="393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Обратная связь по дефектам компонентов → владелец ТЗ / закупки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67074" y="393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операционной деятельности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37024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4321506" y="393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72983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5657465" y="393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форму фиксации дефекта и маршрут «эксплуатация → владелец ТЗ → закупки»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8400" y="393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9385" y="393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Перечень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Все 60 объектов по приоритету: волна, затем балл. Лист 2 из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970000"/>
            <a:ext cx="25049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7" y="970000"/>
            <a:ext cx="141945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Объект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7074" y="970000"/>
            <a:ext cx="166995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Бизнес-владелец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7024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1506" y="970000"/>
            <a:ext cx="75147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Подпроцесс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3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Этап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465" y="970000"/>
            <a:ext cx="217093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400" y="970000"/>
            <a:ext cx="50098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Волна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9385" y="970000"/>
            <a:ext cx="41748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134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17" y="134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Отчётность по проектам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7074" y="134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Главный менеджер проектов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7024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321506" y="134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983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657465" y="134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один регламент отчётности: проект, операция, портфель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400" y="134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385" y="134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71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171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17" y="171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Статус-встречи по проекту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074" y="171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реализации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7024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21506" y="171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072983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57465" y="171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Ввести статус-встречи: частота, повестка, протокол, адресат решений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400" y="171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9385" y="171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71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25" y="208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17" y="208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Получение карточки проекта и комплекта документов от ДРБ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7074" y="208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ДРБ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7024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321506" y="208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072983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7465" y="208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Зафиксировать в письме ДРБ норматив срока передачи пакета и форму карточки проекта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400" y="208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9385" y="208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245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17" y="245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Агрегация заявок и данных филиалов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074" y="245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7024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4321506" y="245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5072983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57465" y="245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Ввести единую форму заявки филиала и срок её подачи до даты формирования реестра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8400" y="245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9385" y="245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282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7617" y="282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Постпроектное сопровождение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67074" y="282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операционной деятельности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37024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1506" y="282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5072983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5657465" y="282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паспорт процесса сопровождения: границы, вход, выход и три показателя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28400" y="282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9385" y="282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125" y="319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617" y="319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Обработка запросов на перенос оборудования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7074" y="319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операционной деятельности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37024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321506" y="319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2983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657465" y="319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Завести реестр переносов с сопоставлением «факт против ФЭМ»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28400" y="319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9385" y="319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125" y="356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617" y="356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Реализация проекта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67074" y="356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строительству и реализации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37024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1506" y="356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5072983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5657465" y="356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паспорт процесса реализации: границы, вход, выход и три показателя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28400" y="356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9385" y="356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125" y="393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617" y="393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Передача проекта «реализация → сопровождение»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67074" y="393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строительству и реализации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37024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4321506" y="393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72983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5657465" y="393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Спроектировать чек-лист передачи и внести обязательную дату handover в карточку проекта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8400" y="393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9385" y="393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Перечень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Все 60 объектов по приоритету: волна, затем балл. Лист 3 из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970000"/>
            <a:ext cx="25049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7" y="970000"/>
            <a:ext cx="141945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Объект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7074" y="970000"/>
            <a:ext cx="166995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Бизнес-владелец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7024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1506" y="970000"/>
            <a:ext cx="75147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Подпроцесс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3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Этап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465" y="970000"/>
            <a:ext cx="217093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400" y="970000"/>
            <a:ext cx="50098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Волна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9385" y="970000"/>
            <a:ext cx="41748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134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17" y="134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Методология и контроль качества (ПМО)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7074" y="134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Главный менеджер проектов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7024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1506" y="134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072983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657465" y="134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паспорт процесса методологии и положение о контроле качества проектных данных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400" y="134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385" y="134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171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17" y="171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Выявление нехватки бюджета и вынесение на ОСУ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074" y="171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Зам. по операционной деятельности — вынесение; ОСУ — решение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7024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21506" y="171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2983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657465" y="171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Зафиксировать порог и срок вынесения вопроса о нехватке бюджета на ОСУ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400" y="171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9385" y="171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25" y="208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17" y="208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Участие ДУП: потребность, данные по региону, приём площадки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7074" y="208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операционной деятельности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7024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321506" y="208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072983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7465" y="208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критерий инициации открытия филиала и форму обоснования потребности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400" y="208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9385" y="208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245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17" y="245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Контроль качества и полноты проектных данных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074" y="245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Главный менеджер проектов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7024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4321506" y="245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2983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5657465" y="245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Провести пилотный аудит одного филиала и развернуть его на весь портфель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8400" y="245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9385" y="245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282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7617" y="282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Операционный статус руководству и госпартнёру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67074" y="282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операционной деятельности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37024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321506" y="282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5072983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57465" y="282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Собирать операционный статус из протокола статус-встреч, без второго опроса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28400" y="282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9385" y="282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125" y="319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617" y="319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Управление филиальной сетью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7074" y="319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Директор ДУП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37024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21506" y="319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5072983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657465" y="319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паспорт процесса филиальной сети: отношения вне проекта и стык с открытием филиала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28400" y="319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9385" y="319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125" y="356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617" y="356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Назначение куратора (проект и филиал)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67074" y="356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Директор ДУП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37024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4321506" y="356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72983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5657465" y="356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одну матрицу «филиал → куратор» и срок назначения от даты регистрации проекта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28400" y="356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9385" y="356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125" y="393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617" y="393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Портфельная отчётность руководству и заказчикам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67074" y="393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Главный менеджер проектов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37024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4321506" y="393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5072983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57465" y="393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Собирать портфельный отчёт из проектного и операционного статуса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8400" y="393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9385" y="393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Перечень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Все 60 объектов по приоритету: волна, затем балл. Лист 4 из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970000"/>
            <a:ext cx="25049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7" y="970000"/>
            <a:ext cx="141945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Объект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7074" y="970000"/>
            <a:ext cx="166995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Бизнес-владелец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7024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1506" y="970000"/>
            <a:ext cx="75147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Подпроцесс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3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Этап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465" y="970000"/>
            <a:ext cx="217093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400" y="970000"/>
            <a:ext cx="50098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Волна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9385" y="970000"/>
            <a:ext cx="41748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134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17" y="134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Общие отношения с филиалом (вне привязки к проекту)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7074" y="134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операционной деятельности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7024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321506" y="134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2983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657465" y="134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порядок обращений филиала вне проектной рамки: кто принимает и в какой срок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400" y="134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385" y="134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171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17" y="171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Инициация и контроль закупок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074" y="171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Закупщики (ОЛЖА) — владелец процедуры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7024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21506" y="171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2983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657465" y="171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Согласовать с Закупщиками нормативы сроков по шагам процедуры и правило эскалации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400" y="171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9385" y="171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25" y="208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17" y="208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Подтверждение готовности продукта (пилот)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7074" y="208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ДРБ — владелец решения по продукту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7024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321506" y="208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2983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657465" y="208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Разработать регламент gate: критерии пилота, подпись директора ДУП и право блокировать старт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400" y="208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9385" y="208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245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17" y="245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Формирование ФЭМ по шаблону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074" y="245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7024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4321506" y="245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5072983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57465" y="245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Пересчитать нормы поверки, переносов и логистики по фактическим данным за два года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8400" y="245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9385" y="245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282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7617" y="282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Контроль сроков поставки и приёмка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67074" y="282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Закупщики (ОЛЖА)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37024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321506" y="282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5072983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57465" y="282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форму приёмки с фиксацией дефектов и маршрутом их передачи владельцу ТЗ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28400" y="282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9385" y="282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125" y="319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617" y="319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Формирование и согласование бюджета (ФЭМ)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7074" y="319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 — владелец процесса целиком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37024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321506" y="319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2983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657465" y="319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Провести ревизию нормативов ФЭМ и согласовать с Финблоком срок рассмотрения модели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28400" y="319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9385" y="319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125" y="356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617" y="356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Проверка завершения пилота / тестовой эксплуатации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67074" y="356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ДРБ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37024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4321506" y="356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5072983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57465" y="356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Определить измеримые критерии завершения пилота и форму подтверждения от ДРБ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28400" y="356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9385" y="356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125" y="393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617" y="393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Инициация продления / модернизации контракта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67074" y="393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ДРБ — владелец presale и сделки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37024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4321506" y="393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72983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5657465" y="393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Установить срок инициации продления до окончания договора и точку передачи в ДРБ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8400" y="393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9385" y="393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Перечень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Все 60 объектов по приоритету: волна, затем балл. Лист 5 из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970000"/>
            <a:ext cx="25049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7" y="970000"/>
            <a:ext cx="141945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Объект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7074" y="970000"/>
            <a:ext cx="166995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Бизнес-владелец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7024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1506" y="970000"/>
            <a:ext cx="75147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Подпроцесс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3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Этап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465" y="970000"/>
            <a:ext cx="217093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400" y="970000"/>
            <a:ext cx="50098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Волна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9385" y="970000"/>
            <a:ext cx="41748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134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17" y="134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Проведение процедуры закупки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7074" y="134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Закупщики (ОЛЖА)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7024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321506" y="134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072983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7465" y="134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Внести шаги процедуры в общий трекер и установить точку эскалации при просрочке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400" y="134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385" y="134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171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17" y="171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Производство, монтаж и калибровка оборудования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074" y="171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СТ (техническая служба)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7024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1506" y="171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072983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657465" y="171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Зафиксировать со СТ срок выдачи тех. карт — до подачи заявки на закупку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400" y="171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9385" y="171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25" y="208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17" y="208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Открытие нового филиала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7074" y="208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Директор ДУП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7024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1506" y="208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072983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657465" y="208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на Операционном комитете сквозной маршрут Юр → HR → Финблок → ДУП и сроки по этапам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400" y="208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9385" y="208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245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17" y="245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Проверка и согласование ФЭМ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074" y="245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7024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4321506" y="245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5072983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57465" y="245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Зафиксировать в SLA срок рассмотрения ФЭМ Финблоком и состав замечаний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8400" y="245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9385" y="245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282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7617" y="282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Монтаж и запуск ИТ-инфраструктуры ЦОД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67074" y="282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Зерек (ИТ-инфраструктура)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37024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1506" y="282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5072983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5657465" y="282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Включить интерфейс с Зерек в карту процессов и согласовать срок монтажа ИТ-инфраструктуры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28400" y="282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9385" y="282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125" y="319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617" y="319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Юридическое сопровождение договоров с контрагентами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7074" y="319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Юр блок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37024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21506" y="319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5072983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657465" y="319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Согласовать с Юр блоком срок рассмотрения договора и типовые условия по проектам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28400" y="319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9385" y="319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125" y="356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617" y="356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Регистрация и запуск филиала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67074" y="356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Юр блок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37024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4321506" y="356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5072983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57465" y="356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Согласовать с Юр блоком срок регистрации филиала и чек-лист приёма его в работу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28400" y="356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9385" y="356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125" y="393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617" y="393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Оформление штата и кадровых приказов по проекту и филиалу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67074" y="393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HR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37024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21506" y="393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5072983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5657465" y="393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Согласовать с HR срок оформления штата и кадровых приказов по филиалу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8400" y="393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9385" y="393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Перечень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Все 60 объектов по приоритету: волна, затем балл. Лист 6 из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970000"/>
            <a:ext cx="25049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7" y="970000"/>
            <a:ext cx="141945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Объект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7074" y="970000"/>
            <a:ext cx="166995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Бизнес-владелец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7024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1506" y="970000"/>
            <a:ext cx="75147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Подпроцесс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3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Этап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465" y="970000"/>
            <a:ext cx="217093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400" y="970000"/>
            <a:ext cx="50098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Волна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9385" y="970000"/>
            <a:ext cx="41748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134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17" y="134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Решение об оплате и проведение платежа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7074" y="134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7024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321506" y="134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072983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7465" y="134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Согласовать с Финблоком норматив срока от передачи реестра до проведения платежа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400" y="134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385" y="134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171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17" y="171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Планирование и решение по прогнозу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074" y="171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7024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321506" y="171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072983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57465" y="171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Согласовать с Финблоком срок возврата утверждённого прогноза в ДУП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400" y="171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9385" y="171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25" y="208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17" y="208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Подготовка пакета документов и доверенностей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7074" y="208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Юр блок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7024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321506" y="208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072983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57465" y="208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Согласовать с Юр блоком срок подготовки пакета документов и доверенностей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400" y="208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9385" y="208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245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17" y="245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Организация поверки оборудования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074" y="245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операционной деятельности (исполнитель — внешняя лаборатория)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7024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4321506" y="245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72983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5657465" y="245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Рассчитать экономику собственной аккредитации против аутсорса поверки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8400" y="245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9385" y="245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61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282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7617" y="282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Разработка проектной документации (устав, план, приказ)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67074" y="282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реализации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37024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321506" y="282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72983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5657465" y="282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Утвердить типовой комплект: устав, план проекта, приказ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28400" y="282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9385" y="282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125" y="319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617" y="319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Разработка и поддержка методологии, шаблонов, реестров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7074" y="319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Главный менеджер проектов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37024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321506" y="319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72983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5657465" y="319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Актуализировать методологию: роли вместо фамилий, глоссарий, архивация устаревшего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28400" y="319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9385" y="319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125" y="356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617" y="356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Регистрация проекта в портфеле / системе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67074" y="356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реализации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37024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4321506" y="356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5072983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57465" y="356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Определить обязательные поля карточки проекта в SimBASE и запретить регистрацию без них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28400" y="356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9385" y="356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125" y="393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617" y="393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Служебная записка о необходимости закрытия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67074" y="393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37024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4321506" y="393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5072983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57465" y="393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Ввести типовую форму служебной записки о закрытии проекта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8400" y="393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9385" y="393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Перечень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Все 60 объектов по приоритету: волна, затем балл. Лист 7 из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970000"/>
            <a:ext cx="25049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7" y="970000"/>
            <a:ext cx="141945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Объект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7074" y="970000"/>
            <a:ext cx="166995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Бизнес-владелец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7024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1506" y="970000"/>
            <a:ext cx="75147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Подпроцесс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3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Этап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465" y="970000"/>
            <a:ext cx="217093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400" y="970000"/>
            <a:ext cx="50098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Волна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9385" y="970000"/>
            <a:ext cx="41748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134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17" y="134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Оформление приказа на реализацию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7074" y="134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реализации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7024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321506" y="134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072983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57465" y="134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Свести устав и план в единую форму приказа на реализацию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400" y="134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385" y="134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171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17" y="171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Финансовое закрытие проекта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074" y="171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7024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1506" y="171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072983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657465" y="171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Согласовать с Финблоком состав и срок пакета документов на закрытие проекта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400" y="171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9385" y="171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25" y="208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17" y="208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Сопровождение канала связи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7074" y="208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ДУП — Зам. по операционной деятельности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7024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4321506" y="208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владелец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2983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657465" y="208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Закрепить мониторинг канала связи в Zabbix и правило реакции на отказ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400" y="208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9385" y="208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245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17" y="245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Утверждение бюджета, кредитование при необходимости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074" y="245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7024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4321506" y="245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5072983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57465" y="245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срок входит в SLA по объекту 1.5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8400" y="245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вне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9385" y="245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33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282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7617" y="282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Формирование бюджета на логистику / демонтаж, закрытие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67074" y="282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37024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321506" y="282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5072983" y="282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57465" y="282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подтверждение закрытия приходит из Финблока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28400" y="282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вне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9385" y="282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125" y="319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53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617" y="319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Сбор актов сверок, уведомления о расторжении договоров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7074" y="319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37024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4321506" y="319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5072983" y="319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57465" y="319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данные предоставляются по запросу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28400" y="319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вне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29385" y="319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125" y="356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617" y="356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Бюджетирование проекта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67074" y="356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 — владелец процесса целиком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37024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1506" y="356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5072983" y="356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5657465" y="356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очередь ведётся по подпроцессу 1.5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28400" y="356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9385" y="356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7125" y="393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617" y="393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Вывод продукта в реализацию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67074" y="393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ДРБ — владелец решения по продукту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737024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клиент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21506" y="393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5072983" y="393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5657465" y="393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очередь ведётся по подпроцессу 1.2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28400" y="393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29385" y="393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Перечень процессов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Все 60 объектов по приоритету: волна, затем балл. Лист 8 из 8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970000"/>
            <a:ext cx="25049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617" y="970000"/>
            <a:ext cx="141945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Объект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7074" y="970000"/>
            <a:ext cx="1669950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Бизнес-владелец</a:t>
            </a:r>
          </a:p>
        </p:txBody>
      </p:sp>
      <p:sp>
        <p:nvSpPr>
          <p:cNvPr id="7" name="Rectangle 6"/>
          <p:cNvSpPr/>
          <p:nvPr/>
        </p:nvSpPr>
        <p:spPr>
          <a:xfrm>
            <a:off x="3737024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Процесс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1506" y="970000"/>
            <a:ext cx="75147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Подпроцесс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2983" y="970000"/>
            <a:ext cx="584482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Этап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7465" y="970000"/>
            <a:ext cx="217093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28400" y="970000"/>
            <a:ext cx="500985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Волна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9385" y="970000"/>
            <a:ext cx="417487" cy="37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134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617" y="134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Осуществление закупок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67074" y="134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Закупщики (ОЛЖА) — владелец процедуры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37024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1506" y="134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072983" y="134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657465" y="134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очередь ведётся по подпроцессу 1.7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400" y="134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9385" y="134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125" y="171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17" y="171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Продление и модернизация контракта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67074" y="171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ДРБ — владелец presale и сделки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37024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1506" y="171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5072983" y="171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657465" y="171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очередь ведётся по подпроцессу 2.4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400" y="171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9385" y="171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125" y="2080000"/>
            <a:ext cx="25049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7617" y="2080000"/>
            <a:ext cx="141945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Проведение платежей по проектам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67074" y="2080000"/>
            <a:ext cx="1669950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 — владелец решения по оплате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37024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1506" y="2080000"/>
            <a:ext cx="75147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072983" y="2080000"/>
            <a:ext cx="584482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5657465" y="2080000"/>
            <a:ext cx="217093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очередь ведётся по подпроцессу 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28400" y="2080000"/>
            <a:ext cx="500985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9385" y="2080000"/>
            <a:ext cx="417487" cy="3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2450000"/>
            <a:ext cx="25049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7617" y="2450000"/>
            <a:ext cx="141945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Прогноз и контроль бюджета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67074" y="2450000"/>
            <a:ext cx="1669950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Финблок — владелец решения и планирования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7024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участник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1506" y="2450000"/>
            <a:ext cx="75147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5072983" y="2450000"/>
            <a:ext cx="584482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5657465" y="2450000"/>
            <a:ext cx="217093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Отдельных действий не требуется — очередь ведётся по подпроцессам 2.3 и 2.6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28400" y="2450000"/>
            <a:ext cx="500985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9385" y="2450000"/>
            <a:ext cx="417487" cy="37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12000" bIns="12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>
                <a:solidFill>
                  <a:srgbClr val="282828"/>
                </a:solidFill>
                <a:latin typeface="Golos Text"/>
              </a:rPr>
              <a:t>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Почему мы взялись за этот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Три предпосылки, с которых начался проект трансформации процессов ДУП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90000"/>
            <a:ext cx="2663250" cy="21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397125" y="1090000"/>
            <a:ext cx="420000" cy="26000"/>
          </a:xfrm>
          <a:prstGeom prst="rect">
            <a:avLst/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557125" y="1330000"/>
            <a:ext cx="234325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13D85"/>
                </a:solidFill>
                <a:latin typeface="Golos Text SemiBold"/>
              </a:rPr>
              <a:t>Портфель вырос, управление —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125" y="1950000"/>
            <a:ext cx="2343250" cy="1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ДУП ведёт доходные проекты компании по ГЧП и госзакупу: фото-видеофиксация, каналы связи, эко-мониторинг. Портфель и филиальная сеть выросли, а управление осталось на устных договорённостях.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375" y="1090000"/>
            <a:ext cx="2663250" cy="21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9" name="Rectangle 8"/>
          <p:cNvSpPr/>
          <p:nvPr/>
        </p:nvSpPr>
        <p:spPr>
          <a:xfrm>
            <a:off x="3240375" y="1090000"/>
            <a:ext cx="420000" cy="26000"/>
          </a:xfrm>
          <a:prstGeom prst="rect">
            <a:avLst/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0" name="TextBox 9"/>
          <p:cNvSpPr txBox="1"/>
          <p:nvPr/>
        </p:nvSpPr>
        <p:spPr>
          <a:xfrm>
            <a:off x="3400375" y="1330000"/>
            <a:ext cx="234325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13D85"/>
                </a:solidFill>
                <a:latin typeface="Golos Text SemiBold"/>
              </a:rPr>
              <a:t>Методика компании обязательна, но не применяется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0375" y="1950000"/>
            <a:ext cx="2343250" cy="1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В компании действует Методика системы управления бизнес-процессами KT_METHOD v1. Она обязательна для всех работников (п. 4). Владение по должностям уже закреплено, но паспортов процессов нет и метрики не установлены.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3625" y="1090000"/>
            <a:ext cx="2663250" cy="215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3" name="Rectangle 12"/>
          <p:cNvSpPr/>
          <p:nvPr/>
        </p:nvSpPr>
        <p:spPr>
          <a:xfrm>
            <a:off x="6083625" y="1090000"/>
            <a:ext cx="420000" cy="26000"/>
          </a:xfrm>
          <a:prstGeom prst="rect">
            <a:avLst/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6243625" y="1330000"/>
            <a:ext cx="2343250" cy="5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13D85"/>
                </a:solidFill>
                <a:latin typeface="Golos Text SemiBold"/>
              </a:rPr>
              <a:t>Спорить о сроке приходится словами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3625" y="1950000"/>
            <a:ext cx="2343250" cy="1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Фактические значения не измерялись. Ни доказать эффект изменения, ни назвать виновника срыва было нечем — только мнения.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125" y="3480000"/>
            <a:ext cx="8349750" cy="64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Цель проекта: выстроить управляемую, прозрачную и масштабируемую модель управления проектами — предсказуемый запуск во всех филиалах, единые правила стыка филиала, ДУП и центрального офиса, восстановленное исполнение методологии.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Что уже сделано в проекте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Диагностика завершена: процессная модель описана, владение закреплено, метрики и очередь работ определены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90000"/>
            <a:ext cx="4064875" cy="28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620000" bIns="90000" wrap="square"/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Слой А — текущий анализ: интервью, дерево процессов v4, RACI-матрица, кадровая матрица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Слой B — наследие методологии «Сергек»: 434 документа, реестр Confluence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Методика системы управления бизнес-процессами KT_METHOD v1 — 52 страницы</a:t>
            </a:r>
          </a:p>
          <a:p>
            <a:pPr algn="l">
              <a:lnSpc>
                <a:spcPct val="130000"/>
              </a:lnSpc>
              <a:spcBef>
                <a:spcPts val="1100"/>
              </a:spcBef>
            </a:pPr>
            <a:r>
              <a:rPr sz="950">
                <a:solidFill>
                  <a:srgbClr val="282828"/>
                </a:solidFill>
                <a:latin typeface="Golos Text"/>
              </a:rPr>
              <a:t>Матрица стыков ДУП со смежными подразделениями центрального офиса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125" y="1270000"/>
            <a:ext cx="3744875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013D85"/>
                </a:solidFill>
                <a:latin typeface="Golos Text SemiBold"/>
              </a:rPr>
              <a:t>Что проанализировали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82000" y="1090000"/>
            <a:ext cx="4064875" cy="286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7" name="TextBox 6"/>
          <p:cNvSpPr txBox="1"/>
          <p:nvPr/>
        </p:nvSpPr>
        <p:spPr>
          <a:xfrm>
            <a:off x="4842000" y="1270000"/>
            <a:ext cx="3744875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28AB6A"/>
                </a:solidFill>
                <a:latin typeface="Golos Text SemiBold"/>
              </a:rPr>
              <a:t>Что построено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2000" y="1710000"/>
            <a:ext cx="3744875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Реестр процессной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2000" y="1940000"/>
            <a:ext cx="374487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60 объектов: процессы, подпроцессы и этапы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2000" y="2250000"/>
            <a:ext cx="3744875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Карта ролей ДУП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2000" y="2480000"/>
            <a:ext cx="374487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роль ДУП и бизнес-владелец у каждого объекта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2000" y="2790000"/>
            <a:ext cx="3744875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Реестр метрик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2000" y="3020000"/>
            <a:ext cx="374487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386 критериев оценки с формулой и источником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2000" y="3330000"/>
            <a:ext cx="3744875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Приоритеты реинжиниринга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2000" y="3560000"/>
            <a:ext cx="3744875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54 объекта — балл, место в очереди и обоснование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125" y="4140000"/>
            <a:ext cx="834975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A7B6BD"/>
                </a:solidFill>
                <a:latin typeface="Golos Text"/>
              </a:rPr>
              <a:t>Четыре файла собираются из одного источника: правка в карте ролей сама проходит в метрики, приоритеты и эту презентацию — разойтись между собой они не могут.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Система управления процессами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Цикл из Методики KT_METHOD v1 и инструменты, которыми этот цикл ведём в проекте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970000"/>
            <a:ext cx="8349750" cy="52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Процесс — сквозная последовательность действий, преобразующая входы в результат, ценный для клиента. У процесса ровно один бизнес-владелец, отвечающий за результат целиком.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Система управления процессами нужна, чтобы описывать, измерять и улучшать работу одинаково во всех подразделениях, не спорить о том, кто владелец, и не терять ответственность при передаче процесса между блоками (п. 3 Методики).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125" y="1530000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Medium"/>
              </a:rPr>
              <a:t>Цикл управления — пять этапов (Таблица 20 Методики)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125" y="1770000"/>
            <a:ext cx="1589950" cy="28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1. Проектирование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125" y="2070000"/>
            <a:ext cx="1589950" cy="5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282828"/>
                </a:solidFill>
                <a:latin typeface="Golos Text"/>
              </a:rPr>
              <a:t>Схема, паспорт процесса, карта SIPOC, KPI и SLA, назначение владельца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7075" y="1770000"/>
            <a:ext cx="1589950" cy="28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2. Внедрение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87075" y="2070000"/>
            <a:ext cx="1589950" cy="5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282828"/>
                </a:solidFill>
                <a:latin typeface="Golos Text"/>
              </a:rPr>
              <a:t>Автоматизация шагов, интеграция систем, обучение, ввод в эксплуатацию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7025" y="1770000"/>
            <a:ext cx="1589950" cy="28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3. Анализ и оценка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77025" y="2070000"/>
            <a:ext cx="1589950" cy="5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282828"/>
                </a:solidFill>
                <a:latin typeface="Golos Text"/>
              </a:rPr>
              <a:t>Сбор фактических значений метрик, контроль SLA, отчётность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6975" y="1770000"/>
            <a:ext cx="1589950" cy="280000"/>
          </a:xfrm>
          <a:prstGeom prst="roundRect">
            <a:avLst>
              <a:gd name="adj" fmla="val 12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4. Улучшение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6975" y="2070000"/>
            <a:ext cx="1589950" cy="5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282828"/>
                </a:solidFill>
                <a:latin typeface="Golos Text"/>
              </a:rPr>
              <a:t>Поиск узких мест, оценка зрелости, приоритизация улучшений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6925" y="1770000"/>
            <a:ext cx="1589950" cy="28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5. Оптимизация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56925" y="2070000"/>
            <a:ext cx="1589950" cy="5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282828"/>
                </a:solidFill>
                <a:latin typeface="Golos Text"/>
              </a:rPr>
              <a:t>Устранение узких мест, рост зрелости, тиражирование решений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125" y="2670000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Medium"/>
              </a:rPr>
              <a:t>Инструменты, которые применяем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125" y="292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Реестр процессов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Процесс, подпроцесс и этап в одном дереве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02083" y="292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Роль в процессе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Владелец, участник или клиент у каждого объекта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7041" y="292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Паспорт процесса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Границы, вход, выход, владелец, показатели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1999" y="292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SIPOC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Поставщик, вход, шаги, выход, клиент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957" y="292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Метрики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Формула, единица и источник данных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1915" y="292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KPI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Целевое значение и факт по объекту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125" y="361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SLA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Норматив срока на стыке с другим подразделением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2083" y="361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Базовая линия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Замер «до» и аудит по чек-листам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7041" y="361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Зрелость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Семь критериев Методики, шкала 1–5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1999" y="361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Очередь работ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Балл, волна и порядок реинжиниринга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16957" y="361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Регламент и чек-лист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Письменное правило, по которому работают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1915" y="3610000"/>
            <a:ext cx="1324958" cy="62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0000" rIns="70000" tIns="60000" bIns="9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013D85"/>
                </a:solidFill>
                <a:latin typeface="Golos Text SemiBold"/>
              </a:rPr>
              <a:t>Мониторинговый отчёт</a:t>
            </a:r>
          </a:p>
          <a:p>
            <a:pPr>
              <a:lnSpc>
                <a:spcPct val="110000"/>
              </a:lnSpc>
              <a:spcBef>
                <a:spcPts val="3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Проект, операция и портфель на одном контуре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Как измеряется процесс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Формулы и целевые значения взяты из Глав 9–13 Методики, а не придуманы под задачу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1160000"/>
            <a:ext cx="1335960" cy="26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Группа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3085" y="1160000"/>
            <a:ext cx="2504925" cy="26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Метрика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238010" y="1160000"/>
            <a:ext cx="2838915" cy="26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Формула расчёта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6925" y="1160000"/>
            <a:ext cx="1669950" cy="26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Целевое значение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125" y="1422000"/>
            <a:ext cx="133596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Время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3085" y="1422000"/>
            <a:ext cx="250492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Cycle Time — время цикла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8010" y="1422000"/>
            <a:ext cx="283891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CT = Дата завершения − Дата начала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76925" y="1422000"/>
            <a:ext cx="166995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≤ норматив SLA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125" y="1684000"/>
            <a:ext cx="133596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Время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3085" y="1684000"/>
            <a:ext cx="250492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On-Time % — соблюдение срока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8010" y="1684000"/>
            <a:ext cx="283891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OT% = (Выполнено в срок ÷ Всего задач) × 100%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76925" y="1684000"/>
            <a:ext cx="166995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≥ 95%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1946000"/>
            <a:ext cx="133596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Время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3085" y="1946000"/>
            <a:ext cx="250492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Wait Time % — доля ожидания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8010" y="1946000"/>
            <a:ext cx="283891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WT% = (Время ожидания ÷ Cycle Time) ×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76925" y="1946000"/>
            <a:ext cx="166995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&lt; 20%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125" y="2208000"/>
            <a:ext cx="133596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Качество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3085" y="2208000"/>
            <a:ext cx="250492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First Pass Yield — выход с первого раза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8010" y="2208000"/>
            <a:ext cx="283891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FPY = (Единицы без доработок ÷ Всего) × 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6925" y="2208000"/>
            <a:ext cx="166995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≥ 90%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125" y="2470000"/>
            <a:ext cx="133596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Качество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3085" y="2470000"/>
            <a:ext cx="250492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Defect Rate — доля дефектов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8010" y="2470000"/>
            <a:ext cx="283891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DR = (Дефекты ÷ Всего единиц) × 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76925" y="2470000"/>
            <a:ext cx="166995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&lt; 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125" y="2732000"/>
            <a:ext cx="133596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Стоимость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3085" y="2732000"/>
            <a:ext cx="250492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COPQ — стоимость несоответствий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38010" y="2732000"/>
            <a:ext cx="283891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COPQ = Внутренние потери + Внешние потери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76925" y="2732000"/>
            <a:ext cx="166995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устойчивое снижение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125" y="2994000"/>
            <a:ext cx="133596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Стоимость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3085" y="2994000"/>
            <a:ext cx="250492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Budget Variance — отклонение от бюджета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8010" y="2994000"/>
            <a:ext cx="283891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BV = ((Факт − Бюджет) ÷ Бюджет) × 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76925" y="2994000"/>
            <a:ext cx="166995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BV ≤ 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125" y="3256000"/>
            <a:ext cx="133596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Загрузка и автоматизация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3085" y="3256000"/>
            <a:ext cx="250492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Bottleneck Index — индекс узкого места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38010" y="3256000"/>
            <a:ext cx="283891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BNI = Загрузка узкого места ÷ Средняя загрузка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76925" y="3256000"/>
            <a:ext cx="166995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≤ 1,15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7125" y="3518000"/>
            <a:ext cx="133596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Загрузка и автоматизация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3085" y="3518000"/>
            <a:ext cx="250492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SLA Compliance % — соблюдение SLA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38010" y="3518000"/>
            <a:ext cx="2838915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SLA% = (Выполнено в SLA ÷ Всего задач) × 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76925" y="3518000"/>
            <a:ext cx="1669950" cy="26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≥ 95%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125" y="3780000"/>
            <a:ext cx="133596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Загрузка и автоматизация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33085" y="3780000"/>
            <a:ext cx="250492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Уровень автоматизации (Automation Rate)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8010" y="3780000"/>
            <a:ext cx="2838915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УА = Кша ÷ Кшо × 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76925" y="3780000"/>
            <a:ext cx="1669950" cy="26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≥ 70%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125" y="4262000"/>
            <a:ext cx="834975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В справочнике Методики 26 метрик; по объектам реестра из них разложено 386 критериев оценки.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Набор метрик зависит от роли ДУП: владелец отвечает за объект целиком, участник — за свой шаг, клиент — за требования к входу и приёмку.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Как считается приоритет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Пять критериев, шкала от 1 до 5 и вес критерия — одинаково для всех объектов реестра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1190000"/>
            <a:ext cx="2504925" cy="356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Критерий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2902050" y="1190000"/>
            <a:ext cx="834975" cy="356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Вес</a:t>
            </a:r>
          </a:p>
        </p:txBody>
      </p:sp>
      <p:sp>
        <p:nvSpPr>
          <p:cNvPr id="6" name="Rectangle 5"/>
          <p:cNvSpPr/>
          <p:nvPr/>
        </p:nvSpPr>
        <p:spPr>
          <a:xfrm>
            <a:off x="3737025" y="1190000"/>
            <a:ext cx="5009850" cy="356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На какой вопрос отвечает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125" y="1546000"/>
            <a:ext cx="2504925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Влияние на результат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2050" y="1546000"/>
            <a:ext cx="834975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737025" y="1546000"/>
            <a:ext cx="5009850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Насколько объект определяет срок запуска и доходность проекта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125" y="1902000"/>
            <a:ext cx="2504925" cy="35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Экономия времени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2050" y="1902000"/>
            <a:ext cx="834975" cy="35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7025" y="1902000"/>
            <a:ext cx="5009850" cy="35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Сколько времени цикла высвобождается после вмешательства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125" y="2258000"/>
            <a:ext cx="2504925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Экономия денег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02050" y="2258000"/>
            <a:ext cx="834975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7025" y="2258000"/>
            <a:ext cx="5009850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Какой прямой денежный эффект даёт вмешательство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2614000"/>
            <a:ext cx="2504925" cy="35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Риск бездействия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2050" y="2614000"/>
            <a:ext cx="834975" cy="35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37025" y="2614000"/>
            <a:ext cx="5009850" cy="35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Что произойдёт, если объект не трогать в этом году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125" y="2970000"/>
            <a:ext cx="2504925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Лёгкость реализации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02050" y="2970000"/>
            <a:ext cx="834975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37025" y="2970000"/>
            <a:ext cx="5009850" cy="35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282828"/>
                </a:solidFill>
                <a:latin typeface="Golos Text"/>
              </a:rPr>
              <a:t>Сколько усилий и согласий требует вмешательство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125" y="3526000"/>
            <a:ext cx="8349750" cy="46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Golos Text SemiBold"/>
              </a:rPr>
              <a:t>Балл объекта = сумма (оценка от 1 до 5 × вес критерия) ÷ 500 ×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125" y="4066000"/>
            <a:ext cx="8349750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Вес отражает управленческий приоритет: то, что даёт результат, стоит дороже того, что даёт удобство.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В файле приоритетов расписаны все пять ступеней каждой шкалы — оценка 2 или 4 не ставится на глаз и защищается на комитете.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Почему очередь не совпадает с рейтингом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Волна 1 идёт по баллу. Дальше место в очереди задают пять правил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13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125" y="112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Паспорт не держит очередь быстрых побед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125" y="1380000"/>
            <a:ext cx="780975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Паспорт обязателен и не отодвигает объект с более высоким баллом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125" y="170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125" y="179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125" y="178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Базовая линия измеряет эффект и не держит старт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125" y="2040000"/>
            <a:ext cx="780975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Замер «до» доказывает эффект и не блокирует соседние работы — п. 176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125" y="236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125" y="245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125" y="244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Узкое место раньше соседних шагов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125" y="2700000"/>
            <a:ext cx="780975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Пока шаг-ограничитель на месте, остальные ускорения не дают срока — п. 140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125" y="302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7125" y="311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125" y="310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Своё раньше общего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125" y="3360000"/>
            <a:ext cx="780975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Требовать норматив у смежника убедительнее, когда исполняешь свой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125" y="368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125" y="377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125" y="376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Автоматизация после регламента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125" y="4020000"/>
            <a:ext cx="780975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Автоматизировать неисполняемый процесс — закрепить беспорядок в коде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Где мы были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До системы управления: правила либо не исполнялись, либо их не было — это диагноз работы, а не оценка людей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70000"/>
            <a:ext cx="700000" cy="420000"/>
          </a:xfrm>
          <a:prstGeom prst="roundRect">
            <a:avLst>
              <a:gd name="adj" fmla="val 12000"/>
            </a:avLst>
          </a:prstGeom>
          <a:solidFill>
            <a:srgbClr val="E9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7125" y="1060000"/>
            <a:ext cx="75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объекта из 60 описаны, но не исполняются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7125" y="1310000"/>
            <a:ext cx="750975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Проект стартует по договорённости, а не по правилу: срок зависит от того, кто вспомнил о шаге и до кого дошли руки.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125" y="161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125" y="1690000"/>
            <a:ext cx="700000" cy="420000"/>
          </a:xfrm>
          <a:prstGeom prst="roundRect">
            <a:avLst>
              <a:gd name="adj" fmla="val 12000"/>
            </a:avLst>
          </a:prstGeom>
          <a:solidFill>
            <a:srgbClr val="E9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7125" y="1680000"/>
            <a:ext cx="75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процедуры не существует вовсе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7125" y="1930000"/>
            <a:ext cx="750975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Подтверждение готовности продукта и проверка завершения пилота решаются каждый раз заново и доходят до директора.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125" y="223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125" y="2310000"/>
            <a:ext cx="700000" cy="420000"/>
          </a:xfrm>
          <a:prstGeom prst="roundRect">
            <a:avLst>
              <a:gd name="adj" fmla="val 12000"/>
            </a:avLst>
          </a:prstGeom>
          <a:solidFill>
            <a:srgbClr val="E9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7125" y="2300000"/>
            <a:ext cx="75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критериев из 386 измеряется сегодня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7125" y="2550000"/>
            <a:ext cx="750975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Ни срок, ни стоимость, ни качество подтвердить нечем: спор о результате выигрывает тот, кто увереннее.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125" y="285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7125" y="2930000"/>
            <a:ext cx="700000" cy="420000"/>
          </a:xfrm>
          <a:prstGeom prst="roundRect">
            <a:avLst>
              <a:gd name="adj" fmla="val 12000"/>
            </a:avLst>
          </a:prstGeom>
          <a:solidFill>
            <a:srgbClr val="E9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7125" y="2920000"/>
            <a:ext cx="75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из 5 — уровень зрелости каждого сквозного процесса ДУП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7125" y="3170000"/>
            <a:ext cx="750975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По Методике это «Начальный»: результат держится на конкретном человеке, а не на системе. Целевой уровень — 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125" y="347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125" y="3550000"/>
            <a:ext cx="700000" cy="420000"/>
          </a:xfrm>
          <a:prstGeom prst="roundRect">
            <a:avLst>
              <a:gd name="adj" fmla="val 12000"/>
            </a:avLst>
          </a:prstGeom>
          <a:solidFill>
            <a:srgbClr val="E94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Golos Text SemiBold"/>
              </a:rPr>
              <a:t>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7125" y="3540000"/>
            <a:ext cx="75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портфеля проверено аудитом по чек-листам с 2020 года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7125" y="3790000"/>
            <a:ext cx="7509750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Чек-листы написаны и лежат в методологии. Ошибка в проектных данных всплывает не на аудите, а на приёмке у госпартнёра.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125" y="4200000"/>
            <a:ext cx="834975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A7B6BD"/>
                </a:solidFill>
                <a:latin typeface="Golos Text"/>
              </a:rPr>
              <a:t>Важная оговорка: двенадцать из пятнадцати узких мест уже описаны в методологии компании. Проблема не в том, что никто не придумал правил, а в том, что правила перестали исполняться.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Где мы сейчас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Систему управления собрали. Исполнение процессов ещё прежнее — очередь как раз про то, чтобы это изменить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30000"/>
            <a:ext cx="4084875" cy="248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0000" rIns="140000" tIns="48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— 60 объектов сведены в один реестр: процесс, подпроцесс, этап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— Роль ДУП названа у каждого: 25 — владелец, 20 — участник, 15 — клиент. Неназначенных — 0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— 386 критериев оценки расписаны формулой и источником данных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— Очередь из 3 волн: место объекта задаёт балл, паспорт очередь не держит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125" y="1150000"/>
            <a:ext cx="3764875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8AB6A"/>
                </a:solidFill>
                <a:latin typeface="Golos Text SemiBold"/>
              </a:rPr>
              <a:t>Система уже работает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2000" y="1030000"/>
            <a:ext cx="4084875" cy="248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0000" rIns="140000" tIns="480000" bIns="90000" wrap="square"/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— 23 объектов по-прежнему не исполняются так, как написано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— 2 процедуры по-прежнему нет: готовность продукта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— Ни один критерий ещё не измеряется — факта «до» нет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000">
                <a:solidFill>
                  <a:srgbClr val="282828"/>
                </a:solidFill>
                <a:latin typeface="Golos Text"/>
              </a:rPr>
              <a:t>— Зрелость каждого сквозного процесса — 1 из 5. Паспорта блоков 1, 2 и 4 не утверждены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2000" y="1150000"/>
            <a:ext cx="3764875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E94235"/>
                </a:solidFill>
                <a:latin typeface="Golos Text SemiBold"/>
              </a:rPr>
              <a:t>В работе процессов пока ничего не сдвинулось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125" y="3670000"/>
            <a:ext cx="8349750" cy="62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Golos Text SemiBold"/>
              </a:rPr>
              <a:t>Система ответила на вопросы «кто владелец», «чем измеряем» и «что берём первым».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Golos Text SemiBold"/>
              </a:rPr>
              <a:t>Срок, деньги и качество сдвинутся, когда заработают регламенты волны запуска, а не в момент, когда реестр собран.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Что предлагаем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Норматив есть — возвращаем в работу. Норматива нет — пишем правило и применяем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90000"/>
            <a:ext cx="4094875" cy="360000"/>
          </a:xfrm>
          <a:prstGeom prst="roundRect">
            <a:avLst>
              <a:gd name="adj" fmla="val 8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Вернуть в работу — 9 объектов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450000"/>
            <a:ext cx="4094875" cy="21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00000" tIns="80000" bIns="90000" wrap="square"/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1.1  Приём пакета от ДРБ. Чек-лист минимального пакета и возврат неполного комплекта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1.5  ФЭМ и бюджет. Ревизия нормативов модели: поверка, переносы, цены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1.7  Закупки. Нормативы сроков по шагам и точка эскалации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1.9  Реестр платежей. Инструкция трёх потоков ВУ / КИЗ / КОЗ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2.3  Прогноз поступлений. Реестр и календарь вместо чата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2.5  Переносы оборудования. Учёт «факт против ФЭМ»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2.7  Дефекты компонентов. Маршрут из эксплуатации в ТЗ и закупки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4.2  Аудит данных. Чек-листы методологии, контур остановлен с 2020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4.3  Статус и отчётность. Один регламент: проект, операция, портфель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2000" y="1090000"/>
            <a:ext cx="4094875" cy="360000"/>
          </a:xfrm>
          <a:prstGeom prst="roundRect">
            <a:avLst>
              <a:gd name="adj" fmla="val 8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Написать правило и начать применять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2000" y="1450000"/>
            <a:ext cx="4094875" cy="21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0000" rIns="120000" tIns="100000" bIns="90000" wrap="square"/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282828"/>
                </a:solidFill>
                <a:latin typeface="Golos Text"/>
              </a:rPr>
              <a:t>В методологии этих процедур нет. Пока их не напишем, каждый случай решается заново.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>
                <a:solidFill>
                  <a:srgbClr val="1E1E1E"/>
                </a:solidFill>
                <a:latin typeface="Golos Text SemiBold"/>
              </a:rPr>
              <a:t>1.2  Готовность продукта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444746"/>
                </a:solidFill>
                <a:latin typeface="Golos Text"/>
              </a:rPr>
              <a:t>Gate «пилот → реализация»: критерии, подпись, право остановить старт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>
                <a:solidFill>
                  <a:srgbClr val="1E1E1E"/>
                </a:solidFill>
                <a:latin typeface="Golos Text SemiBold"/>
              </a:rPr>
              <a:t>2.0  Передача в сопровождение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444746"/>
                </a:solidFill>
                <a:latin typeface="Golos Text"/>
              </a:rPr>
              <a:t>Чек-лист handover: состав, дата, ответственный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100">
                <a:solidFill>
                  <a:srgbClr val="1E1E1E"/>
                </a:solidFill>
                <a:latin typeface="Golos Text SemiBold"/>
              </a:rPr>
              <a:t>Б.5  Открытие филиала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444746"/>
                </a:solidFill>
                <a:latin typeface="Golos Text"/>
              </a:rPr>
              <a:t>Сквозной маршрут Юр → HR → Финблок → ДУП и сроки по этапам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125" y="3670000"/>
            <a:ext cx="4094875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 tIns="6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13D85"/>
                </a:solidFill>
                <a:latin typeface="Golos Text SemiBold"/>
              </a:rPr>
              <a:t>Описать то, чем владеем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Паспорта блоков 1, 2 и 4, чек-лист передачи и положение о контроле качества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52000" y="3670000"/>
            <a:ext cx="4094875" cy="5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 tIns="6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013D85"/>
                </a:solidFill>
                <a:latin typeface="Golos Text SemiBold"/>
              </a:rPr>
              <a:t>Оцифровать то, что уже исполняется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Единая карточка и автопрогноз — после регламента, иначе в системе закрепится беспорядок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Что получит компания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Сначала процессом можно управлять. Затем это видно в сроке, деньгах и прогнозе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970000"/>
            <a:ext cx="4094875" cy="320000"/>
          </a:xfrm>
          <a:prstGeom prst="roundRect">
            <a:avLst>
              <a:gd name="adj" fmla="val 8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Golos Text SemiBold"/>
              </a:rPr>
              <a:t>Управляемость и прозрачность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125" y="1370000"/>
            <a:ext cx="4034875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Владелец и паспорт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125" y="1610000"/>
            <a:ext cx="40148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Границы, вход, выход и один ответственный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125" y="1890000"/>
            <a:ext cx="4034875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Прозрачность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125" y="2130000"/>
            <a:ext cx="40148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Показатель с источником данных, а не мнение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125" y="2410000"/>
            <a:ext cx="4034875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Мониторинговый отчёт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125" y="2650000"/>
            <a:ext cx="40148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Каждый месяц: проект, операция, портфель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125" y="2930000"/>
            <a:ext cx="4034875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Одинаковый старт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125" y="3170000"/>
            <a:ext cx="4014875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Старт по чек-листу, а не по памяти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2000" y="970000"/>
            <a:ext cx="4094875" cy="320000"/>
          </a:xfrm>
          <a:prstGeom prst="roundRect">
            <a:avLst>
              <a:gd name="adj" fmla="val 8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Golos Text SemiBold"/>
              </a:rPr>
              <a:t>Срок, деньги, регулярность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52000" y="1370000"/>
            <a:ext cx="1637950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Показатель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9950" y="1370000"/>
            <a:ext cx="1310360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Сейчас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0310" y="1370000"/>
            <a:ext cx="1146565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За 12 месяцев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2000" y="1670000"/>
            <a:ext cx="163795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Срок старта проекта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9950" y="1670000"/>
            <a:ext cx="131036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Сегодня не измеряется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0310" y="1670000"/>
            <a:ext cx="114656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−30% к базовой линии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2000" y="1970000"/>
            <a:ext cx="163795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Полный пакет на старте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9950" y="1970000"/>
            <a:ext cx="131036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Не измеряется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0310" y="1970000"/>
            <a:ext cx="114656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≥ 90% проектов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52000" y="2270000"/>
            <a:ext cx="163795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Оплаты в срок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9950" y="2270000"/>
            <a:ext cx="131036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По обстоятельствам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310" y="2270000"/>
            <a:ext cx="114656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≥ 85% заявок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52000" y="2570000"/>
            <a:ext cx="163795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Прогноз поступлений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9950" y="2570000"/>
            <a:ext cx="131036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Чаты и разовые запросы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0310" y="2570000"/>
            <a:ext cx="114656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100% по календарю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52000" y="2870000"/>
            <a:ext cx="163795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Аудит портфеля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9950" y="2870000"/>
            <a:ext cx="131036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0% с 2020 года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00310" y="2870000"/>
            <a:ext cx="114656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100% за год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125" y="3430000"/>
            <a:ext cx="8349750" cy="1120000"/>
          </a:xfrm>
          <a:prstGeom prst="roundRect">
            <a:avLst>
              <a:gd name="adj" fmla="val 10000"/>
            </a:avLst>
          </a:prstGeom>
          <a:solidFill>
            <a:srgbClr val="1C3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0000" rIns="160000" tIns="70000" bIns="70000" wrap="square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Зрелость с 1 до 3: портфель больше не держится на одном человеке.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На уровне 1 уход заместителя обнуляет срок, пакет и прогноз: срыв виден, когда его уже принёс госпартнёр.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На уровне 3 отклонение денег и срока видно в ежемесячном отчёте, пока его можно поправить, а смежник отвечает по подписанному SLA.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Очередь реинжиниринга построена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7125" y="920000"/>
            <a:ext cx="8349750" cy="70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Первыми берём объекты с высшим баллом, которые ДУП начинает сам.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Паспорт и замер «до» идут в той же волне и очередь не держат. Договорённости со смежниками — следующая волна.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860000"/>
            <a:ext cx="1967437" cy="17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557125" y="2060000"/>
            <a:ext cx="1647437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>
                <a:solidFill>
                  <a:srgbClr val="28AB6A"/>
                </a:solidFill>
                <a:latin typeface="Golos Text SemiBold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125" y="2800000"/>
            <a:ext cx="1647437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объекта с баллом поставлены в очередь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4562" y="1860000"/>
            <a:ext cx="1967437" cy="17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2684562" y="2060000"/>
            <a:ext cx="1647437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>
                <a:solidFill>
                  <a:srgbClr val="28AB6A"/>
                </a:solidFill>
                <a:latin typeface="Golos Text SemiBold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4562" y="2800000"/>
            <a:ext cx="1647437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объектов волны 1: паспорта, замер и быстрые победы внутри ДУП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1999" y="1860000"/>
            <a:ext cx="1967437" cy="17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1" name="TextBox 10"/>
          <p:cNvSpPr txBox="1"/>
          <p:nvPr/>
        </p:nvSpPr>
        <p:spPr>
          <a:xfrm>
            <a:off x="4811999" y="2060000"/>
            <a:ext cx="1647437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>
                <a:solidFill>
                  <a:srgbClr val="28AB6A"/>
                </a:solidFill>
                <a:latin typeface="Golos Text SemiBold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1999" y="2800000"/>
            <a:ext cx="1647437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быстрых побед: высокая ценность, лёгкая реализация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9436" y="1860000"/>
            <a:ext cx="1967437" cy="17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6939436" y="2060000"/>
            <a:ext cx="1647437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>
                <a:solidFill>
                  <a:srgbClr val="013D85"/>
                </a:solidFill>
                <a:latin typeface="Golos Text SemiBold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9436" y="2800000"/>
            <a:ext cx="1647437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444746"/>
                </a:solidFill>
                <a:latin typeface="Golos Text"/>
              </a:rPr>
              <a:t>первых шагов — без бюджета и ИТ-разработки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376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125" y="3840000"/>
            <a:ext cx="834975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A7B6BD"/>
                </a:solidFill>
                <a:latin typeface="Golos Text"/>
              </a:rPr>
              <a:t>Источник: реестр из 60 объектов; оценка по 5 критериям на основании Методики KT_METHOD v1.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Три волны работ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Волна 1 — по убыванию балла; волны 2 и 3 ждут договорённости со смежником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70000"/>
            <a:ext cx="2689916" cy="420000"/>
          </a:xfrm>
          <a:prstGeom prst="roundRect">
            <a:avLst>
              <a:gd name="adj" fmla="val 1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Волна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510000"/>
            <a:ext cx="2689916" cy="118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8AB6A"/>
                </a:solidFill>
                <a:latin typeface="Golos Text SemiBold"/>
              </a:rPr>
              <a:t>Запуск: паспорта и быстрые победы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Паспорта, замер «до» и быстрые победы внутри ДУП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125" y="2750000"/>
            <a:ext cx="2689916" cy="3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25 объектов  ·  Старт программы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7041" y="1070000"/>
            <a:ext cx="2689916" cy="420000"/>
          </a:xfrm>
          <a:prstGeom prst="roundRect">
            <a:avLst>
              <a:gd name="adj" fmla="val 1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Волна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7041" y="1510000"/>
            <a:ext cx="2689916" cy="118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A87300"/>
                </a:solidFill>
                <a:latin typeface="Golos Text SemiBold"/>
              </a:rPr>
              <a:t>Стыки с ЦО и закрытие пробелов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Договориться о стыках и спроектировать то, чего нет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7041" y="2750000"/>
            <a:ext cx="2689916" cy="3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18 объектов  ·  Стыки с центральным офисом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6957" y="1070000"/>
            <a:ext cx="2689916" cy="420000"/>
          </a:xfrm>
          <a:prstGeom prst="roundRect">
            <a:avLst>
              <a:gd name="adj" fmla="val 10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Волна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6957" y="1510000"/>
            <a:ext cx="2689916" cy="118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4384F4"/>
                </a:solidFill>
                <a:latin typeface="Golos Text SemiBold"/>
              </a:rPr>
              <a:t>Масштаб, экономика и автоматизация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Пересмотреть экономику и закрепить результат в системах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6957" y="2750000"/>
            <a:ext cx="2689916" cy="3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4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8 объектов  ·  Масштаб программы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125" y="3190000"/>
            <a:ext cx="834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A7B6BD"/>
                </a:solidFill>
                <a:latin typeface="Golos Text"/>
              </a:rPr>
              <a:t>Отдельно: 3 объекта вне очереди — исполняются другим подразделением целиком, срок контролируется через SLA по родительскому объекту.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125" y="349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125" y="3520000"/>
            <a:ext cx="834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Medium"/>
              </a:rPr>
              <a:t>Из чего состоит волна 1: 25 объектов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125" y="3810000"/>
            <a:ext cx="2689916" cy="81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80000" bIns="80000" wrap="square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13D85"/>
                </a:solidFill>
                <a:latin typeface="Golos Text SemiBold"/>
              </a:rPr>
              <a:t>20</a:t>
            </a:r>
            <a:r>
              <a:rPr sz="1000">
                <a:solidFill>
                  <a:srgbClr val="013D85"/>
                </a:solidFill>
                <a:latin typeface="Golos Text SemiBold"/>
              </a:rPr>
              <a:t>   восстанавливаем исполнение внутри ДУП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Чек-листы, регламенты и упрощение отчётности — без согласования со смежником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041" y="3810000"/>
            <a:ext cx="2689916" cy="81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80000" bIns="80000" wrap="square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13D85"/>
                </a:solidFill>
                <a:latin typeface="Golos Text SemiBold"/>
              </a:rPr>
              <a:t>4</a:t>
            </a:r>
            <a:r>
              <a:rPr sz="1000">
                <a:solidFill>
                  <a:srgbClr val="013D85"/>
                </a:solidFill>
                <a:latin typeface="Golos Text SemiBold"/>
              </a:rPr>
              <a:t>   описываем границы процессов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Паспорта блоков 1, 2 и 4 и чек-лист передачи между реализацией и сопровождением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6957" y="3810000"/>
            <a:ext cx="2689916" cy="81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80000" bIns="80000" wrap="square"/>
          <a:lstStyle/>
          <a:p>
            <a:pPr algn="l">
              <a:lnSpc>
                <a:spcPct val="100000"/>
              </a:lnSpc>
            </a:pPr>
            <a:r>
              <a:rPr sz="1600">
                <a:solidFill>
                  <a:srgbClr val="013D85"/>
                </a:solidFill>
                <a:latin typeface="Golos Text SemiBold"/>
              </a:rPr>
              <a:t>1</a:t>
            </a:r>
            <a:r>
              <a:rPr sz="1000">
                <a:solidFill>
                  <a:srgbClr val="013D85"/>
                </a:solidFill>
                <a:latin typeface="Golos Text SemiBold"/>
              </a:rPr>
              <a:t>   снимаем базовую линию</a:t>
            </a:r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850">
                <a:solidFill>
                  <a:srgbClr val="282828"/>
                </a:solidFill>
                <a:latin typeface="Golos Text"/>
              </a:rPr>
              <a:t>Пилотный аудит одного филиала и регулярный контроль качества данных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Ценность и лёгкость реализации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Ценность — четыре критерия без учёта лёгкости; граница высокой ценности — 60 из 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7125" y="1090000"/>
            <a:ext cx="3554875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 Medium"/>
              </a:rPr>
              <a:t>Реализация лёгкая (4–5 из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92000" y="1090000"/>
            <a:ext cx="3554875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 Medium"/>
              </a:rPr>
              <a:t>Реализация тяжёлая (1–3 из 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125" y="1410000"/>
            <a:ext cx="940000" cy="1330000"/>
          </a:xfrm>
          <a:prstGeom prst="roundRect">
            <a:avLst>
              <a:gd name="adj" fmla="val 1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90000" bIns="9000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Medium"/>
              </a:rPr>
              <a:t>Ценность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Medium"/>
              </a:rPr>
              <a:t>высокая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77125" y="1410000"/>
            <a:ext cx="3554875" cy="13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28AB6A"/>
                </a:solidFill>
                <a:latin typeface="Golos Text SemiBold"/>
              </a:rPr>
              <a:t>14</a:t>
            </a:r>
            <a:r>
              <a:rPr sz="1150">
                <a:solidFill>
                  <a:srgbClr val="28AB6A"/>
                </a:solidFill>
                <a:latin typeface="Golos Text SemiBold"/>
              </a:rPr>
              <a:t>   Быстрые победы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Берём первыми: результат виден до того, как закончатся переговоры со смежниками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92000" y="1410000"/>
            <a:ext cx="3554875" cy="13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013D85"/>
                </a:solidFill>
                <a:latin typeface="Golos Text SemiBold"/>
              </a:rPr>
              <a:t>13</a:t>
            </a:r>
            <a:r>
              <a:rPr sz="1150">
                <a:solidFill>
                  <a:srgbClr val="013D85"/>
                </a:solidFill>
                <a:latin typeface="Golos Text SemiBold"/>
              </a:rPr>
              <a:t>   Крупные проекты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Планируем как проект с ресурсом и сроком: SLA со смежниками, новые регламенты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125" y="2900000"/>
            <a:ext cx="940000" cy="1330000"/>
          </a:xfrm>
          <a:prstGeom prst="roundRect">
            <a:avLst>
              <a:gd name="adj" fmla="val 1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90000" bIns="90000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Medium"/>
              </a:rPr>
              <a:t>Ценность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Medium"/>
              </a:rPr>
              <a:t>умеренная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77125" y="2900000"/>
            <a:ext cx="3554875" cy="13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4384F4"/>
                </a:solidFill>
                <a:latin typeface="Golos Text SemiBold"/>
              </a:rPr>
              <a:t>12</a:t>
            </a:r>
            <a:r>
              <a:rPr sz="1150">
                <a:solidFill>
                  <a:srgbClr val="4384F4"/>
                </a:solidFill>
                <a:latin typeface="Golos Text SemiBold"/>
              </a:rPr>
              <a:t>   Заполнители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Делаем попутно, когда освобождается ресурс; в отдельную инициативу не выносим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2000" y="2900000"/>
            <a:ext cx="3554875" cy="133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444746"/>
                </a:solidFill>
                <a:latin typeface="Golos Text SemiBold"/>
              </a:rPr>
              <a:t>15</a:t>
            </a:r>
            <a:r>
              <a:rPr sz="1150">
                <a:solidFill>
                  <a:srgbClr val="444746"/>
                </a:solidFill>
                <a:latin typeface="Golos Text SemiBold"/>
              </a:rPr>
              <a:t>   Отложить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00">
                <a:solidFill>
                  <a:srgbClr val="282828"/>
                </a:solidFill>
                <a:latin typeface="Golos Text"/>
              </a:rPr>
              <a:t>В работу не берём, пока не изменятся исходные данные или не появится бюджет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Начало очереди: первые десять объектов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Волна запуска, строго по убыванию балла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1110000"/>
            <a:ext cx="500985" cy="28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№</a:t>
            </a:r>
          </a:p>
        </p:txBody>
      </p:sp>
      <p:sp>
        <p:nvSpPr>
          <p:cNvPr id="5" name="Rectangle 4"/>
          <p:cNvSpPr/>
          <p:nvPr/>
        </p:nvSpPr>
        <p:spPr>
          <a:xfrm>
            <a:off x="898110" y="1110000"/>
            <a:ext cx="834975" cy="28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Код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3085" y="1110000"/>
            <a:ext cx="4007880" cy="28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Объект реестра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740965" y="1110000"/>
            <a:ext cx="667980" cy="28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8945" y="1110000"/>
            <a:ext cx="2337930" cy="282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Golos Text SemiBold"/>
              </a:rPr>
              <a:t>Что делаем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125" y="1392000"/>
            <a:ext cx="50098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8110" y="1392000"/>
            <a:ext cx="83497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3085" y="1392000"/>
            <a:ext cx="40078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Приём и валидация пакета документов от ДРБ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40965" y="1392000"/>
            <a:ext cx="6679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86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8945" y="1392000"/>
            <a:ext cx="233793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125" y="1674000"/>
            <a:ext cx="50098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110" y="1674000"/>
            <a:ext cx="83497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1.9.2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3085" y="1674000"/>
            <a:ext cx="40078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Приоритизация реестра (ВУ / КИЗ / КОЗ)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40965" y="1674000"/>
            <a:ext cx="6679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86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8945" y="1674000"/>
            <a:ext cx="233793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125" y="1956000"/>
            <a:ext cx="50098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110" y="1956000"/>
            <a:ext cx="83497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1.1.2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3085" y="1956000"/>
            <a:ext cx="40078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Проверка полноты пакета (договор, ФЭМ, ТЗ, адресная…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40965" y="1956000"/>
            <a:ext cx="6679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85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8945" y="1956000"/>
            <a:ext cx="233793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125" y="2238000"/>
            <a:ext cx="50098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110" y="2238000"/>
            <a:ext cx="83497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3085" y="2238000"/>
            <a:ext cx="40078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Формирование реестра платежей и приоритизация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40965" y="2238000"/>
            <a:ext cx="6679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83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8945" y="2238000"/>
            <a:ext cx="233793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7125" y="2520000"/>
            <a:ext cx="50098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8110" y="2520000"/>
            <a:ext cx="83497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1.7.1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3085" y="2520000"/>
            <a:ext cx="40078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Инициация заявки, сбор спецификаций и тех. карт (со…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40965" y="2520000"/>
            <a:ext cx="6679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82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8945" y="2520000"/>
            <a:ext cx="233793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125" y="2802000"/>
            <a:ext cx="50098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8110" y="2802000"/>
            <a:ext cx="83497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33085" y="2802000"/>
            <a:ext cx="40078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Прогноз поступлений / расходов и контроль бюджета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40965" y="2802000"/>
            <a:ext cx="6679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73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8945" y="2802000"/>
            <a:ext cx="233793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7125" y="3084000"/>
            <a:ext cx="50098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8110" y="3084000"/>
            <a:ext cx="83497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2.3.1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3085" y="3084000"/>
            <a:ext cx="40078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Сбор данных и подтверждений по проектам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40965" y="3084000"/>
            <a:ext cx="6679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8945" y="3084000"/>
            <a:ext cx="233793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125" y="3366000"/>
            <a:ext cx="50098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110" y="3366000"/>
            <a:ext cx="83497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2.7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33085" y="3366000"/>
            <a:ext cx="40078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Обратная связь по дефектам компонентов → владелец…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40965" y="3366000"/>
            <a:ext cx="6679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72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8945" y="3366000"/>
            <a:ext cx="233793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3648000"/>
            <a:ext cx="50098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8110" y="3648000"/>
            <a:ext cx="834975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4.3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733085" y="3648000"/>
            <a:ext cx="40078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Отчётность по проектам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40965" y="3648000"/>
            <a:ext cx="66798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71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8945" y="3648000"/>
            <a:ext cx="2337930" cy="28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7125" y="3930000"/>
            <a:ext cx="50098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8110" y="3930000"/>
            <a:ext cx="834975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4.3.1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3085" y="3930000"/>
            <a:ext cx="40078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Статус-встречи по проекту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40965" y="3930000"/>
            <a:ext cx="66798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71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8945" y="3930000"/>
            <a:ext cx="2337930" cy="28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Регламент и чек-лист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Высший балл начинается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Волна 2 держит только то, что нельзя решить внутри ДУП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125" y="1110000"/>
            <a:ext cx="667980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Балл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105" y="1110000"/>
            <a:ext cx="834975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Код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0080" y="1110000"/>
            <a:ext cx="4007880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Объект реестра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907960" y="1110000"/>
            <a:ext cx="2838915" cy="300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Golos Text SemiBold"/>
              </a:rPr>
              <a:t>Когда берём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125" y="1410000"/>
            <a:ext cx="66798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5105" y="1410000"/>
            <a:ext cx="83497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1.1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00080" y="1410000"/>
            <a:ext cx="400788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Приём и валидация пакета документов от ДРБ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7960" y="1410000"/>
            <a:ext cx="283891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Волна 1. Запуск: паспорта и быстрые победы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125" y="1710000"/>
            <a:ext cx="66798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86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5105" y="1710000"/>
            <a:ext cx="83497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1.9.2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0080" y="1710000"/>
            <a:ext cx="400788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Приоритизация реестра (ВУ / КИЗ / КОЗ)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7960" y="1710000"/>
            <a:ext cx="283891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Волна 1. Запуск: паспорта и быстрые победы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125" y="2010000"/>
            <a:ext cx="66798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85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5105" y="2010000"/>
            <a:ext cx="83497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1.1.2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0080" y="2010000"/>
            <a:ext cx="400788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Проверка полноты пакета (договор, ФЭМ, ТЗ…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7960" y="2010000"/>
            <a:ext cx="283891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Волна 1. Запуск: паспорта и быстрые победы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125" y="2310000"/>
            <a:ext cx="66798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5105" y="2310000"/>
            <a:ext cx="83497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1.7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00080" y="2310000"/>
            <a:ext cx="400788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Инициация и контроль закупок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07960" y="2310000"/>
            <a:ext cx="283891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Волна 2. Стыки с ЦО и закрытие пробелов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125" y="2610000"/>
            <a:ext cx="66798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83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5105" y="2610000"/>
            <a:ext cx="83497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1.2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00080" y="2610000"/>
            <a:ext cx="4007880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Подтверждение готовности продукта (пилот)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07960" y="2610000"/>
            <a:ext cx="2838915" cy="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Волна 2. Стыки с ЦО и закрытие пробелов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125" y="2910000"/>
            <a:ext cx="66798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83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5105" y="2910000"/>
            <a:ext cx="83497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1.5.1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00080" y="2910000"/>
            <a:ext cx="4007880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Формирование ФЭМ по шаблону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7960" y="2910000"/>
            <a:ext cx="2838915" cy="30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282828"/>
                </a:solidFill>
                <a:latin typeface="Golos Text"/>
              </a:rPr>
              <a:t>Волна 2. Стыки с ЦО и закрытие пробелов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7125" y="3510000"/>
            <a:ext cx="8349750" cy="620000"/>
          </a:xfrm>
          <a:prstGeom prst="roundRect">
            <a:avLst>
              <a:gd name="adj" fmla="val 12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Приём пакета от ДРБ, платежи и заявка на закупку стоят в начале очереди.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Закупки целиком, ФЭМ и gate готовности продукта ждут волну 2: норматив ставит другое подразделение, а не паспорт процесса.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Программа старта: пять первых действий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Шаги волны 1 стоят по убыванию балла и паспорта не ждут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9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125" y="1080000"/>
            <a:ext cx="54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Чек-лист минимального пакета от ДРБ и письмо о сроке передачи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125" y="1340000"/>
            <a:ext cx="5409750" cy="2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Результат: Чек-лист приёмки и письмо в ДРБ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6875" y="108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AB6A"/>
                </a:solidFill>
                <a:latin typeface="Golos Text Medium"/>
              </a:rPr>
              <a:t>Зам. по реализации, директор ДУП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6875" y="1430000"/>
            <a:ext cx="2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A7B6BD"/>
                </a:solidFill>
                <a:latin typeface="Golos Text"/>
              </a:rPr>
              <a:t>Волна 1  ·  1.1, 1.1.1, 1.1.2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125" y="162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125" y="171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125" y="1700000"/>
            <a:ext cx="54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Инструкция по трём потокам платежей ВУ / КИЗ / КОЗ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125" y="1960000"/>
            <a:ext cx="5409750" cy="2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Результат: Инструкция по очерёдности и единая форма реестра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6875" y="170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AB6A"/>
                </a:solidFill>
                <a:latin typeface="Golos Text Medium"/>
              </a:rPr>
              <a:t>Зам. по реализации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6875" y="2050000"/>
            <a:ext cx="2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A7B6BD"/>
                </a:solidFill>
                <a:latin typeface="Golos Text"/>
              </a:rPr>
              <a:t>Волна 1  ·  1.9, 1.9.1, 1.9.2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125" y="224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7125" y="233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125" y="2320000"/>
            <a:ext cx="54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Единый реестр и календарь прогноза поступлений и расходов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125" y="2580000"/>
            <a:ext cx="5409750" cy="2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Результат: Реестр прогноза и календарь его обновления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6875" y="232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AB6A"/>
                </a:solidFill>
                <a:latin typeface="Golos Text Medium"/>
              </a:rPr>
              <a:t>Зам. по операционной деятельности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6875" y="2670000"/>
            <a:ext cx="2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A7B6BD"/>
                </a:solidFill>
                <a:latin typeface="Golos Text"/>
              </a:rPr>
              <a:t>Волна 1  ·  2.3, 2.3.1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125" y="286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7125" y="295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125" y="2940000"/>
            <a:ext cx="54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Регламент статус-встреч по проектам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125" y="3200000"/>
            <a:ext cx="5409750" cy="2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Результат: Регламент, шаблон повестки и протокола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6875" y="294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AB6A"/>
                </a:solidFill>
                <a:latin typeface="Golos Text Medium"/>
              </a:rPr>
              <a:t>Зам. по реализации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6875" y="3290000"/>
            <a:ext cx="2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A7B6BD"/>
                </a:solidFill>
                <a:latin typeface="Golos Text"/>
              </a:rPr>
              <a:t>Волна 1  ·  4.3, 4.3.1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125" y="348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7125" y="357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125" y="3560000"/>
            <a:ext cx="54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Паспорт процесса сопровождения (блок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125" y="3820000"/>
            <a:ext cx="5409750" cy="29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Результат: Паспорт процесса: границы, вход, выход, владелец и три показателя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6875" y="356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28AB6A"/>
                </a:solidFill>
                <a:latin typeface="Golos Text Medium"/>
              </a:rPr>
              <a:t>Зам. по операционной деятельности, директор ДУП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6875" y="3910000"/>
            <a:ext cx="2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A7B6BD"/>
                </a:solidFill>
                <a:latin typeface="Golos Text"/>
              </a:rPr>
              <a:t>Волна 1  · 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125" y="4230000"/>
            <a:ext cx="8349750" cy="2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A7B6BD"/>
                </a:solidFill>
                <a:latin typeface="Golos Text"/>
              </a:rPr>
              <a:t>Шаги 6–11 — остальная волна 1 по убыванию балла: реестр переносов, паспорта блоков 1 и 4, чек-лист передачи, пилотный аудит и матрица кураторов.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Что требуется от руководства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Решения, без которых очередь не двигается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7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7125" y="106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Чек-лист минимального пакета от ДРБ и письмо о сроке передачи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125" y="1320000"/>
            <a:ext cx="780975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Закрывается документом: Чек-лист приёмки и письмо в ДРБ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125" y="154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125" y="163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125" y="162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Паспорт процесса сопровождения (блок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125" y="1880000"/>
            <a:ext cx="780975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Закрывается документом: Паспорт процесса: границы, вход, выход, владелец и три показателя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125" y="210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125" y="219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125" y="218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Паспорт процесса реализации (блок 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125" y="2440000"/>
            <a:ext cx="780975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Закрывается документом: Паспорт процесса: границы, вход, выход, владелец и три показателя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125" y="266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7125" y="275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125" y="274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Паспорт методологии и положение о контроле качества данных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125" y="3000000"/>
            <a:ext cx="780975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Закрывается документом: Положение о контроле качества и паспорт процесса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125" y="322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125" y="3310000"/>
            <a:ext cx="400000" cy="400000"/>
          </a:xfrm>
          <a:prstGeom prst="roundRect">
            <a:avLst>
              <a:gd name="adj" fmla="val 50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125" y="3300000"/>
            <a:ext cx="780975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Утверждение матрицы «филиал → куратор»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125" y="3560000"/>
            <a:ext cx="7809750" cy="2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"/>
              </a:rPr>
              <a:t>Закрывается документом: Утверждённая приказом матрица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125" y="3910000"/>
            <a:ext cx="8349750" cy="420000"/>
          </a:xfrm>
          <a:prstGeom prst="roundRect">
            <a:avLst>
              <a:gd name="adj" fmla="val 12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Golos Text SemiBold"/>
              </a:rPr>
              <a:t>Ни одно из решений не требует бюджета, ИТ-разработки и согласия смежных блоков.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Участники проекта и дорожная карта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Кто принимает решения, кто исполняет и в каком порядке идут фазы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7125" y="1010000"/>
            <a:ext cx="2689916" cy="340000"/>
          </a:xfrm>
          <a:prstGeom prst="roundRect">
            <a:avLst>
              <a:gd name="adj" fmla="val 12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Волна 1 · месяцы 1–4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125" y="1370000"/>
            <a:ext cx="2689916" cy="8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8AB6A"/>
                </a:solidFill>
                <a:latin typeface="Golos Text SemiBold"/>
              </a:rPr>
              <a:t>Запуск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Быстрые победы, паспорта и пилотный аудит идут параллельно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27041" y="1010000"/>
            <a:ext cx="2689916" cy="340000"/>
          </a:xfrm>
          <a:prstGeom prst="roundRect">
            <a:avLst>
              <a:gd name="adj" fmla="val 12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Волна 2 · месяцы 3–8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7041" y="1370000"/>
            <a:ext cx="2689916" cy="8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8AB6A"/>
                </a:solidFill>
                <a:latin typeface="Golos Text SemiBold"/>
              </a:rPr>
              <a:t>Стыки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SLA со смежниками, gate продукта и маршрут открытия филиала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56957" y="1010000"/>
            <a:ext cx="2689916" cy="340000"/>
          </a:xfrm>
          <a:prstGeom prst="roundRect">
            <a:avLst>
              <a:gd name="adj" fmla="val 12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0" bIns="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Волна 3 · месяцы 7–12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56957" y="1370000"/>
            <a:ext cx="2689916" cy="8000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90000" bIns="90000" wrap="square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384F4"/>
                </a:solidFill>
                <a:latin typeface="Golos Text SemiBold"/>
              </a:rPr>
              <a:t>Масштаб</a:t>
            </a: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sz="800">
                <a:solidFill>
                  <a:srgbClr val="282828"/>
                </a:solidFill>
                <a:latin typeface="Golos Text"/>
              </a:rPr>
              <a:t>Экономика поверки, единая карточка проекта и автоматизация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125" y="2320000"/>
            <a:ext cx="8349750" cy="9525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125" y="2470000"/>
            <a:ext cx="1836945" cy="286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Роль в проекте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4070" y="2470000"/>
            <a:ext cx="2504925" cy="286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Кто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8995" y="2470000"/>
            <a:ext cx="4007880" cy="286000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Golos Text SemiBold"/>
              </a:rPr>
              <a:t>За что отвечает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125" y="2756000"/>
            <a:ext cx="1836945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Заказчик и спонсор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4070" y="2756000"/>
            <a:ext cx="2504925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Директор ДУП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8995" y="2756000"/>
            <a:ext cx="4007880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Приоритеты, утверждение паспортов процессов, эскалации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125" y="3042000"/>
            <a:ext cx="1836945" cy="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Руководитель проекта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4070" y="3042000"/>
            <a:ext cx="2504925" cy="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Назначается из ДУП / ГМП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8995" y="3042000"/>
            <a:ext cx="4007880" cy="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Дорожная карта, риски, еженедельный статус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125" y="3328000"/>
            <a:ext cx="1836945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Владельцы процессов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34070" y="3328000"/>
            <a:ext cx="2504925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Зам. по реализации, зам. по сопровождению, ГМП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38995" y="3328000"/>
            <a:ext cx="4007880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Результат своих блоков, паспорта процессов, целевые значения метрик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125" y="3614000"/>
            <a:ext cx="1836945" cy="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Процессный офис (ПМО)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34070" y="3614000"/>
            <a:ext cx="2504925" cy="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Главный менеджер проектов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38995" y="3614000"/>
            <a:ext cx="4007880" cy="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Методология, аудит качества данных, реестр процессов и метрик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125" y="3900000"/>
            <a:ext cx="1836945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Рабочие группы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34070" y="3900000"/>
            <a:ext cx="2504925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ДУП, центральный офис, филиалы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8995" y="3900000"/>
            <a:ext cx="4007880" cy="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20000" bIns="20000" wrap="square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282828"/>
                </a:solidFill>
                <a:latin typeface="Golos Text"/>
              </a:rPr>
              <a:t>Регламенты стыков, SLA, проверка решений на практике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125" y="4336000"/>
            <a:ext cx="834975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>
                <a:solidFill>
                  <a:srgbClr val="A7B6BD"/>
                </a:solidFill>
                <a:latin typeface="Golos Text"/>
              </a:rPr>
              <a:t>Смежные подразделения, с которыми согласуются стыки: HR, ДРБ, Закупщики (ОЛЖА), Зерек, СТ, Финблок, Юр блок, филиалы и госпартнёр.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7125" y="327775"/>
            <a:ext cx="6084300" cy="31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1E1E1E"/>
                </a:solidFill>
                <a:latin typeface="Golos Text SemiBold"/>
              </a:rPr>
              <a:t>Дорожная карта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125" y="681275"/>
            <a:ext cx="834975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12 месяцев. Волны перекрываются: стыки начинаются, пока ещё закрывается запуск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125" y="990000"/>
            <a:ext cx="16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SemiBold"/>
              </a:rPr>
              <a:t>Волна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7125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2937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8749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4561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373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6185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1997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7809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3621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9433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5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057" y="990000"/>
            <a:ext cx="555812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444746"/>
                </a:solidFill>
                <a:latin typeface="Golos Text Medium"/>
              </a:rPr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125" y="1270000"/>
            <a:ext cx="8349750" cy="46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18" name="TextBox 17"/>
          <p:cNvSpPr txBox="1"/>
          <p:nvPr/>
        </p:nvSpPr>
        <p:spPr>
          <a:xfrm>
            <a:off x="477125" y="1330000"/>
            <a:ext cx="1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Волна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125" y="1510000"/>
            <a:ext cx="1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мес. 1–4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77125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32937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88749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4561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0373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56185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11997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7809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23621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79433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5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91057" y="127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097125" y="1340000"/>
            <a:ext cx="2183248" cy="320000"/>
          </a:xfrm>
          <a:prstGeom prst="roundRect">
            <a:avLst>
              <a:gd name="adj" fmla="val 15000"/>
            </a:avLst>
          </a:prstGeom>
          <a:solidFill>
            <a:srgbClr val="28A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Победы, паспорта, аудит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125" y="1810000"/>
            <a:ext cx="8349750" cy="46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34" name="TextBox 33"/>
          <p:cNvSpPr txBox="1"/>
          <p:nvPr/>
        </p:nvSpPr>
        <p:spPr>
          <a:xfrm>
            <a:off x="477125" y="1870000"/>
            <a:ext cx="1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Волна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125" y="2050000"/>
            <a:ext cx="1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мес. 3–8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77125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32937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88749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44561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00373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56185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11997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67809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23621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79433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35245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91057" y="181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208749" y="1880000"/>
            <a:ext cx="3294872" cy="320000"/>
          </a:xfrm>
          <a:prstGeom prst="roundRect">
            <a:avLst>
              <a:gd name="adj" fmla="val 15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E1E1E"/>
                </a:solidFill>
                <a:latin typeface="Golos Text SemiBold"/>
              </a:rPr>
              <a:t>SLA, gate, маршрут филиала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7125" y="2350000"/>
            <a:ext cx="8349750" cy="460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90000" bIns="90000" wrap="square"/>
          <a:lstStyle/>
          <a:p>
            <a:pPr algn="l"/>
          </a:p>
        </p:txBody>
      </p:sp>
      <p:sp>
        <p:nvSpPr>
          <p:cNvPr id="50" name="TextBox 49"/>
          <p:cNvSpPr txBox="1"/>
          <p:nvPr/>
        </p:nvSpPr>
        <p:spPr>
          <a:xfrm>
            <a:off x="477125" y="2410000"/>
            <a:ext cx="1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Golos Text SemiBold"/>
              </a:rPr>
              <a:t>Волна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125" y="2590000"/>
            <a:ext cx="15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444746"/>
                </a:solidFill>
                <a:latin typeface="Golos Text"/>
              </a:rPr>
              <a:t>мес. 7–12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77125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632937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88749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44561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00373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56185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11997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67809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23621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79433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35245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91057" y="2350000"/>
            <a:ext cx="8000" cy="460000"/>
          </a:xfrm>
          <a:prstGeom prst="rect">
            <a:avLst/>
          </a:prstGeom>
          <a:solidFill>
            <a:srgbClr val="D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431997" y="2420000"/>
            <a:ext cx="3294872" cy="320000"/>
          </a:xfrm>
          <a:prstGeom prst="roundRect">
            <a:avLst>
              <a:gd name="adj" fmla="val 15000"/>
            </a:avLst>
          </a:prstGeom>
          <a:solidFill>
            <a:srgbClr val="438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Golos Text SemiBold"/>
              </a:rPr>
              <a:t>Экономика, карточка, автоматизация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7125" y="2930000"/>
            <a:ext cx="834975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Golos Text SemiBold"/>
              </a:rPr>
              <a:t>Месяцы по горизонтали. Ключевые результаты на стыках волн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97125" y="3170000"/>
            <a:ext cx="360000" cy="280000"/>
          </a:xfrm>
          <a:prstGeom prst="roundRect">
            <a:avLst>
              <a:gd name="adj" fmla="val 2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7125" y="3170000"/>
            <a:ext cx="1592437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Старт: чек-лист приёмки от ДРБ и инструкция платежей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509562" y="3170000"/>
            <a:ext cx="360000" cy="280000"/>
          </a:xfrm>
          <a:prstGeom prst="roundRect">
            <a:avLst>
              <a:gd name="adj" fmla="val 2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09562" y="3170000"/>
            <a:ext cx="1592437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Паспорта блоков 1, 2 и 4, восемь регламентов работают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21999" y="3170000"/>
            <a:ext cx="360000" cy="280000"/>
          </a:xfrm>
          <a:prstGeom prst="roundRect">
            <a:avLst>
              <a:gd name="adj" fmla="val 2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1999" y="3170000"/>
            <a:ext cx="1592437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Подписаны SLA, утверждены gate и маршрут открытия филиала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734436" y="3170000"/>
            <a:ext cx="360000" cy="280000"/>
          </a:xfrm>
          <a:prstGeom prst="roundRect">
            <a:avLst>
              <a:gd name="adj" fmla="val 20000"/>
            </a:avLst>
          </a:prstGeom>
          <a:solidFill>
            <a:srgbClr val="013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90000" bIns="90000" wrap="square"/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Golos Text SemiBold"/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34436" y="3170000"/>
            <a:ext cx="1592437" cy="3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282828"/>
                </a:solidFill>
                <a:latin typeface="Golos Text"/>
              </a:rPr>
              <a:t>Зрелость 3, мониторинговый отчёт и карточка проекта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g34fc5f99509_2_26"/>
          <p:cNvPicPr preferRelativeResize="0"/>
          <p:nvPr/>
        </p:nvPicPr>
        <p:blipFill rotWithShape="1">
          <a:blip r:embed="rId3">
            <a:alphaModFix/>
          </a:blip>
          <a:srcRect b="0" l="0" r="0" t="15626"/>
          <a:stretch/>
        </p:blipFill>
        <p:spPr>
          <a:xfrm>
            <a:off x="0" y="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34fc5f99509_2_26"/>
          <p:cNvSpPr/>
          <p:nvPr/>
        </p:nvSpPr>
        <p:spPr>
          <a:xfrm>
            <a:off x="0" y="25"/>
            <a:ext cx="9014700" cy="5143500"/>
          </a:xfrm>
          <a:prstGeom prst="rect">
            <a:avLst/>
          </a:prstGeom>
          <a:gradFill>
            <a:gsLst>
              <a:gs pos="0">
                <a:srgbClr val="013D85">
                  <a:alpha val="63137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4fc5f99509_2_26"/>
          <p:cNvSpPr/>
          <p:nvPr/>
        </p:nvSpPr>
        <p:spPr>
          <a:xfrm>
            <a:off x="0" y="25"/>
            <a:ext cx="9014700" cy="5143500"/>
          </a:xfrm>
          <a:prstGeom prst="rect">
            <a:avLst/>
          </a:prstGeom>
          <a:gradFill>
            <a:gsLst>
              <a:gs pos="0">
                <a:srgbClr val="013D85">
                  <a:alpha val="63137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4fc5f99509_2_26"/>
          <p:cNvSpPr txBox="1"/>
          <p:nvPr/>
        </p:nvSpPr>
        <p:spPr>
          <a:xfrm>
            <a:off x="576526" y="2202300"/>
            <a:ext cx="7991100" cy="738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600" b="0">
                <a:solidFill>
                  <a:srgbClr val="FFFFFF"/>
                </a:solidFill>
                <a:latin typeface="Golos Text Medium"/>
              </a:rPr>
              <a:t>Начинаем с высшего балла внутри ДУП — паспорт очередь не держит</a:t>
            </a:r>
            <a:endParaRPr sz="24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347" name="Google Shape;347;g34fc5f99509_2_26"/>
          <p:cNvSpPr txBox="1"/>
          <p:nvPr/>
        </p:nvSpPr>
        <p:spPr>
          <a:xfrm>
            <a:off x="2081987" y="493525"/>
            <a:ext cx="4897200" cy="70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ru" sz="4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Спасибо!</a:t>
            </a:r>
            <a:endParaRPr b="1" i="0" sz="4000" u="none" cap="none" strike="noStrike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grpSp>
        <p:nvGrpSpPr>
          <p:cNvPr id="348" name="Google Shape;348;g34fc5f99509_2_26"/>
          <p:cNvGrpSpPr/>
          <p:nvPr/>
        </p:nvGrpSpPr>
        <p:grpSpPr>
          <a:xfrm>
            <a:off x="3256171" y="4260137"/>
            <a:ext cx="2631820" cy="395775"/>
            <a:chOff x="7419975" y="4637527"/>
            <a:chExt cx="1105946" cy="166306"/>
          </a:xfrm>
        </p:grpSpPr>
        <p:sp>
          <p:nvSpPr>
            <p:cNvPr id="349" name="Google Shape;349;g34fc5f99509_2_26"/>
            <p:cNvSpPr/>
            <p:nvPr/>
          </p:nvSpPr>
          <p:spPr>
            <a:xfrm>
              <a:off x="7419975" y="4674865"/>
              <a:ext cx="86010" cy="94678"/>
            </a:xfrm>
            <a:custGeom>
              <a:rect b="b" l="l" r="r" t="t"/>
              <a:pathLst>
                <a:path extrusionOk="0" h="94678" w="86010">
                  <a:moveTo>
                    <a:pt x="2667" y="73914"/>
                  </a:moveTo>
                  <a:lnTo>
                    <a:pt x="55912" y="73914"/>
                  </a:lnTo>
                  <a:cubicBezTo>
                    <a:pt x="63246" y="73914"/>
                    <a:pt x="65342" y="72104"/>
                    <a:pt x="65342" y="64865"/>
                  </a:cubicBezTo>
                  <a:cubicBezTo>
                    <a:pt x="65342" y="57626"/>
                    <a:pt x="63246" y="55816"/>
                    <a:pt x="55912" y="55816"/>
                  </a:cubicBezTo>
                  <a:lnTo>
                    <a:pt x="28289" y="55816"/>
                  </a:lnTo>
                  <a:cubicBezTo>
                    <a:pt x="10668" y="55816"/>
                    <a:pt x="0" y="45529"/>
                    <a:pt x="0" y="27908"/>
                  </a:cubicBezTo>
                  <a:cubicBezTo>
                    <a:pt x="0" y="10287"/>
                    <a:pt x="10668" y="0"/>
                    <a:pt x="28289" y="0"/>
                  </a:cubicBezTo>
                  <a:lnTo>
                    <a:pt x="76200" y="0"/>
                  </a:lnTo>
                  <a:lnTo>
                    <a:pt x="76200" y="20574"/>
                  </a:lnTo>
                  <a:lnTo>
                    <a:pt x="28289" y="20574"/>
                  </a:lnTo>
                  <a:cubicBezTo>
                    <a:pt x="22193" y="20574"/>
                    <a:pt x="20669" y="21622"/>
                    <a:pt x="20669" y="27908"/>
                  </a:cubicBezTo>
                  <a:cubicBezTo>
                    <a:pt x="20669" y="34195"/>
                    <a:pt x="22289" y="35243"/>
                    <a:pt x="28289" y="35243"/>
                  </a:cubicBezTo>
                  <a:lnTo>
                    <a:pt x="55912" y="35243"/>
                  </a:lnTo>
                  <a:cubicBezTo>
                    <a:pt x="74581" y="35243"/>
                    <a:pt x="86011" y="46101"/>
                    <a:pt x="86011" y="64960"/>
                  </a:cubicBezTo>
                  <a:cubicBezTo>
                    <a:pt x="86011" y="83820"/>
                    <a:pt x="74581" y="94678"/>
                    <a:pt x="55912" y="94678"/>
                  </a:cubicBezTo>
                  <a:lnTo>
                    <a:pt x="2667" y="94678"/>
                  </a:lnTo>
                  <a:lnTo>
                    <a:pt x="2667" y="7410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g34fc5f99509_2_26"/>
            <p:cNvSpPr/>
            <p:nvPr/>
          </p:nvSpPr>
          <p:spPr>
            <a:xfrm>
              <a:off x="7517415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4fc5f99509_2_26"/>
            <p:cNvSpPr/>
            <p:nvPr/>
          </p:nvSpPr>
          <p:spPr>
            <a:xfrm>
              <a:off x="7622381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0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4fc5f99509_2_26"/>
            <p:cNvSpPr/>
            <p:nvPr/>
          </p:nvSpPr>
          <p:spPr>
            <a:xfrm>
              <a:off x="7684389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0" y="98108"/>
                    <a:pt x="0" y="85154"/>
                    <a:pt x="0" y="49054"/>
                  </a:cubicBezTo>
                  <a:cubicBezTo>
                    <a:pt x="0" y="12954"/>
                    <a:pt x="11620" y="0"/>
                    <a:pt x="47244" y="0"/>
                  </a:cubicBezTo>
                  <a:cubicBezTo>
                    <a:pt x="82867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5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4fc5f99509_2_26"/>
            <p:cNvSpPr/>
            <p:nvPr/>
          </p:nvSpPr>
          <p:spPr>
            <a:xfrm>
              <a:off x="7792116" y="4672960"/>
              <a:ext cx="91359" cy="96393"/>
            </a:xfrm>
            <a:custGeom>
              <a:rect b="b" l="l" r="r" t="t"/>
              <a:pathLst>
                <a:path extrusionOk="0" h="96393" w="91359">
                  <a:moveTo>
                    <a:pt x="20860" y="57721"/>
                  </a:moveTo>
                  <a:cubicBezTo>
                    <a:pt x="22098" y="73724"/>
                    <a:pt x="27242" y="75819"/>
                    <a:pt x="48101" y="75819"/>
                  </a:cubicBezTo>
                  <a:lnTo>
                    <a:pt x="85725" y="75819"/>
                  </a:lnTo>
                  <a:lnTo>
                    <a:pt x="85725" y="96393"/>
                  </a:lnTo>
                  <a:lnTo>
                    <a:pt x="48101" y="96393"/>
                  </a:lnTo>
                  <a:cubicBezTo>
                    <a:pt x="12287" y="96393"/>
                    <a:pt x="0" y="84106"/>
                    <a:pt x="0" y="48196"/>
                  </a:cubicBezTo>
                  <a:cubicBezTo>
                    <a:pt x="0" y="12287"/>
                    <a:pt x="11430" y="0"/>
                    <a:pt x="46292" y="0"/>
                  </a:cubicBezTo>
                  <a:cubicBezTo>
                    <a:pt x="82963" y="0"/>
                    <a:pt x="93345" y="14573"/>
                    <a:pt x="91059" y="57626"/>
                  </a:cubicBezTo>
                  <a:lnTo>
                    <a:pt x="20860" y="57626"/>
                  </a:lnTo>
                  <a:close/>
                  <a:moveTo>
                    <a:pt x="70390" y="37148"/>
                  </a:moveTo>
                  <a:cubicBezTo>
                    <a:pt x="69152" y="24194"/>
                    <a:pt x="66770" y="20765"/>
                    <a:pt x="46292" y="20765"/>
                  </a:cubicBezTo>
                  <a:cubicBezTo>
                    <a:pt x="27718" y="20765"/>
                    <a:pt x="22384" y="22574"/>
                    <a:pt x="20955" y="37148"/>
                  </a:cubicBezTo>
                  <a:lnTo>
                    <a:pt x="70295" y="371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4fc5f99509_2_26"/>
            <p:cNvSpPr/>
            <p:nvPr/>
          </p:nvSpPr>
          <p:spPr>
            <a:xfrm>
              <a:off x="7896891" y="4637527"/>
              <a:ext cx="85058" cy="131921"/>
            </a:xfrm>
            <a:custGeom>
              <a:rect b="b" l="l" r="r" t="t"/>
              <a:pathLst>
                <a:path extrusionOk="0" h="131921" w="85058">
                  <a:moveTo>
                    <a:pt x="20860" y="0"/>
                  </a:moveTo>
                  <a:lnTo>
                    <a:pt x="20860" y="72485"/>
                  </a:lnTo>
                  <a:lnTo>
                    <a:pt x="38481" y="72485"/>
                  </a:lnTo>
                  <a:cubicBezTo>
                    <a:pt x="62389" y="56483"/>
                    <a:pt x="62675" y="54007"/>
                    <a:pt x="62675" y="37338"/>
                  </a:cubicBezTo>
                  <a:lnTo>
                    <a:pt x="83344" y="37338"/>
                  </a:lnTo>
                  <a:cubicBezTo>
                    <a:pt x="83344" y="59912"/>
                    <a:pt x="78677" y="68771"/>
                    <a:pt x="59627" y="82868"/>
                  </a:cubicBezTo>
                  <a:cubicBezTo>
                    <a:pt x="80105" y="97060"/>
                    <a:pt x="85058" y="106490"/>
                    <a:pt x="85058" y="131921"/>
                  </a:cubicBezTo>
                  <a:lnTo>
                    <a:pt x="64389" y="131921"/>
                  </a:lnTo>
                  <a:cubicBezTo>
                    <a:pt x="64389" y="112205"/>
                    <a:pt x="63532" y="109538"/>
                    <a:pt x="37814" y="93155"/>
                  </a:cubicBezTo>
                  <a:lnTo>
                    <a:pt x="20669" y="93155"/>
                  </a:lnTo>
                  <a:lnTo>
                    <a:pt x="20669" y="131921"/>
                  </a:lnTo>
                  <a:lnTo>
                    <a:pt x="0" y="131921"/>
                  </a:lnTo>
                  <a:lnTo>
                    <a:pt x="0" y="0"/>
                  </a:lnTo>
                  <a:lnTo>
                    <a:pt x="206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4fc5f99509_2_26"/>
            <p:cNvSpPr/>
            <p:nvPr/>
          </p:nvSpPr>
          <p:spPr>
            <a:xfrm>
              <a:off x="8044433" y="4673055"/>
              <a:ext cx="94488" cy="130778"/>
            </a:xfrm>
            <a:custGeom>
              <a:rect b="b" l="l" r="r" t="t"/>
              <a:pathLst>
                <a:path extrusionOk="0" h="130778" w="94488">
                  <a:moveTo>
                    <a:pt x="47244" y="98108"/>
                  </a:moveTo>
                  <a:cubicBezTo>
                    <a:pt x="11621" y="98108"/>
                    <a:pt x="0" y="85154"/>
                    <a:pt x="0" y="49054"/>
                  </a:cubicBezTo>
                  <a:cubicBezTo>
                    <a:pt x="0" y="12954"/>
                    <a:pt x="11621" y="0"/>
                    <a:pt x="47244" y="0"/>
                  </a:cubicBezTo>
                  <a:cubicBezTo>
                    <a:pt x="82868" y="0"/>
                    <a:pt x="94488" y="12954"/>
                    <a:pt x="94488" y="49054"/>
                  </a:cubicBezTo>
                  <a:lnTo>
                    <a:pt x="94488" y="85630"/>
                  </a:lnTo>
                  <a:cubicBezTo>
                    <a:pt x="94488" y="119253"/>
                    <a:pt x="82772" y="130778"/>
                    <a:pt x="49054" y="130778"/>
                  </a:cubicBezTo>
                  <a:lnTo>
                    <a:pt x="15907" y="130778"/>
                  </a:lnTo>
                  <a:lnTo>
                    <a:pt x="15907" y="110204"/>
                  </a:lnTo>
                  <a:lnTo>
                    <a:pt x="49054" y="110204"/>
                  </a:lnTo>
                  <a:cubicBezTo>
                    <a:pt x="68866" y="110204"/>
                    <a:pt x="72581" y="107918"/>
                    <a:pt x="73628" y="94202"/>
                  </a:cubicBezTo>
                  <a:cubicBezTo>
                    <a:pt x="66866" y="96869"/>
                    <a:pt x="58103" y="98108"/>
                    <a:pt x="47244" y="98108"/>
                  </a:cubicBezTo>
                  <a:close/>
                  <a:moveTo>
                    <a:pt x="20669" y="49054"/>
                  </a:moveTo>
                  <a:cubicBezTo>
                    <a:pt x="20669" y="74867"/>
                    <a:pt x="24098" y="77534"/>
                    <a:pt x="47244" y="77534"/>
                  </a:cubicBezTo>
                  <a:cubicBezTo>
                    <a:pt x="70390" y="77534"/>
                    <a:pt x="73819" y="74867"/>
                    <a:pt x="73819" y="49054"/>
                  </a:cubicBezTo>
                  <a:cubicBezTo>
                    <a:pt x="73819" y="23241"/>
                    <a:pt x="70390" y="20574"/>
                    <a:pt x="47244" y="20574"/>
                  </a:cubicBezTo>
                  <a:cubicBezTo>
                    <a:pt x="24098" y="20574"/>
                    <a:pt x="20669" y="23241"/>
                    <a:pt x="20669" y="49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4fc5f99509_2_26"/>
            <p:cNvSpPr/>
            <p:nvPr/>
          </p:nvSpPr>
          <p:spPr>
            <a:xfrm>
              <a:off x="8154066" y="4674865"/>
              <a:ext cx="50387" cy="94583"/>
            </a:xfrm>
            <a:custGeom>
              <a:rect b="b" l="l" r="r" t="t"/>
              <a:pathLst>
                <a:path extrusionOk="0" h="94583" w="50387">
                  <a:moveTo>
                    <a:pt x="20669" y="94583"/>
                  </a:moveTo>
                  <a:lnTo>
                    <a:pt x="0" y="94583"/>
                  </a:lnTo>
                  <a:lnTo>
                    <a:pt x="0" y="45148"/>
                  </a:lnTo>
                  <a:cubicBezTo>
                    <a:pt x="0" y="11525"/>
                    <a:pt x="11621" y="0"/>
                    <a:pt x="45244" y="0"/>
                  </a:cubicBezTo>
                  <a:lnTo>
                    <a:pt x="50387" y="0"/>
                  </a:lnTo>
                  <a:lnTo>
                    <a:pt x="50387" y="20574"/>
                  </a:lnTo>
                  <a:lnTo>
                    <a:pt x="45244" y="20574"/>
                  </a:lnTo>
                  <a:cubicBezTo>
                    <a:pt x="22955" y="20574"/>
                    <a:pt x="20669" y="22860"/>
                    <a:pt x="20669" y="45148"/>
                  </a:cubicBezTo>
                  <a:lnTo>
                    <a:pt x="20669" y="945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4fc5f99509_2_26"/>
            <p:cNvSpPr/>
            <p:nvPr/>
          </p:nvSpPr>
          <p:spPr>
            <a:xfrm>
              <a:off x="8216074" y="4673055"/>
              <a:ext cx="96202" cy="98107"/>
            </a:xfrm>
            <a:custGeom>
              <a:rect b="b" l="l" r="r" t="t"/>
              <a:pathLst>
                <a:path extrusionOk="0" h="98107" w="96202">
                  <a:moveTo>
                    <a:pt x="48101" y="0"/>
                  </a:moveTo>
                  <a:cubicBezTo>
                    <a:pt x="84582" y="0"/>
                    <a:pt x="96202" y="13716"/>
                    <a:pt x="96202" y="49054"/>
                  </a:cubicBezTo>
                  <a:cubicBezTo>
                    <a:pt x="96202" y="84392"/>
                    <a:pt x="84582" y="98108"/>
                    <a:pt x="48101" y="98108"/>
                  </a:cubicBezTo>
                  <a:cubicBezTo>
                    <a:pt x="11621" y="98108"/>
                    <a:pt x="0" y="84582"/>
                    <a:pt x="0" y="49054"/>
                  </a:cubicBezTo>
                  <a:cubicBezTo>
                    <a:pt x="0" y="13526"/>
                    <a:pt x="11906" y="0"/>
                    <a:pt x="48101" y="0"/>
                  </a:cubicBezTo>
                  <a:close/>
                  <a:moveTo>
                    <a:pt x="48101" y="77534"/>
                  </a:moveTo>
                  <a:cubicBezTo>
                    <a:pt x="72200" y="77534"/>
                    <a:pt x="75533" y="74200"/>
                    <a:pt x="75533" y="49054"/>
                  </a:cubicBezTo>
                  <a:cubicBezTo>
                    <a:pt x="75533" y="23908"/>
                    <a:pt x="72104" y="20574"/>
                    <a:pt x="48101" y="20574"/>
                  </a:cubicBezTo>
                  <a:cubicBezTo>
                    <a:pt x="24098" y="20574"/>
                    <a:pt x="20669" y="24098"/>
                    <a:pt x="20669" y="49054"/>
                  </a:cubicBezTo>
                  <a:cubicBezTo>
                    <a:pt x="20669" y="74009"/>
                    <a:pt x="24098" y="77534"/>
                    <a:pt x="48101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4fc5f99509_2_26"/>
            <p:cNvSpPr/>
            <p:nvPr/>
          </p:nvSpPr>
          <p:spPr>
            <a:xfrm>
              <a:off x="8325612" y="4674865"/>
              <a:ext cx="90677" cy="96297"/>
            </a:xfrm>
            <a:custGeom>
              <a:rect b="b" l="l" r="r" t="t"/>
              <a:pathLst>
                <a:path extrusionOk="0" h="96297" w="90677">
                  <a:moveTo>
                    <a:pt x="70009" y="0"/>
                  </a:moveTo>
                  <a:lnTo>
                    <a:pt x="90678" y="0"/>
                  </a:lnTo>
                  <a:lnTo>
                    <a:pt x="90678" y="51149"/>
                  </a:lnTo>
                  <a:cubicBezTo>
                    <a:pt x="90678" y="84773"/>
                    <a:pt x="78962" y="96298"/>
                    <a:pt x="45244" y="96298"/>
                  </a:cubicBezTo>
                  <a:cubicBezTo>
                    <a:pt x="11525" y="96298"/>
                    <a:pt x="0" y="84773"/>
                    <a:pt x="0" y="51149"/>
                  </a:cubicBezTo>
                  <a:lnTo>
                    <a:pt x="0" y="0"/>
                  </a:lnTo>
                  <a:lnTo>
                    <a:pt x="20669" y="0"/>
                  </a:lnTo>
                  <a:lnTo>
                    <a:pt x="20669" y="51149"/>
                  </a:lnTo>
                  <a:cubicBezTo>
                    <a:pt x="20669" y="73343"/>
                    <a:pt x="22955" y="75724"/>
                    <a:pt x="45244" y="75724"/>
                  </a:cubicBezTo>
                  <a:cubicBezTo>
                    <a:pt x="67532" y="75724"/>
                    <a:pt x="70009" y="73438"/>
                    <a:pt x="70009" y="51149"/>
                  </a:cubicBezTo>
                  <a:lnTo>
                    <a:pt x="700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4fc5f99509_2_26"/>
            <p:cNvSpPr/>
            <p:nvPr/>
          </p:nvSpPr>
          <p:spPr>
            <a:xfrm>
              <a:off x="8431434" y="4673055"/>
              <a:ext cx="94487" cy="130778"/>
            </a:xfrm>
            <a:custGeom>
              <a:rect b="b" l="l" r="r" t="t"/>
              <a:pathLst>
                <a:path extrusionOk="0" h="130778" w="94487">
                  <a:moveTo>
                    <a:pt x="47244" y="0"/>
                  </a:moveTo>
                  <a:cubicBezTo>
                    <a:pt x="83058" y="0"/>
                    <a:pt x="94488" y="12954"/>
                    <a:pt x="94488" y="49054"/>
                  </a:cubicBezTo>
                  <a:cubicBezTo>
                    <a:pt x="94488" y="85154"/>
                    <a:pt x="83058" y="98108"/>
                    <a:pt x="47244" y="98108"/>
                  </a:cubicBezTo>
                  <a:cubicBezTo>
                    <a:pt x="36195" y="98108"/>
                    <a:pt x="27432" y="96869"/>
                    <a:pt x="20669" y="94012"/>
                  </a:cubicBezTo>
                  <a:lnTo>
                    <a:pt x="20669" y="130778"/>
                  </a:lnTo>
                  <a:lnTo>
                    <a:pt x="0" y="130778"/>
                  </a:lnTo>
                  <a:lnTo>
                    <a:pt x="0" y="49054"/>
                  </a:lnTo>
                  <a:cubicBezTo>
                    <a:pt x="0" y="12954"/>
                    <a:pt x="11621" y="0"/>
                    <a:pt x="47244" y="0"/>
                  </a:cubicBezTo>
                  <a:close/>
                  <a:moveTo>
                    <a:pt x="47244" y="77534"/>
                  </a:moveTo>
                  <a:cubicBezTo>
                    <a:pt x="70580" y="77534"/>
                    <a:pt x="73819" y="74867"/>
                    <a:pt x="73819" y="49054"/>
                  </a:cubicBezTo>
                  <a:cubicBezTo>
                    <a:pt x="73819" y="23241"/>
                    <a:pt x="70580" y="20574"/>
                    <a:pt x="47244" y="20574"/>
                  </a:cubicBezTo>
                  <a:cubicBezTo>
                    <a:pt x="23908" y="20574"/>
                    <a:pt x="20669" y="23241"/>
                    <a:pt x="20669" y="49054"/>
                  </a:cubicBezTo>
                  <a:cubicBezTo>
                    <a:pt x="20669" y="74867"/>
                    <a:pt x="24098" y="77534"/>
                    <a:pt x="47244" y="775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Фоны">
  <a:themeElements>
    <a:clrScheme name="SG_pptx">
      <a:dk1>
        <a:srgbClr val="1E1E1E"/>
      </a:dk1>
      <a:lt1>
        <a:srgbClr val="FFFFFF"/>
      </a:lt1>
      <a:dk2>
        <a:srgbClr val="1C3341"/>
      </a:dk2>
      <a:lt2>
        <a:srgbClr val="013D85"/>
      </a:lt2>
      <a:accent1>
        <a:srgbClr val="28AB6A"/>
      </a:accent1>
      <a:accent2>
        <a:srgbClr val="D4D8E4"/>
      </a:accent2>
      <a:accent3>
        <a:srgbClr val="A7B6BD"/>
      </a:accent3>
      <a:accent4>
        <a:srgbClr val="FBBB05"/>
      </a:accent4>
      <a:accent5>
        <a:srgbClr val="4384F4"/>
      </a:accent5>
      <a:accent6>
        <a:srgbClr val="E94235"/>
      </a:accent6>
      <a:hlink>
        <a:srgbClr val="FFFFFF"/>
      </a:hlink>
      <a:folHlink>
        <a:srgbClr val="A7B6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Фоны">
  <a:themeElements>
    <a:clrScheme name="SG_pptx">
      <a:dk1>
        <a:srgbClr val="1E1E1E"/>
      </a:dk1>
      <a:lt1>
        <a:srgbClr val="FFFFFF"/>
      </a:lt1>
      <a:dk2>
        <a:srgbClr val="1C3341"/>
      </a:dk2>
      <a:lt2>
        <a:srgbClr val="013D85"/>
      </a:lt2>
      <a:accent1>
        <a:srgbClr val="28AB6A"/>
      </a:accent1>
      <a:accent2>
        <a:srgbClr val="D4D8E4"/>
      </a:accent2>
      <a:accent3>
        <a:srgbClr val="A7B6BD"/>
      </a:accent3>
      <a:accent4>
        <a:srgbClr val="FBBB05"/>
      </a:accent4>
      <a:accent5>
        <a:srgbClr val="4384F4"/>
      </a:accent5>
      <a:accent6>
        <a:srgbClr val="E94235"/>
      </a:accent6>
      <a:hlink>
        <a:srgbClr val="FFFFFF"/>
      </a:hlink>
      <a:folHlink>
        <a:srgbClr val="A7B6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Пользователь</dc:creator>
</cp:coreProperties>
</file>