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77" r:id="rId7"/>
    <p:sldId id="278" r:id="rId37"/>
    <p:sldId id="279" r:id="rId38"/>
    <p:sldId id="280" r:id="rId39"/>
    <p:sldId id="281" r:id="rId40"/>
    <p:sldId id="282" r:id="rId41"/>
    <p:sldId id="283" r:id="rId42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Реинжиниринг процессов ДУП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От предпосылок до очереди работ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мы взялись за этот проект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Три предпосылки, с которых начался проект трансформации процессов ДУП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3971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6" name="TextBox 5"/>
          <p:cNvSpPr txBox="1"/>
          <p:nvPr/>
        </p:nvSpPr>
        <p:spPr>
          <a:xfrm>
            <a:off x="5571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Портфель вырос, управление —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1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ДУП ведёт доходные проекты компании по ГЧП и госзакупу: фото-видеофиксация, каналы связи, эко-мониторинг. Портфель и филиальная сеть выросли, а управление осталось на устных договорённостях.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37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9" name="Rectangle 8"/>
          <p:cNvSpPr/>
          <p:nvPr/>
        </p:nvSpPr>
        <p:spPr>
          <a:xfrm>
            <a:off x="324037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340037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Методика компании обязательна, но не применяется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37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В компании действует Методика системы управления бизнес-процессами KT_METHOD v1. Она обязательна для всех работников (п. 4). Владение по должностям уже закреплено, но паспортов процессов нет и метрики не установлены.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36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3" name="Rectangle 12"/>
          <p:cNvSpPr/>
          <p:nvPr/>
        </p:nvSpPr>
        <p:spPr>
          <a:xfrm>
            <a:off x="60836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36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Спорить о сроке приходится словами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36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Фактические значения не измерялись. Ни доказать эффект изменения, ни назвать виновника срыва было нечем — только мнения.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480000"/>
            <a:ext cx="8349750" cy="64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Цель проекта: выстроить управляемую, прозрачную и масштабируемую модель управления проектами — предсказуемый запуск во всех филиалах, единые правила стыка филиала, ДУП и центрального офиса, восстановленное исполнение методологии.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уже сделано в проекте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Диагностика завершена: процессная модель описана, владение закреплено, метрики и очередь работ определены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620000" bIns="90000" wrap="square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А — текущий анализ: интервью, дерево процессов v4, RACI-матрица, кадровая матрица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B — наследие методологии «Сергек»: 434 документа, реестр Confluence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Методика системы управления бизнес-процессами KT_METHOD v1 — 52 страницы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Матрица стыков ДУП со смежными подразделениями центрального офиса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Что проанализировали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2000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7" name="TextBox 6"/>
          <p:cNvSpPr txBox="1"/>
          <p:nvPr/>
        </p:nvSpPr>
        <p:spPr>
          <a:xfrm>
            <a:off x="4842000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28AB6A"/>
                </a:solidFill>
                <a:latin typeface="Golos Text SemiBold"/>
              </a:rPr>
              <a:t>Что построено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2000" y="171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процессной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2000" y="194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55 объектов: процессы, подпроцессы и этапы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2000" y="225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Карта ролей ДУП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2000" y="248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роль ДУП и бизнес-владелец у каждого объекта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2000" y="279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метрик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2000" y="302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366 критериев оценки с формулой и источником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2000" y="333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Приоритеты реинжиниринга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000" y="356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54 объекта — балл, место в очереди и обоснование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41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Четыре файла собираются из одного источника: правка в карте ролей сама проходит в метрики, приоритеты и эту презентацию — разойтись между собой они не могут.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Система управления процессами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Определение, цель и цикл управления — из Методики KT_METHOD v1, обязательной для всех подразделений компании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8349750" cy="8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Процесс — сквозная последовательность действий, преобразующая входы в результат, ценный для клиента. У процесса ровно один бизнес-владелец, отвечающий за результат целиком.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Система управления процессами нужна, чтобы описывать, измерять и улучшать работу одинаково во всех подразделениях, не спорить о том, кто владелец, и не терять ответственность при передаче процесса между блоками (п. 3 Методики).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2050000"/>
            <a:ext cx="834975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E1E1E"/>
                </a:solidFill>
                <a:latin typeface="Golos Text Medium"/>
              </a:rPr>
              <a:t>Цикл управления процессом — пять последовательных этапов (Таблица 20 Методики)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1. Проектирование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1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Схема, паспорт процесса, карта SIPOC, KPI и SLA, назначение владельца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107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2. Внедрение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107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Автоматизация шагов, интеграция систем, обучение, ввод в эксплуатацию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850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3. Анализ и оценка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850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Сбор фактических значений метрик, контроль SLA, отчётность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7897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4. Улучшение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897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Поиск узких мест, оценка зрелости, приоритизация улучшений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2925" y="2390000"/>
            <a:ext cx="1573950" cy="3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5. Оптимизация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2925" y="2790000"/>
            <a:ext cx="1573950" cy="9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Устранение узких мест, рост зрелости, тиражирование решений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79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Проект ДУП стоит на четвёртом этапе для описанных процессов — мы ищем узкие места и расставляем улучшения по очереди — и возвращается на первый там, где процедуры не существует вовсе.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измеряется процесс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Формулы и целевые значения взяты из Глав 9–13 Методики, а не придуманы под задачу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60000"/>
            <a:ext cx="133596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Группа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3085" y="1160000"/>
            <a:ext cx="250492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Метрика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8010" y="1160000"/>
            <a:ext cx="283891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Формула расчёта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6925" y="1160000"/>
            <a:ext cx="166995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Целевое значение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22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3085" y="1422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Cycle Time — время цикла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8010" y="1422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CT = Дата завершения − Дата начала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6925" y="1422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норматив SLA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684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3085" y="1684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On-Time % — соблюдение срока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8010" y="1684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OT% = (Выполнено в срок ÷ Всего задач) × 100%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6925" y="1684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946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3085" y="1946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Wait Time % — доля ожидания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8010" y="1946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WT% = (Время ожидания ÷ Cycle Time) ×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6925" y="1946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208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2208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First Pass Yield — выход с первого раза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8010" y="2208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FPY = (Единицы без доработок ÷ Всего) ×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6925" y="2208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470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3085" y="2470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Defect Rate — доля дефектов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8010" y="2470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DR = (Дефекты ÷ Всего единиц) × 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6925" y="2470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732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3085" y="2732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— стоимость несоответствий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8010" y="2732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= Внутренние потери + Внешние потери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6925" y="2732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устойчивое снижение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125" y="2994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3085" y="2994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Budget Variance — отклонение от бюджета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8010" y="2994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= ((Факт − Бюджет) ÷ Бюджет) ×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6925" y="2994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≤ 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125" y="3256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3085" y="3256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Bottleneck Index — индекс узкого места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8010" y="3256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BNI = Загрузка узкого места ÷ Средняя загрузка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76925" y="3256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1,15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3518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518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 Compliance % — соблюдение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8010" y="3518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SLA% = (Выполнено в SLA ÷ Всего задач) × 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76925" y="3518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780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3085" y="3780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Уровень автоматизации (Automation Rate)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8010" y="3780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УА = Кша ÷ Кшо ×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76925" y="3780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125" y="4262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справочнике Методики 26 метрик; по объектам реестра из них разложено 366 критериев оценки.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Набор метрик зависит от роли ДУП: владелец отвечает за объект целиком, участник — за свой шаг, клиент — за требования к входу и приёмку.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считается приоритет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критериев, шкала от 1 до 5 и вес критерия — одинаково для всех объектов реестра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90000"/>
            <a:ext cx="250492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190000"/>
            <a:ext cx="83497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190000"/>
            <a:ext cx="5009850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6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46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46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02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02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02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258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258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258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14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14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14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2970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2970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2970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25" y="3526000"/>
            <a:ext cx="8349750" cy="46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Балл объекта = сумма (оценка от 1 до 5 × вес критерия) ÷ 500 ×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066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файле приоритетов расписаны все пять ступеней каждой шкалы — оценка 2 или 4 не ставится на глаз и защищается на комитете.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идёт по баллу. Дальше место в очереди задают пять правил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не держит очередь быстрых побед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Паспорт обязателен и не отодвигает объект с более высоким баллом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измеряет эффект и не держит 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Замер «до» доказывает эффект и не блокирует соседние работы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Состояние зафиксировано по каждому из объектов реестра — это диагноз системы, а не оценка людей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7125" y="106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объекта из 55 описаны, но не исполняются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7125" y="131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Проект стартует по договорённости, а не по правилу: срок зависит от того, кто вспомнил о шаге и до кого дошли руки.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61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9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125" y="168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процедуры не существует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125" y="193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Подтверждение готовности продукта и проверка завершения пилота решаются каждый раз заново и доходят до директора.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23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31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7125" y="230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критериев из 366 измеряется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7125" y="255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Ни срок, ни стоимость, ни качество подтвердить нечем: спор о результате выигрывает тот, кто увереннее.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85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93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25" y="292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из 5 — уровень зрелости каждого сквозного процесса ДУП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7125" y="317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 Методике это «Начальный»: результат держится на конкретном человеке, а не на системе. Целевой уровень —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47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55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7125" y="354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портфеля проверено аудитом по чек-листам с 2020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7125" y="379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Чек-листы написаны и лежат в методологии. Ошибка в проектных данных всплывает не на аудите, а на приёмке у госпартнёра.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20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Важная оговорка: двенадцать из пятнадцати узких мест уже описаны в методологии компании. Проблема не в том, что никто не придумал правил, а в том, что правила перестали исполняться.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предлагаем и что получим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Целевое состояние: процессы описаны, измеряются и улучшаются по циклу Методики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125" y="1050000"/>
            <a:ext cx="318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Что предлагаем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4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4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Восстановить исполнение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125" y="16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Там, где процедура уже описана в методологии, — вернуть её в работу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2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21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Закрыть подлинные пробелы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3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Спроектировать gate готовности продукта: процедуры нет ни в одном документе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125" y="28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28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Описать процессы, которыми владеем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30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Паспорта блоков 1, 2 и 4, чек-лист передачи и положение о контроле качества данных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125" y="35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125" y="3500000"/>
            <a:ext cx="264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Оцифровать управляемое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125" y="3760000"/>
            <a:ext cx="2640000" cy="3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444746"/>
                </a:solidFill>
                <a:latin typeface="Golos Text"/>
              </a:rPr>
              <a:t>Единая карточка проекта, автопрогноз и интеграции — после того, как процесс исполняется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7125" y="1050000"/>
            <a:ext cx="488975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28AB6A"/>
                </a:solidFill>
                <a:latin typeface="Golos Text SemiBold"/>
              </a:rPr>
              <a:t>Что получим за 12 месяцев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57125" y="1410000"/>
            <a:ext cx="254267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Показатель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99795" y="1410000"/>
            <a:ext cx="117354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Сегодня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73335" y="1410000"/>
            <a:ext cx="1173540" cy="34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57125" y="175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Полный пакет документов на старте проекта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99795" y="175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73335" y="175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 проектов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57125" y="209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Срок старта проекта после передачи от ДРБ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9795" y="209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73335" y="209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−30% к базовой линии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57125" y="243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Заявки на оплату, поданные в срок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99795" y="243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 обстоятельствам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73335" y="243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85%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7125" y="277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Покрытие портфеля аудитом по чек-листам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9795" y="277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0% с 2020 года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73335" y="277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100% портфеля за год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57125" y="3110000"/>
            <a:ext cx="254267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Регулярность прогноза поступлений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9795" y="311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чаты и разовые запросы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3335" y="3110000"/>
            <a:ext cx="1173540" cy="3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100% по календарю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57125" y="3450000"/>
            <a:ext cx="254267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Доля данных в единой системе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9795" y="345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фрагментировано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73335" y="3450000"/>
            <a:ext cx="1173540" cy="34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125" y="435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Уровень зрелости процессов поднимается с 1 до 3 из 5: паспорт процесса, измеряемые метрики и регулярный цикл улучшений.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объекты с высшим баллом, которые ДУП начинает сам.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Паспорт и замер «до» идут в той же волне и очередь не держат. Договорённости со смежниками — следующая волна.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волны 1: паспорта, замер и быстрые победы внутри ДУП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55 объектов;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Три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— по убыванию балла; волны 2 и 3 ждут договорённости со смежником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Запуск: паспорта и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Паспорта, замер «до» и быстрые победы внутри ДУП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25 объектов  ·  Старт программы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7041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7041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18 объектов  ·  Стыки с центральным офисом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6957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6957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957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Масштаб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25 объектов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20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восстанавливаем исполнение внутри ДУП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Чек-листы, регламенты и упрощение отчётности — без согласования со смежником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4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описываем границы процессов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Паспорта блоков 1, 2 и 4 и чек-лист передачи между реализацией и сопровождением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14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13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12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запуска, строго по убыванию балла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1.7.1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 (со…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 бюджета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Высший балл начинается сразу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2 держит только то, что нельзя решить внутри ДУП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1.5.1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Приём пакета от ДРБ, платежи и заявка на закупку стоят в начале очереди.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Закупки целиком, ФЭМ и gate готовности продукта ждут волну 2: норматив ставит другое подразделение, а не паспорт процесса.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волны 1 стоят по убыванию балла и паспорта не ждут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приёмки и письмо в ДРБ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реализации, директор ДУП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1.1, 1.1.1, 1.1.2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Инструкция по трём потокам платежей ВУ / КИЗ / КОЗ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Инструкция по очерёдности и единая форма реестра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1.9, 1.9.1, 1.9.2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Единый реестр и календарь прогноза поступлений и расходов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Реестр прогноза и календарь его обновления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2.3, 2.3.1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Регламент статус-встреч по проектам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Регламент, шаблон повестки и протокола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4.3, 4.3.1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Паспорт процесса: границы, вход, выход, владелец и три показателя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деятельности, 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остальная волна 1 по убыванию балла: реестр переносов, паспорта блоков 1 и 4, чек-лист передачи, пилотный аудит и матрица кураторов.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реализации (блок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методологии и положение о контроле качества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Положение о контроле качества и паспорт процесса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Участники проекта и 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Кто принимает решения, кто исполняет и в каком порядке идут фазы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1 · месяцы 1–4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Запуск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Быстрые победы, паспорта и пилотный аудит идут параллельно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7041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2 · месяцы 3–8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Стыки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SLA со смежниками, gate продукта и маршрут открытия филиала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6957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3 · месяцы 7–12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6957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Масштаб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Экономика поверки, единая карточка проекта и автоматизация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23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7125" y="2470000"/>
            <a:ext cx="183694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Роль в проекте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4070" y="2470000"/>
            <a:ext cx="250492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Кто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38995" y="2470000"/>
            <a:ext cx="4007880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За что отвечает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2756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Заказчик и спонсор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4070" y="2756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8995" y="2756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Приоритеты, утверждение паспортов процессов, эскалации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042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Руководитель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34070" y="3042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Назначается из ДУП / ГМП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8995" y="3042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Дорожная карта, риски, еженедельный 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3328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Владельцы процессов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34070" y="3328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Зам. по реализации, зам. по сопровождению, ГМП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38995" y="3328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Результат своих блоков, паспорта процессов, целевые значения метрик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125" y="3614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Процессный офис (ПМО)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34070" y="3614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Главный менеджер проектов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8995" y="3614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Методология, аудит качества данных, реестр процессов и метрик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125" y="3900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Рабочие группы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34070" y="3900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ДУП, центральный офис, филиалы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8995" y="3900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Регламенты стыков, SLA, проверка решений на практике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125" y="4336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Смежные подразделения, с которыми согласуются стыки: HR, ДРБ, Закупщики (ОЛЖА), Зерек, СТ, Финблок, Юр блок, филиалы и госпартнёр.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высшего балла внутри ДУП — паспорт очередь не держит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