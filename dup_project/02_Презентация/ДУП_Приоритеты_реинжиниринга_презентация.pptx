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0" r:id="rId4"/>
  </p:sldMasterIdLst>
  <p:notesMasterIdLst>
    <p:notesMasterId r:id="rId5"/>
  </p:notesMasterIdLst>
  <p:sldIdLst>
    <p:sldId id="256" r:id="rId6"/>
    <p:sldId id="268" r:id="rId16"/>
    <p:sldId id="269" r:id="rId15"/>
    <p:sldId id="270" r:id="rId14"/>
    <p:sldId id="271" r:id="rId13"/>
    <p:sldId id="272" r:id="rId12"/>
    <p:sldId id="273" r:id="rId11"/>
    <p:sldId id="274" r:id="rId10"/>
    <p:sldId id="275" r:id="rId9"/>
    <p:sldId id="276" r:id="rId8"/>
    <p:sldId id="277" r:id="rId7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  <p:sldId id="288" r:id="rId47"/>
    <p:sldId id="289" r:id="rId48"/>
    <p:sldId id="290" r:id="rId49"/>
    <p:sldId id="291" r:id="rId50"/>
    <p:sldId id="292" r:id="rId51"/>
    <p:sldId id="267" r:id="rId17"/>
  </p:sldIdLst>
  <p:sldSz cy="5143500" cx="9144000"/>
  <p:notesSz cx="6858000" cy="9144000"/>
  <p:embeddedFontLst>
    <p:embeddedFont>
      <p:font typeface="Golos Text"/>
      <p:regular r:id="rId18"/>
      <p:bold r:id="rId19"/>
    </p:embeddedFont>
    <p:embeddedFont>
      <p:font typeface="IBM Plex Sans"/>
      <p:regular r:id="rId20"/>
      <p:bold r:id="rId21"/>
      <p:italic r:id="rId22"/>
      <p:boldItalic r:id="rId23"/>
    </p:embeddedFont>
    <p:embeddedFont>
      <p:font typeface="Golos Text Medium"/>
      <p:regular r:id="rId24"/>
      <p:bold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JetBrains Mono"/>
      <p:regular r:id="rId30"/>
      <p:bold r:id="rId31"/>
      <p:italic r:id="rId32"/>
      <p:boldItalic r:id="rId33"/>
    </p:embeddedFont>
    <p:embeddedFont>
      <p:font typeface="Golos Text SemiBold"/>
      <p:regular r:id="rId34"/>
      <p:bold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6" roundtripDataSignature="AMtx7mjiC108pgRb5se202Y13m7UAO+V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.xml"/><Relationship Id="rId18" Type="http://schemas.openxmlformats.org/officeDocument/2006/relationships/font" Target="fonts/GolosText-regular.fntdata"/><Relationship Id="rId19" Type="http://schemas.openxmlformats.org/officeDocument/2006/relationships/font" Target="fonts/GolosText-bold.fntdata"/><Relationship Id="rId20" Type="http://schemas.openxmlformats.org/officeDocument/2006/relationships/font" Target="fonts/IBMPlexSans-regular.fntdata"/><Relationship Id="rId21" Type="http://schemas.openxmlformats.org/officeDocument/2006/relationships/font" Target="fonts/IBMPlexSans-bold.fntdata"/><Relationship Id="rId22" Type="http://schemas.openxmlformats.org/officeDocument/2006/relationships/font" Target="fonts/IBMPlexSans-italic.fntdata"/><Relationship Id="rId23" Type="http://schemas.openxmlformats.org/officeDocument/2006/relationships/font" Target="fonts/IBMPlexSans-boldItalic.fntdata"/><Relationship Id="rId24" Type="http://schemas.openxmlformats.org/officeDocument/2006/relationships/font" Target="fonts/GolosTextMedium-regular.fntdata"/><Relationship Id="rId25" Type="http://schemas.openxmlformats.org/officeDocument/2006/relationships/font" Target="fonts/GolosTextMedium-bold.fntdata"/><Relationship Id="rId26" Type="http://schemas.openxmlformats.org/officeDocument/2006/relationships/font" Target="fonts/Montserrat-regular.fntdata"/><Relationship Id="rId27" Type="http://schemas.openxmlformats.org/officeDocument/2006/relationships/font" Target="fonts/Montserrat-bold.fntdata"/><Relationship Id="rId28" Type="http://schemas.openxmlformats.org/officeDocument/2006/relationships/font" Target="fonts/Montserrat-italic.fntdata"/><Relationship Id="rId29" Type="http://schemas.openxmlformats.org/officeDocument/2006/relationships/font" Target="fonts/Montserrat-boldItalic.fntdata"/><Relationship Id="rId30" Type="http://schemas.openxmlformats.org/officeDocument/2006/relationships/font" Target="fonts/JetBrainsMono-regular.fntdata"/><Relationship Id="rId31" Type="http://schemas.openxmlformats.org/officeDocument/2006/relationships/font" Target="fonts/JetBrainsMono-bold.fntdata"/><Relationship Id="rId32" Type="http://schemas.openxmlformats.org/officeDocument/2006/relationships/font" Target="fonts/JetBrainsMono-italic.fntdata"/><Relationship Id="rId33" Type="http://schemas.openxmlformats.org/officeDocument/2006/relationships/font" Target="fonts/JetBrainsMono-boldItalic.fntdata"/><Relationship Id="rId34" Type="http://schemas.openxmlformats.org/officeDocument/2006/relationships/font" Target="fonts/GolosTextSemiBold-regular.fntdata"/><Relationship Id="rId35" Type="http://schemas.openxmlformats.org/officeDocument/2006/relationships/font" Target="fonts/GolosTextSemiBold-bold.fntdata"/><Relationship Id="rId36" Type="http://customschemas.google.com/relationships/presentationmetadata" Target="metadata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Relationship Id="rId40" Type="http://schemas.openxmlformats.org/officeDocument/2006/relationships/slide" Target="slides/slide16.xml"/><Relationship Id="rId41" Type="http://schemas.openxmlformats.org/officeDocument/2006/relationships/slide" Target="slides/slide17.xml"/><Relationship Id="rId42" Type="http://schemas.openxmlformats.org/officeDocument/2006/relationships/slide" Target="slides/slide18.xml"/><Relationship Id="rId43" Type="http://schemas.openxmlformats.org/officeDocument/2006/relationships/slide" Target="slides/slide19.xml"/><Relationship Id="rId44" Type="http://schemas.openxmlformats.org/officeDocument/2006/relationships/slide" Target="slides/slide20.xml"/><Relationship Id="rId45" Type="http://schemas.openxmlformats.org/officeDocument/2006/relationships/slide" Target="slides/slide21.xml"/><Relationship Id="rId46" Type="http://schemas.openxmlformats.org/officeDocument/2006/relationships/slide" Target="slides/slide22.xml"/><Relationship Id="rId47" Type="http://schemas.openxmlformats.org/officeDocument/2006/relationships/slide" Target="slides/slide23.xml"/><Relationship Id="rId48" Type="http://schemas.openxmlformats.org/officeDocument/2006/relationships/slide" Target="slides/slide24.xml"/><Relationship Id="rId49" Type="http://schemas.openxmlformats.org/officeDocument/2006/relationships/slide" Target="slides/slide25.xml"/><Relationship Id="rId50" Type="http://schemas.openxmlformats.org/officeDocument/2006/relationships/slide" Target="slides/slide26.xml"/><Relationship Id="rId5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bf351e6d1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1bf351e6d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4fc5f99509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4fc5f99509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1b4f510750_5_3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g31b4f510750_5_358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9" name="Google Shape;9;g31b4f510750_5_358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10" name="Google Shape;10;g31b4f510750_5_358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g31b4f510750_5_358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g31b4f510750_5_358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31b4f510750_5_358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g31b4f510750_5_358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1b4f510750_5_358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g31b4f510750_5_358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g31b4f510750_5_358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1b4f510750_5_358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g31b4f510750_5_358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g31b4f510750_5_358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g31b4f510750_5_358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Слайд ТЕМНО СЕРЫЙ ФОН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1d6e50d44b_1_3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g31b4f510750_5_374"/>
          <p:cNvGrpSpPr/>
          <p:nvPr/>
        </p:nvGrpSpPr>
        <p:grpSpPr>
          <a:xfrm>
            <a:off x="7487097" y="394835"/>
            <a:ext cx="1191767" cy="179211"/>
            <a:chOff x="7419975" y="4637527"/>
            <a:chExt cx="1105946" cy="166306"/>
          </a:xfrm>
        </p:grpSpPr>
        <p:sp>
          <p:nvSpPr>
            <p:cNvPr id="26" name="Google Shape;26;g31b4f510750_5_374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g31b4f510750_5_374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g31b4f510750_5_374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1b4f510750_5_374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g31b4f510750_5_374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g31b4f510750_5_374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1b4f510750_5_374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g31b4f510750_5_374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g31b4f510750_5_374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g31b4f510750_5_374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g31b4f510750_5_374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" name="Google Shape;37;g31b4f510750_5_374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38" name="Google Shape;38;g31b4f510750_5_374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1b4f510750_5_357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41" name="Google Shape;41;g31b4f510750_5_357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1b4f510750_5_3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1b4f510750_5_360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45" name="Google Shape;45;g31b4f510750_5_360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46" name="Google Shape;46;g31b4f510750_5_360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g31b4f510750_5_360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g31b4f510750_5_360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1b4f510750_5_360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g31b4f510750_5_360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g31b4f510750_5_360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g31b4f510750_5_360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1b4f510750_5_360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g31b4f510750_5_360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g31b4f510750_5_360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1b4f510750_5_360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1b4f510750_5_360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b4f510750_5_3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g31b4f510750_5_3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1b4f510750_5_3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b4f510750_5_3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g31b4f510750_5_3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b4f510750_5_3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b4f510750_5_3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" name="Google Shape;69;g31b4f510750_5_3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1b4f510750_5_37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g31b4f510750_5_37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1b4f510750_5_3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" name="Google Shape;74;g31b4f510750_5_37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 1">
  <p:cSld name="Один столбец_белый 1">
    <p:bg>
      <p:bgPr>
        <a:solidFill>
          <a:srgbClr val="6C85DB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b4f510750_5_380"/>
          <p:cNvSpPr txBox="1"/>
          <p:nvPr>
            <p:ph type="title"/>
          </p:nvPr>
        </p:nvSpPr>
        <p:spPr>
          <a:xfrm>
            <a:off x="180000" y="180000"/>
            <a:ext cx="39906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g31b4f510750_5_380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g31b4f510750_5_380"/>
          <p:cNvSpPr txBox="1"/>
          <p:nvPr>
            <p:ph idx="1" type="body"/>
          </p:nvPr>
        </p:nvSpPr>
        <p:spPr>
          <a:xfrm>
            <a:off x="4369500" y="180000"/>
            <a:ext cx="4594500" cy="46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type="title">
  <p:cSld name="TITLE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4f510750_5_38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g31b4f510750_5_38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1b4f510750_5_3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">
  <p:cSld name="Title and Content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b4f510750_5_388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g31b4f510750_5_388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1">
  <p:cSld name="Title and Content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b4f510750_5_391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g31b4f510750_5_391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2">
  <p:cSld name="Заголовок и контент 2"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1b4f510750_5_394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g31b4f510750_5_394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2" name="Google Shape;92;g31b4f510750_5_394"/>
          <p:cNvSpPr txBox="1"/>
          <p:nvPr>
            <p:ph idx="12" type="sldNum"/>
          </p:nvPr>
        </p:nvSpPr>
        <p:spPr>
          <a:xfrm>
            <a:off x="8556784" y="4749851"/>
            <a:ext cx="548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">
  <p:cSld name="Заголовок и контент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b4f510750_5_398"/>
          <p:cNvSpPr txBox="1"/>
          <p:nvPr>
            <p:ph type="title"/>
          </p:nvPr>
        </p:nvSpPr>
        <p:spPr>
          <a:xfrm>
            <a:off x="327479" y="327456"/>
            <a:ext cx="48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g31b4f510750_5_398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6" name="Google Shape;96;g31b4f510750_5_398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 1">
  <p:cSld name="Заголовок и контент 3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b4f510750_5_402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g31b4f510750_5_402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графит">
  <p:cSld name="ONE_COLUMN_TEXT_1">
    <p:bg>
      <p:bgPr>
        <a:solidFill>
          <a:srgbClr val="1E1E1E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1b4f510750_5_405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2" name="Google Shape;102;g31b4f510750_5_405"/>
          <p:cNvSpPr txBox="1"/>
          <p:nvPr>
            <p:ph type="title"/>
          </p:nvPr>
        </p:nvSpPr>
        <p:spPr>
          <a:xfrm>
            <a:off x="180000" y="180000"/>
            <a:ext cx="39906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g31b4f510750_5_405"/>
          <p:cNvSpPr txBox="1"/>
          <p:nvPr>
            <p:ph idx="1" type="body"/>
          </p:nvPr>
        </p:nvSpPr>
        <p:spPr>
          <a:xfrm>
            <a:off x="180000" y="1883600"/>
            <a:ext cx="4594500" cy="26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4" name="Google Shape;104;g31b4f510750_5_4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0000" y="4682460"/>
            <a:ext cx="713135" cy="3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31b4f510750_5_40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">
  <p:cSld name="Один столбец_белый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1b4f510750_5_411"/>
          <p:cNvSpPr txBox="1"/>
          <p:nvPr>
            <p:ph type="title"/>
          </p:nvPr>
        </p:nvSpPr>
        <p:spPr>
          <a:xfrm>
            <a:off x="312125" y="180000"/>
            <a:ext cx="41178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1b4f510750_5_413"/>
          <p:cNvSpPr txBox="1"/>
          <p:nvPr>
            <p:ph type="title"/>
          </p:nvPr>
        </p:nvSpPr>
        <p:spPr>
          <a:xfrm>
            <a:off x="630785" y="441132"/>
            <a:ext cx="7882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1b4f510750_2_431"/>
          <p:cNvSpPr txBox="1"/>
          <p:nvPr>
            <p:ph type="title"/>
          </p:nvPr>
        </p:nvSpPr>
        <p:spPr>
          <a:xfrm>
            <a:off x="684682" y="308559"/>
            <a:ext cx="3743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rgbClr val="23A8D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g31b4f510750_2_431"/>
          <p:cNvSpPr txBox="1"/>
          <p:nvPr/>
        </p:nvSpPr>
        <p:spPr>
          <a:xfrm>
            <a:off x="375200" y="4823550"/>
            <a:ext cx="3458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Strictly Confidential. Copyright Reserved to Sergek Projects Ltd 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1b4f510750_2_431"/>
          <p:cNvSpPr txBox="1"/>
          <p:nvPr>
            <p:ph idx="12" type="sldNum"/>
          </p:nvPr>
        </p:nvSpPr>
        <p:spPr>
          <a:xfrm>
            <a:off x="8677835" y="4889749"/>
            <a:ext cx="1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bf351e6d1_0_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1bf351e6d1_0_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1bf351e6d1_0_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g31bf351e6d1_0_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g31bf351e6d1_0_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bf351e6d1_0_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1bf351e6d1_0_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bf351e6d1_0_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1bf351e6d1_0_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g31bf351e6d1_0_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g31bf351e6d1_0_37"/>
          <p:cNvGrpSpPr/>
          <p:nvPr/>
        </p:nvGrpSpPr>
        <p:grpSpPr>
          <a:xfrm>
            <a:off x="486285" y="590175"/>
            <a:ext cx="2398023" cy="360601"/>
            <a:chOff x="7419975" y="4637527"/>
            <a:chExt cx="1105946" cy="166306"/>
          </a:xfrm>
        </p:grpSpPr>
        <p:sp>
          <p:nvSpPr>
            <p:cNvPr id="137" name="Google Shape;137;g31bf351e6d1_0_37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g31bf351e6d1_0_37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g31bf351e6d1_0_37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g31bf351e6d1_0_37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31bf351e6d1_0_37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g31bf351e6d1_0_37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g31bf351e6d1_0_37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g31bf351e6d1_0_37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g31bf351e6d1_0_37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1bf351e6d1_0_37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g31bf351e6d1_0_37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g31bf351e6d1_0_37"/>
          <p:cNvSpPr txBox="1"/>
          <p:nvPr/>
        </p:nvSpPr>
        <p:spPr>
          <a:xfrm>
            <a:off x="373227" y="3420000"/>
            <a:ext cx="300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000" b="0">
                <a:solidFill>
                  <a:srgbClr val="A7B6BD"/>
                </a:solidFill>
                <a:latin typeface="Golos Text"/>
              </a:rPr>
              <a:t>Сентябрь 2026</a:t>
            </a:r>
            <a:endParaRPr b="0" i="0" sz="10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9" name="Google Shape;149;g31bf351e6d1_0_37"/>
          <p:cNvSpPr txBox="1"/>
          <p:nvPr/>
        </p:nvSpPr>
        <p:spPr>
          <a:xfrm>
            <a:off x="373227" y="1320000"/>
            <a:ext cx="41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500" b="0">
                <a:solidFill>
                  <a:srgbClr val="FFFFFF"/>
                </a:solidFill>
                <a:latin typeface="Golos Text SemiBold"/>
              </a:rPr>
              <a:t>Реинжиниринг процессов ДУП</a:t>
            </a:r>
            <a:endParaRPr b="0" i="0" sz="2400" u="none" cap="none" strike="noStrike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150" name="Google Shape;150;g31bf351e6d1_0_37"/>
          <p:cNvPicPr preferRelativeResize="0"/>
          <p:nvPr/>
        </p:nvPicPr>
        <p:blipFill rotWithShape="1">
          <a:blip r:embed="rId3">
            <a:alphaModFix/>
          </a:blip>
          <a:srcRect b="0" l="44680" r="6316" t="0"/>
          <a:stretch/>
        </p:blipFill>
        <p:spPr>
          <a:xfrm rot="5400000">
            <a:off x="4094185" y="266040"/>
            <a:ext cx="5143504" cy="461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ectangle 150"/>
          <p:cNvSpPr/>
          <p:nvPr/>
        </p:nvSpPr>
        <p:spPr>
          <a:xfrm>
            <a:off x="433227" y="2440000"/>
            <a:ext cx="620000" cy="3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2" name="TextBox 151"/>
          <p:cNvSpPr txBox="1"/>
          <p:nvPr/>
        </p:nvSpPr>
        <p:spPr>
          <a:xfrm>
            <a:off x="433227" y="260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28AB6A"/>
                </a:solidFill>
                <a:latin typeface="Golos Text Medium"/>
              </a:rPr>
              <a:t>От предпосылок до очереди работ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3227" y="2990000"/>
            <a:ext cx="4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D4D8E4"/>
                </a:solidFill>
                <a:latin typeface="Golos Text"/>
              </a:rPr>
              <a:t>Департамент управления проектами · ТОО «Көркем Телеком»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Периметр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объекты, которыми система управления будет заниматься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17125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013D85"/>
                </a:solidFill>
                <a:latin typeface="Golos Text SemiBold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25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объектов в реестре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9562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39562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28AB6A"/>
                </a:solidFill>
                <a:latin typeface="Golos Text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9562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процессов, из них 5 — дерево ДУП и 6 — сквозные стыки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1999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761999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013D85"/>
                </a:solidFill>
                <a:latin typeface="Golos Text SemiBold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1999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подпроцессов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4436" y="1010000"/>
            <a:ext cx="1982437" cy="12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884436" y="1150000"/>
            <a:ext cx="1742437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28AB6A"/>
                </a:solidFill>
                <a:latin typeface="Golos Text SemiBold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4436" y="1710000"/>
            <a:ext cx="1742437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44746"/>
                </a:solidFill>
                <a:latin typeface="Golos Text"/>
              </a:rPr>
              <a:t>этапов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2450000"/>
            <a:ext cx="834975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Golos Text SemiBold"/>
              </a:rPr>
              <a:t>Роль ДУП в этих объектах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125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8" name="Rectangle 17"/>
          <p:cNvSpPr/>
          <p:nvPr/>
        </p:nvSpPr>
        <p:spPr>
          <a:xfrm>
            <a:off x="397125" y="2710000"/>
            <a:ext cx="1982437" cy="7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9" name="TextBox 18"/>
          <p:cNvSpPr txBox="1"/>
          <p:nvPr/>
        </p:nvSpPr>
        <p:spPr>
          <a:xfrm>
            <a:off x="517125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28AB6A"/>
                </a:solidFill>
                <a:latin typeface="Golos Text SemiBold"/>
              </a:rPr>
              <a:t>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125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владелец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125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Результат на ДУП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19562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3" name="Rectangle 22"/>
          <p:cNvSpPr/>
          <p:nvPr/>
        </p:nvSpPr>
        <p:spPr>
          <a:xfrm>
            <a:off x="2519562" y="2710000"/>
            <a:ext cx="1982437" cy="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2639562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013D85"/>
                </a:solidFill>
                <a:latin typeface="Golos Text SemiBold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9562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участник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9562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 в чужом процессе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1999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8" name="Rectangle 27"/>
          <p:cNvSpPr/>
          <p:nvPr/>
        </p:nvSpPr>
        <p:spPr>
          <a:xfrm>
            <a:off x="4641999" y="2710000"/>
            <a:ext cx="1982437" cy="70000"/>
          </a:xfrm>
          <a:prstGeom prst="rect">
            <a:avLst/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4761999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A87300"/>
                </a:solidFill>
                <a:latin typeface="Golos Text SemiBold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1999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клиент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1999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Принимает результат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4436" y="2710000"/>
            <a:ext cx="1982437" cy="9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3" name="Rectangle 32"/>
          <p:cNvSpPr/>
          <p:nvPr/>
        </p:nvSpPr>
        <p:spPr>
          <a:xfrm>
            <a:off x="6764436" y="2710000"/>
            <a:ext cx="1982437" cy="70000"/>
          </a:xfrm>
          <a:prstGeom prst="rect">
            <a:avLst/>
          </a:prstGeom>
          <a:solidFill>
            <a:srgbClr val="444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4" name="TextBox 33"/>
          <p:cNvSpPr txBox="1"/>
          <p:nvPr/>
        </p:nvSpPr>
        <p:spPr>
          <a:xfrm>
            <a:off x="6884436" y="2830000"/>
            <a:ext cx="17424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>
                <a:solidFill>
                  <a:srgbClr val="444746"/>
                </a:solidFill>
                <a:latin typeface="Golos Text SemiBold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4436" y="32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Golos Text SemiBold"/>
              </a:rPr>
              <a:t>не определён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4436" y="3430000"/>
            <a:ext cx="1742437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Таких объектов нет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7125" y="3810000"/>
            <a:ext cx="834975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A7B6BD"/>
                </a:solidFill>
                <a:latin typeface="Golos Text"/>
              </a:rPr>
              <a:t>Корень дерева ДУП.0 в очередь не ставится: его результат складывается из блоков 1–4 и сквозных стыков с центральным офисом.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1 из 5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417487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14612" y="970000"/>
            <a:ext cx="751477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566089" y="970000"/>
            <a:ext cx="250492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7" name="Rectangle 6"/>
          <p:cNvSpPr/>
          <p:nvPr/>
        </p:nvSpPr>
        <p:spPr>
          <a:xfrm>
            <a:off x="4071014" y="970000"/>
            <a:ext cx="50098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1999" y="970000"/>
            <a:ext cx="50098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4" y="970000"/>
            <a:ext cx="367389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2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4612" y="12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6089" y="12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71014" y="1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1999" y="1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2984" y="12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чек-лист минимального пакета и правило возврата неполного комплекта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5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612" y="15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66089" y="15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71014" y="15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999" y="15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2984" y="15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Описать правило очерёдности: какой платёж попадает в начало реестра и почему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8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4612" y="18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66089" y="18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 программа)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71014" y="18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1999" y="18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4" y="18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Ввести обязательную проверку по чек-листу до регистрации проекта в портфеле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1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612" y="21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66089" y="21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71014" y="21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1999" y="21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2984" y="21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инструкцию по трём потокам платежей и единую форму реестра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4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4612" y="24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1.7.1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66089" y="24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Инициация заявки, сбор спецификаций и тех. карт (со СТ)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71014" y="24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1999" y="24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2984" y="24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Ввести форму заявки и правило: тех. карты СТ собираются до подачи заявки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7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4612" y="27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66089" y="27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Прогноз поступлений / расходов и контроль бюджета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71014" y="27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1999" y="27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4" y="27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Завести единый реестр прогноза и календарь его обновления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125" y="30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4612" y="30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2.3.1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66089" y="30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Сбор данных и подтверждений по проектам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71014" y="30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1999" y="30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72984" y="30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форму и срок подачи данных филиалами в реестр прогноза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125" y="33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4612" y="33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66089" y="33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Обратная связь по дефектам компонентов → владелец ТЗ / закупки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71014" y="33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1999" y="33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72984" y="33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форму фиксации дефекта и маршрут «эксплуатация → владелец ТЗ → закупки»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6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4612" y="36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66089" y="36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Отчётность по проектам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71014" y="36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1999" y="36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4" y="36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один регламент отчётности: проект, операция, портфель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7125" y="39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4612" y="39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4.3.1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66089" y="39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Статус-встречи по проекту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71014" y="39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1999" y="39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72984" y="39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Ввести статус-встречи: частота, повестка, протокол, адресат решений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7125" y="42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4612" y="42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1.1.1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66089" y="42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Получение карточки проекта и комплекта документов от ДРБ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071014" y="4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1999" y="4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72984" y="42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Зафиксировать в письме ДРБ норматив срока передачи пакета и форму карточки проекта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2 из 5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417487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14612" y="970000"/>
            <a:ext cx="751477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566089" y="970000"/>
            <a:ext cx="250492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7" name="Rectangle 6"/>
          <p:cNvSpPr/>
          <p:nvPr/>
        </p:nvSpPr>
        <p:spPr>
          <a:xfrm>
            <a:off x="4071014" y="970000"/>
            <a:ext cx="50098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1999" y="970000"/>
            <a:ext cx="50098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4" y="970000"/>
            <a:ext cx="367389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2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4612" y="12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1.9.1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6089" y="12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Агрегация заявок и данных филиалов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71014" y="1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1999" y="1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2984" y="12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Ввести единую форму заявки филиала и срок её подачи до даты формирования реестра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5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612" y="15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66089" y="15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Постпроектное сопровождение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71014" y="15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999" y="15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2984" y="15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паспорт процесса сопровождения: границы, вход, выход и три показателя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8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4612" y="18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66089" y="18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Обработка запросов на перенос оборудования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71014" y="18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1999" y="18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4" y="18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Завести реестр переносов с сопоставлением «факт против ФЭМ»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1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612" y="21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66089" y="21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Реализация проекта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71014" y="21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1999" y="21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2984" y="21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паспорт процесса реализации: границы, вход, выход и три показателя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4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4612" y="24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66089" y="24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Передача проекта «реализация → сопровождение»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71014" y="24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1999" y="24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2984" y="24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Спроектировать чек-лист передачи и внести обязательную дату handover в карточку проекта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7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4612" y="27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66089" y="27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Методология и контроль качества (ПМО)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71014" y="27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1999" y="27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4" y="27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паспорт процесса методологии и положение о контроле качества проектных данных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125" y="30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4612" y="30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66089" y="30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Выявление нехватки бюджета и вынесение на ОСУ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71014" y="30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1999" y="30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72984" y="30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Зафиксировать порог и срок вынесения вопроса о нехватке бюджета на ОСУ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125" y="33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4612" y="33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Б.5.1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66089" y="33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Участие ДУП: потребность, данные по региону, приём площадки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71014" y="33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1999" y="33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72984" y="33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критерий инициации открытия филиала и форму обоснования потребности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6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4612" y="36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66089" y="36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Контроль качества и полноты проектных данных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71014" y="36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1999" y="36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4" y="36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Провести пилотный аудит одного филиала и развернуть его на весь портфель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7125" y="39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4612" y="39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4.3.2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66089" y="39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Операционный статус руководству и госпартнёру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71014" y="39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1999" y="39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72984" y="39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Собирать операционный статус из протокола статус-встреч, без второго опроса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7125" y="42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4612" y="42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66089" y="42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Управление филиальной сетью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071014" y="4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1999" y="4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72984" y="42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паспорт процесса филиальной сети: отношения вне проекта и стык с открытием филиала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3 из 5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417487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14612" y="970000"/>
            <a:ext cx="751477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566089" y="970000"/>
            <a:ext cx="250492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7" name="Rectangle 6"/>
          <p:cNvSpPr/>
          <p:nvPr/>
        </p:nvSpPr>
        <p:spPr>
          <a:xfrm>
            <a:off x="4071014" y="970000"/>
            <a:ext cx="50098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1999" y="970000"/>
            <a:ext cx="50098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4" y="970000"/>
            <a:ext cx="367389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2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4612" y="12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6089" y="12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Назначение куратора (проект и филиал)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71014" y="1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1999" y="1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2984" y="12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одну матрицу «филиал → куратор» и срок назначения от даты регистрации проекта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5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612" y="15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4.3.3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66089" y="15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Портфельная отчётность руководству и заказчикам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71014" y="15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999" y="15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2984" y="15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Собирать портфельный отчёт из проектного и операционного статуса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8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4612" y="18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66089" y="18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Общие отношения с филиалом (вне привязки к проекту)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71014" y="18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1999" y="18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4" y="18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порядок обращений филиала вне проектной рамки: кто принимает и в какой срок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1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612" y="21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66089" y="21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71014" y="21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1999" y="21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2984" y="21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Закупщиками нормативы сроков по шагам процедуры и правило эскалации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4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4612" y="24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66089" y="24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71014" y="24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1999" y="24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2984" y="24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Разработать регламент gate: критерии пилота, подпись директора ДУП и право блокировать старт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7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4612" y="27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66089" y="27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Формирование и согласование бюджета (ФЭМ)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71014" y="27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1999" y="27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4" y="27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Провести ревизию нормативов ФЭМ и согласовать с Финблоком срок рассмотрения модели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125" y="30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4612" y="30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1.5.1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66089" y="30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Формирование ФЭМ по шаблону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71014" y="30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1999" y="30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72984" y="30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Пересчитать нормы поверки, переносов и логистики по фактическим данным за два года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125" y="33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4612" y="33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1.2.1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66089" y="33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Проверка завершения пилота / тестовой эксплуатации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71014" y="33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1999" y="33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72984" y="33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Определить измеримые критерии завершения пилота и форму подтверждения от ДРБ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6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4612" y="36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66089" y="36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Инициация продления / модернизации контракта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71014" y="36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1999" y="36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4" y="36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Установить срок инициации продления до окончания договора и точку передачи в ДРБ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7125" y="39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4612" y="39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1.7.2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66089" y="39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Проведение процедуры закупки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71014" y="39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1999" y="39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72984" y="39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Внести шаги процедуры в общий трекер и установить точку эскалации при просрочке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7125" y="42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4612" y="42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1.7.3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66089" y="42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Контроль сроков поставки и приёмка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071014" y="4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1999" y="4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72984" y="42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форму приёмки с фиксацией дефектов и маршрутом их передачи владельцу ТЗ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4 из 5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417487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14612" y="970000"/>
            <a:ext cx="751477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566089" y="970000"/>
            <a:ext cx="250492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7" name="Rectangle 6"/>
          <p:cNvSpPr/>
          <p:nvPr/>
        </p:nvSpPr>
        <p:spPr>
          <a:xfrm>
            <a:off x="4071014" y="970000"/>
            <a:ext cx="50098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1999" y="970000"/>
            <a:ext cx="50098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4" y="970000"/>
            <a:ext cx="367389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2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4612" y="12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6089" y="12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Производство, монтаж и калибровка оборудования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71014" y="1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1999" y="1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2984" y="12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Зафиксировать со СТ срок выдачи тех. карт — до подачи заявки на закупку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5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612" y="15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66089" y="15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Открытие нового филиала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71014" y="15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999" y="15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2984" y="15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на Операционном комитете сквозной маршрут Юр → HR → Финблок → ДУП и сроки по этапам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8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4612" y="18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1.5.2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66089" y="18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Проверка и согласование ФЭМ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71014" y="18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1999" y="18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4" y="18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Зафиксировать в SLA срок рассмотрения ФЭМ Финблоком и состав замечаний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1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612" y="21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66089" y="21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Монтаж и запуск ИТ-инфраструктуры ЦОД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71014" y="21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1999" y="21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2984" y="21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Включить интерфейс с Зерек в карту процессов и согласовать срок монтажа ИТ-инфраструктуры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4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4612" y="24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66089" y="24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Юридическое сопровождение договоров с контрагентами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71014" y="24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1999" y="24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2984" y="24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Юр блоком срок рассмотрения договора и типовые условия по проектам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7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4612" y="27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Б.5.3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66089" y="27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Регистрация и запуск филиала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71014" y="27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1999" y="27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4" y="27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Юр блоком срок регистрации филиала и чек-лист приёма его в работу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125" y="30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4612" y="30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66089" y="30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Оформление штата и кадровых приказов по проекту и филиалу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71014" y="30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1999" y="30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72984" y="30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HR срок оформления штата и кадровых приказов по филиалу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125" y="33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4612" y="33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1.9.3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66089" y="33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Решение об оплате и проведение платежа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71014" y="33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1999" y="33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72984" y="33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Финблоком норматив срока от передачи реестра до проведения платежа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6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4612" y="36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2.3.2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66089" y="36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Планирование и решение по прогнозу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71014" y="36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1999" y="36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4" y="36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Финблоком срок возврата утверждённого прогноза в ДУП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7125" y="39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4612" y="39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Б.5.2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66089" y="39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Подготовка пакета документов и доверенностей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71014" y="39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1999" y="39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72984" y="39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Юр блоком срок подготовки пакета документов и доверенностей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7125" y="42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4612" y="42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66089" y="42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Организация поверки оборудования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071014" y="4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1999" y="4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61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72984" y="42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Рассчитать экономику собственной аккредитации против аутсорса поверки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Перечень процессов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Все 55 объектов реестра в порядке очереди. Лист 5 из 5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970000"/>
            <a:ext cx="417487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14612" y="970000"/>
            <a:ext cx="751477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566089" y="970000"/>
            <a:ext cx="250492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Объект</a:t>
            </a:r>
          </a:p>
        </p:txBody>
      </p:sp>
      <p:sp>
        <p:nvSpPr>
          <p:cNvPr id="7" name="Rectangle 6"/>
          <p:cNvSpPr/>
          <p:nvPr/>
        </p:nvSpPr>
        <p:spPr>
          <a:xfrm>
            <a:off x="4071014" y="970000"/>
            <a:ext cx="50098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Волна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1999" y="970000"/>
            <a:ext cx="50098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2984" y="970000"/>
            <a:ext cx="367389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2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4612" y="12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6089" y="12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Разработка проектной документации (устав, план, приказ)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71014" y="1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1999" y="1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2984" y="12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Утвердить типовой комплект: устав, план проекта, приказ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5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612" y="15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66089" y="15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Разработка и поддержка методологии, шаблонов, реестров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71014" y="15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999" y="15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2984" y="15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Актуализировать методологию: роли вместо фамилий, глоссарий, архивация устаревшего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125" y="18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4612" y="18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1.1.3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66089" y="18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Регистрация проекта в портфеле / системе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71014" y="18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1999" y="18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2984" y="18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Определить обязательные поля карточки проекта в SimBASE и запретить регистрацию без них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1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612" y="21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1.4.1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66089" y="21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Оформление приказа на реализацию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71014" y="21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1999" y="21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2984" y="21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Свести устав и план в единую форму приказа на реализацию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4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4612" y="24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66089" y="24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Финансовое закрытие проекта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71014" y="24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1999" y="24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2984" y="24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Согласовать с Финблоком состав и срок пакета документов на закрытие проекта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27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4612" y="27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Б.2.1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66089" y="27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Служебная записка о необходимости закрытия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71014" y="27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1999" y="27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46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2984" y="27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Ввести типовую форму служебной записки о закрытии проекта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125" y="30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4612" y="30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2.2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66089" y="30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Сопровождение канала связи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71014" y="30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1999" y="30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72984" y="30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Закрепить мониторинг канала связи в Zabbix и правило реакции на отказ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125" y="33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4612" y="33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1.5.3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66089" y="33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Утверждение бюджета, кредитование при необходимости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71014" y="33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1999" y="33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33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72984" y="33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Отдельных действий не требуется — срок входит в SLA по объекту 1.5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7125" y="36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4612" y="36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Б.2.2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66089" y="36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Сбор актов сверок, уведомления о расторжении договоров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71014" y="36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1999" y="36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72984" y="36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Отдельных действий не требуется — данные предоставляются по запросу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7125" y="3970000"/>
            <a:ext cx="41748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4612" y="3970000"/>
            <a:ext cx="751477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Б.2.3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66089" y="3970000"/>
            <a:ext cx="250492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Формирование бюджета на логистику / демонтаж, закрытие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71014" y="39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вне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1999" y="3970000"/>
            <a:ext cx="50098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24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72984" y="3970000"/>
            <a:ext cx="367389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Отдельных действий не требуется — подтверждение закрытия приходит из Финблока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7125" y="4270000"/>
            <a:ext cx="41748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4612" y="4270000"/>
            <a:ext cx="751477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ДУП.0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66089" y="4270000"/>
            <a:ext cx="250492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Управление проектами (ГЧП / ГЗ)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071014" y="4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1999" y="4270000"/>
            <a:ext cx="50098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72984" y="4270000"/>
            <a:ext cx="367389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Отдельных действий не требуется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мы взялись за этот проект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Три предпосылки, с которых начался проект трансформации процессов ДУП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3971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6" name="TextBox 5"/>
          <p:cNvSpPr txBox="1"/>
          <p:nvPr/>
        </p:nvSpPr>
        <p:spPr>
          <a:xfrm>
            <a:off x="5571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Портфель вырос, управление —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1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ДУП ведёт доходные проекты компании по ГЧП и госзакупу: фото-видеофиксация, каналы связи, эко-мониторинг. Портфель и филиальная сеть выросли, а управление осталось на устных договорённостях.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037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9" name="Rectangle 8"/>
          <p:cNvSpPr/>
          <p:nvPr/>
        </p:nvSpPr>
        <p:spPr>
          <a:xfrm>
            <a:off x="324037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340037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Методика компании обязательна, но не применяется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037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В компании действует Методика системы управления бизнес-процессами KT_METHOD v1. Она обязательна для всех работников (п. 4). Владение по должностям уже закреплено, но паспортов процессов нет и метрики не установлены.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3625" y="1090000"/>
            <a:ext cx="2663250" cy="215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3" name="Rectangle 12"/>
          <p:cNvSpPr/>
          <p:nvPr/>
        </p:nvSpPr>
        <p:spPr>
          <a:xfrm>
            <a:off x="6083625" y="1090000"/>
            <a:ext cx="420000" cy="26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243625" y="1330000"/>
            <a:ext cx="234325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Спорить о сроке приходится словами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3625" y="1950000"/>
            <a:ext cx="2343250" cy="11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Фактические значения не измерялись. Ни доказать эффект изменения, ни назвать виновника срыва было нечем — только мнения.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480000"/>
            <a:ext cx="8349750" cy="64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Цель проекта: выстроить управляемую, прозрачную и масштабируемую модель управления проектами — предсказуемый запуск во всех филиалах, единые правила стыка филиала, ДУП и центрального офиса, восстановленное исполнение методологии.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уже сделано в проекте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Диагностика завершена: процессная модель описана, владение закреплено, метрики и очередь работ определены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620000" bIns="90000" wrap="square"/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А — текущий анализ: интервью, дерево процессов v4, RACI-матрица, кадровая матрица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Слой B — наследие методологии «Сергек»: 434 документа, реестр Confluence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Методика системы управления бизнес-процессами KT_METHOD v1 — 52 страницы</a:t>
            </a:r>
          </a:p>
          <a:p>
            <a:pPr algn="l">
              <a:lnSpc>
                <a:spcPct val="130000"/>
              </a:lnSpc>
              <a:spcBef>
                <a:spcPts val="1100"/>
              </a:spcBef>
            </a:pPr>
            <a:r>
              <a:rPr sz="950">
                <a:solidFill>
                  <a:srgbClr val="282828"/>
                </a:solidFill>
                <a:latin typeface="Golos Text"/>
              </a:rPr>
              <a:t>Матрица стыков ДУП со смежными подразделениями центрального офиса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125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13D85"/>
                </a:solidFill>
                <a:latin typeface="Golos Text SemiBold"/>
              </a:rPr>
              <a:t>Что проанализировали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2000" y="1090000"/>
            <a:ext cx="4064875" cy="28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7" name="TextBox 6"/>
          <p:cNvSpPr txBox="1"/>
          <p:nvPr/>
        </p:nvSpPr>
        <p:spPr>
          <a:xfrm>
            <a:off x="4842000" y="1270000"/>
            <a:ext cx="374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28AB6A"/>
                </a:solidFill>
                <a:latin typeface="Golos Text SemiBold"/>
              </a:rPr>
              <a:t>Что построено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2000" y="171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процессной модели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2000" y="194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55 объектов: процессы, подпроцессы и этапы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2000" y="225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Карта ролей ДУП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2000" y="248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роль ДУП и бизнес-владелец у каждого объекта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2000" y="279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Реестр метрик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2000" y="302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366 критериев оценки с формулой и источником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2000" y="3330000"/>
            <a:ext cx="3744875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Приоритеты реинжиниринга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2000" y="3560000"/>
            <a:ext cx="3744875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54 объекта — балл, место в очереди и обоснование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41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Четыре файла собираются из одного источника: правка в карте ролей сама проходит в метрики, приоритеты и эту презентацию — разойтись между собой они не могут.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Система управления процессами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Цикл из Методики KT_METHOD v1 и инструменты, которыми этот цикл ведём в проекте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970000"/>
            <a:ext cx="8349750" cy="5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Процесс — сквозная последовательность действий, преобразующая входы в результат, ценный для клиента. У процесса ровно один бизнес-владелец, отвечающий за результат целиком.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Система управления процессами нужна, чтобы описывать, измерять и улучшать работу одинаково во всех подразделениях, не спорить о том, кто владелец, и не терять ответственность при передаче процесса между блоками (п. 3 Методики).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125" y="1530000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Цикл управления — пять этапов (Таблица 20 Методики)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1. Проектирование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1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Схема, паспорт процесса, карта SIPOC, KPI и SLA, назначение владельца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707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2. Внедрение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707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Автоматизация шагов, интеграция систем, обучение, ввод в эксплуатацию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770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3. Анализ и оценка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770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Сбор фактических значений метрик, контроль SLA, отчётность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697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4. Улучшение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6697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Поиск узких мест, оценка зрелости, приоритизация улучшений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6925" y="1770000"/>
            <a:ext cx="1589950" cy="28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5. Оптимизация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6925" y="2070000"/>
            <a:ext cx="1589950" cy="5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282828"/>
                </a:solidFill>
                <a:latin typeface="Golos Text"/>
              </a:rPr>
              <a:t>Устранение узких мест, рост зрелости, тиражирование решений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2670000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Инструменты, которые применяем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125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Реестр процессов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Процесс, подпроцесс и этап в одном дереве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02083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Роль в процессе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Владелец, участник или клиент у каждого объекта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7041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Паспорт процесса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Границы, вход, выход, владелец, показатели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1999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SIPOC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Поставщик, вход, шаги, выход, клиент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16957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Метрики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Формула, единица и источник данных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21915" y="292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KPI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Целевое значение и факт по объекту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SLA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Норматив срока на стыке с другим подразделением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02083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Базовая линия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Замер «до» и аудит по чек-листам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7041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Зрелость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Семь критериев Методики, шкала 1–5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1999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Очередь работ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Балл, волна и порядок реинжиниринга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16957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Регламент и чек-лист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Письменное правило, по которому работают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21915" y="3610000"/>
            <a:ext cx="1324958" cy="62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0000" rIns="70000" tIns="60000" bIns="9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13D85"/>
                </a:solidFill>
                <a:latin typeface="Golos Text SemiBold"/>
              </a:rPr>
              <a:t>Мониторинговый отчёт</a:t>
            </a:r>
          </a:p>
          <a:p>
            <a:pPr>
              <a:lnSpc>
                <a:spcPct val="110000"/>
              </a:lnSpc>
              <a:spcBef>
                <a:spcPts val="3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Проект, операция и портфель на одном контуре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измеряется процесс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Формулы и целевые значения взяты из Глав 9–13 Методики, а не придуманы под задачу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60000"/>
            <a:ext cx="133596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Группа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3085" y="1160000"/>
            <a:ext cx="250492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Метрика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4238010" y="1160000"/>
            <a:ext cx="2838915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Формула расчёта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6925" y="1160000"/>
            <a:ext cx="1669950" cy="26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Целевое значение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22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3085" y="1422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Cycle Time — время цикла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8010" y="1422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CT = Дата завершения − Дата начала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76925" y="1422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норматив SLA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684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3085" y="1684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On-Time % — соблюдение срока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8010" y="1684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OT% = (Выполнено в срок ÷ Всего задач) × 100%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6925" y="1684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1946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Время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3085" y="1946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Wait Time % — доля ожидания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8010" y="1946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WT% = (Время ожидания ÷ Cycle Time) ×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6925" y="1946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208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2208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First Pass Yield — выход с первого раза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8010" y="2208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FPY = (Единицы без доработок ÷ Всего) × 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6925" y="2208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470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Качество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3085" y="2470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Defect Rate — доля дефектов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8010" y="2470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DR = (Дефекты ÷ Всего единиц) × 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76925" y="2470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&lt; 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732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3085" y="2732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— стоимость несоответствий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38010" y="2732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COPQ = Внутренние потери + Внешние потери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6925" y="2732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устойчивое снижение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125" y="2994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Стоимость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3085" y="2994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Budget Variance — отклонение от бюджета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8010" y="2994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= ((Факт − Бюджет) ÷ Бюджет) ×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6925" y="2994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BV ≤ 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125" y="3256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3085" y="3256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Bottleneck Index — индекс узкого места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8010" y="3256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BNI = Загрузка узкого места ÷ Средняя загрузка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76925" y="3256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≤ 1,15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125" y="3518000"/>
            <a:ext cx="133596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518000"/>
            <a:ext cx="250492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 Compliance % — соблюдение SLA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38010" y="3518000"/>
            <a:ext cx="2838915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SLA% = (Выполнено в SLA ÷ Всего задач) × 100%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76925" y="3518000"/>
            <a:ext cx="1669950" cy="26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95%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780000"/>
            <a:ext cx="133596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Загрузка и автоматизация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3085" y="3780000"/>
            <a:ext cx="250492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Уровень автоматизации (Automation Rate)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38010" y="3780000"/>
            <a:ext cx="2838915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УА = Кша ÷ Кшо ×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76925" y="3780000"/>
            <a:ext cx="1669950" cy="26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≥ 70%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125" y="4262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справочнике Методики 26 метрик; по объектам реестра из них разложено 366 критериев оценки.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Набор метрик зависит от роли ДУП: владелец отвечает за объект целиком, участник — за свой шаг, клиент — за требования к входу и приёмку.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Как считается приоритет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критериев, шкала от 1 до 5 и вес критерия — одинаково для всех объектов реестра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90000"/>
            <a:ext cx="250492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2050" y="1190000"/>
            <a:ext cx="834975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Вес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7025" y="1190000"/>
            <a:ext cx="5009850" cy="35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На какой вопрос отвечает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6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Влияние на результат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2050" y="1546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025" y="1546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Насколько объект определяет срок запуска и доходность проекта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902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времени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2050" y="1902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7025" y="1902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времени цикла высвобождается после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2258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денег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2050" y="2258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7025" y="2258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Какой прямой денежный эффект даёт вмешательство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614000"/>
            <a:ext cx="250492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Риск бездействия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02050" y="2614000"/>
            <a:ext cx="834975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7025" y="2614000"/>
            <a:ext cx="5009850" cy="35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Что произойдёт, если объект не трогать в этом году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2970000"/>
            <a:ext cx="250492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Лёгкость реализации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2050" y="2970000"/>
            <a:ext cx="834975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025" y="2970000"/>
            <a:ext cx="5009850" cy="3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усилий и согласий требует вмешательство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125" y="3526000"/>
            <a:ext cx="8349750" cy="46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Балл объекта = сумма (оценка от 1 до 5 × вес критерия) ÷ 500 × 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066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Вес отражает управленческий приоритет: то, что даёт результат, стоит дороже того, что даёт удобство.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 файле приоритетов расписаны все пять ступеней каждой шкалы — оценка 2 или 4 не ставится на глаз и защищается на комитете.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очередь не совпадает с рейтингом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идёт по баллу. Дальше место в очереди задают пять правил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1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не держит очередь быстрых побед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8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Паспорт обязателен и не отодвигает объект с более высоким баллом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7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7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7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Базовая линия измеряет эффект и не держит 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04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Замер «до» доказывает эффект и не блокирует соседние работы — п. 176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3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4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4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Узкое место раньше соседних шагов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70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шаг-ограничитель на месте, остальные ускорения не дают срока — п. 140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30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3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31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Своё раньше общего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36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Требовать норматив у смежника убедительнее, когда исполняешь свой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6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7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7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Автоматизация после регламента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402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Автоматизировать неисполняемый процесс — закрепить беспорядок в коде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Где мы были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До системы управления: правила либо не исполнялись, либо их не было — это диагноз работы, а не оценка людей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7125" y="106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объекта из 55 описаны, но не исполняются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7125" y="131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Проект стартует по договорённости, а не по правилу: срок зависит от того, кто вспомнил о шаге и до кого дошли руки.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61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9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125" y="168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процедуры не существует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7125" y="193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Подтверждение готовности продукта и проверка завершения пилота решаются каждый раз заново и доходят до директора.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23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31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7125" y="230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критериев из 366 измеряется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7125" y="255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Ни срок, ни стоимость, ни качество подтвердить нечем: спор о результате выигрывает тот, кто увереннее.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85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93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7125" y="292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из 5 — уровень зрелости каждого сквозного процесса ДУП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7125" y="317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По Методике это «Начальный»: результат держится на конкретном человеке, а не на системе. Целевой уровень — 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47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550000"/>
            <a:ext cx="700000" cy="420000"/>
          </a:xfrm>
          <a:prstGeom prst="roundRect">
            <a:avLst>
              <a:gd name="adj" fmla="val 12000"/>
            </a:avLst>
          </a:prstGeom>
          <a:solidFill>
            <a:srgbClr val="E94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Golos Text SemiBold"/>
              </a:rPr>
              <a:t>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7125" y="3540000"/>
            <a:ext cx="75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портфеля проверено аудитом по чек-листам с 2020 года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7125" y="3790000"/>
            <a:ext cx="750975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Чек-листы написаны и лежат в методологии. Ошибка в проектных данных всплывает не на аудите, а на приёмке у госпартнёра.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125" y="420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A7B6BD"/>
                </a:solidFill>
                <a:latin typeface="Golos Text"/>
              </a:rPr>
              <a:t>Важная оговорка: двенадцать из пятнадцати узких мест уже описаны в методологии компании. Проблема не в том, что никто не придумал правил, а в том, что правила перестали исполняться.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Систему управления собрали. Исполнение процессов ещё прежнее — очередь как раз про то, чтобы это изменить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30000"/>
            <a:ext cx="4084875" cy="24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40000" tIns="480000" bIns="90000" wrap="square"/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55 объектов сведены в один реестр: процесс, подпроцесс, этап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Роль ДУП названа у каждого: 26 — владелец, 15 — участник, 14 — клиент. Неназначенных — 0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366 критериев оценки расписаны формулой и источником данных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Очередь из 3 волн: место объекта задаёт балл, паспорт очередь не держит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125" y="1150000"/>
            <a:ext cx="3764875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28AB6A"/>
                </a:solidFill>
                <a:latin typeface="Golos Text SemiBold"/>
              </a:rPr>
              <a:t>Система уже работает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2000" y="1030000"/>
            <a:ext cx="4084875" cy="24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40000" tIns="480000" bIns="90000" wrap="square"/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23 объектов по-прежнему не исполняются так, как написано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2 процедуры по-прежнему нет: готовность продукта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Ни один критерий ещё не измеряется — факта «до» нет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000">
                <a:solidFill>
                  <a:srgbClr val="282828"/>
                </a:solidFill>
                <a:latin typeface="Golos Text"/>
              </a:rPr>
              <a:t>— Зрелость каждого сквозного процесса — 1 из 5. Паспорта блоков 1, 2 и 4 не утверждены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2000" y="1150000"/>
            <a:ext cx="3764875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E94235"/>
                </a:solidFill>
                <a:latin typeface="Golos Text SemiBold"/>
              </a:rPr>
              <a:t>В работе процессов пока ничего не сдвинулось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125" y="367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Система ответила на вопросы «кто владелец», «чем измеряем» и «что берём первым».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Golos Text SemiBold"/>
              </a:rPr>
              <a:t>Срок, деньги и качество сдвинутся, когда заработают регламенты волны запуска, а не в момент, когда реестр собран.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предлагаем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Норматив есть — возвращаем в работу. Норматива нет — пишем правило и применяем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94875" cy="360000"/>
          </a:xfrm>
          <a:prstGeom prst="roundRect">
            <a:avLst>
              <a:gd name="adj" fmla="val 8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Вернуть в работу — 9 объектов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450000"/>
            <a:ext cx="4094875" cy="21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00000" tIns="80000" bIns="90000" wrap="square"/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1.1  Приём пакета от ДРБ. Чек-лист минимального пакета и возврат неполного комплекта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1.5  ФЭМ и бюджет. Ревизия нормативов модели: поверка, переносы, цены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1.7  Закупки. Нормативы сроков по шагам и точка эскалации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1.9  Реестр платежей. Инструкция трёх потоков ВУ / КИЗ / КОЗ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2.3  Прогноз поступлений. Реестр и календарь вместо чата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2.5  Переносы оборудования. Учёт «факт против ФЭМ»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2.7  Дефекты компонентов. Маршрут из эксплуатации в ТЗ и закупки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4.2  Аудит данных. Чек-листы методологии, контур остановлен с 2020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4.3  Статус и отчётность. Один регламент: проект, операция, портфель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52000" y="1090000"/>
            <a:ext cx="4094875" cy="360000"/>
          </a:xfrm>
          <a:prstGeom prst="roundRect">
            <a:avLst>
              <a:gd name="adj" fmla="val 8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Написать правило и начать применять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2000" y="1450000"/>
            <a:ext cx="4094875" cy="21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0000" rIns="120000" tIns="100000" bIns="90000" wrap="square"/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282828"/>
                </a:solidFill>
                <a:latin typeface="Golos Text"/>
              </a:rPr>
              <a:t>В методологии этих процедур нет. Пока их не напишем, каждый случай решается заново.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1.2  Готовность продукта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Gate «пилот → реализация»: критерии, подпись, право остановить старт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2.0  Передача в сопровождение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Чек-лист handover: состав, дата, ответственный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>
                <a:solidFill>
                  <a:srgbClr val="1E1E1E"/>
                </a:solidFill>
                <a:latin typeface="Golos Text SemiBold"/>
              </a:rPr>
              <a:t>Б.5  Открытие филиала</a:t>
            </a:r>
          </a:p>
          <a:p>
            <a:pPr>
              <a:lnSpc>
                <a:spcPct val="110000"/>
              </a:lnSpc>
            </a:pPr>
            <a:r>
              <a:rPr sz="1000">
                <a:solidFill>
                  <a:srgbClr val="444746"/>
                </a:solidFill>
                <a:latin typeface="Golos Text"/>
              </a:rPr>
              <a:t>Сквозной маршрут Юр → HR → Финблок → ДУП и сроки по этапам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125" y="3670000"/>
            <a:ext cx="4094875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20000" tIns="6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013D85"/>
                </a:solidFill>
                <a:latin typeface="Golos Text SemiBold"/>
              </a:rPr>
              <a:t>Описать то, чем владеем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Паспорта блоков 1, 2 и 4, чек-лист передачи и положение о контроле качества данных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2000" y="3670000"/>
            <a:ext cx="4094875" cy="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20000" tIns="6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013D85"/>
                </a:solidFill>
                <a:latin typeface="Golos Text SemiBold"/>
              </a:rPr>
              <a:t>Оцифровать то, что уже исполняется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Единая карточка и автопрогноз — после регламента, иначе в системе закрепится беспорядок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получит компания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Сначала процессом можно управлять. Затем это видно в сроке, деньгах и прогнозе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970000"/>
            <a:ext cx="4094875" cy="320000"/>
          </a:xfrm>
          <a:prstGeom prst="roundRect">
            <a:avLst>
              <a:gd name="adj" fmla="val 8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Golos Text SemiBold"/>
              </a:rPr>
              <a:t>Управляемость и прозрачность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125" y="137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Владелец и паспорт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125" y="161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Границы, вход, выход и один ответственный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125" y="189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Прозрачность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125" y="213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Показатель с источником данных, а не мнение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25" y="241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Мониторинговый отчёт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125" y="265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Каждый месяц: проект, операция, портфель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125" y="2930000"/>
            <a:ext cx="4034875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Одинаковый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125" y="3170000"/>
            <a:ext cx="4014875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Старт по чек-листу, а не по памяти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2000" y="970000"/>
            <a:ext cx="4094875" cy="320000"/>
          </a:xfrm>
          <a:prstGeom prst="roundRect">
            <a:avLst>
              <a:gd name="adj" fmla="val 8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Golos Text SemiBold"/>
              </a:rPr>
              <a:t>Срок, деньги, регулярность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52000" y="1370000"/>
            <a:ext cx="163795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Показатель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9950" y="1370000"/>
            <a:ext cx="131036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Сейчас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00310" y="1370000"/>
            <a:ext cx="114656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За 12 месяцев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52000" y="16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Срок старта проекта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9950" y="16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Сегодня не измеряется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00310" y="16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−30% к базовой линии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52000" y="1970000"/>
            <a:ext cx="163795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Полный пакет на старте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9950" y="1970000"/>
            <a:ext cx="131036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Не измеряется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00310" y="1970000"/>
            <a:ext cx="114656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≥ 90% проектов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52000" y="22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Оплаты в срок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9950" y="22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 обстоятельствам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310" y="22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≥ 85% заявок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52000" y="2570000"/>
            <a:ext cx="163795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Прогноз поступлений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9950" y="2570000"/>
            <a:ext cx="131036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Чаты и разовые запросы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00310" y="2570000"/>
            <a:ext cx="114656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100% по календарю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52000" y="2870000"/>
            <a:ext cx="163795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Аудит портфеля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89950" y="2870000"/>
            <a:ext cx="131036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0% с 2020 года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00310" y="2870000"/>
            <a:ext cx="114656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100% за год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430000"/>
            <a:ext cx="8349750" cy="1120000"/>
          </a:xfrm>
          <a:prstGeom prst="roundRect">
            <a:avLst>
              <a:gd name="adj" fmla="val 10000"/>
            </a:avLst>
          </a:prstGeom>
          <a:solidFill>
            <a:srgbClr val="1C3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0000" rIns="160000" tIns="70000" bIns="70000" wrap="square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Зрелость с 1 до 3: портфель больше не держится на одном человеке.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На уровне 1 уход заместителя обнуляет срок, пакет и прогноз: срыв виден, когда его уже принёс госпартнёр.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На уровне 3 отклонение денег и срока видно в ежемесячном отчёте, пока его можно поправить, а смежник отвечает по подписанному SLA.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Очередь реинжиниринга построена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7125" y="920000"/>
            <a:ext cx="8349750" cy="7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Первыми берём объекты с высшим баллом, которые ДУП начинает сам.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Паспорт и замер «до» идут в той же волне и очередь не держат. Договорённости со смежниками — следующая волна.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57125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125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реестра оценены и поставлены в очередь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4562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84562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4562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волны 1: паспорта, замер и быстрые победы внутри ДУП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1999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811999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999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быстрых побед: высокая ценность, лёгкая реализация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9436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939436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436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первых шагов — без бюджета и ИТ-разработки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37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25" y="38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Источник: реестр из 55 объектов; оценка по 5 критериям на основании Методики KT_METHOD v1.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Три волны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— по убыванию балла; волны 2 и 3 ждут договорённости со смежником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28AB6A"/>
                </a:solidFill>
                <a:latin typeface="Golos Text SemiBold"/>
              </a:rPr>
              <a:t>Запуск: паспорта и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Паспорта, замер «до» и быстрые победы внутри ДУП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25 объектов  ·  Старт программы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7041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7041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A87300"/>
                </a:solidFill>
                <a:latin typeface="Golos Text SemiBold"/>
              </a:rPr>
              <a:t>Стыки с ЦО и закрытие пробелов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Договориться о стыках и спроектировать то, чего 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7041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18 объектов  ·  Стыки с центральным офисом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6957" y="1070000"/>
            <a:ext cx="2689916" cy="420000"/>
          </a:xfrm>
          <a:prstGeom prst="roundRect">
            <a:avLst>
              <a:gd name="adj" fmla="val 10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6957" y="1510000"/>
            <a:ext cx="2689916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4384F4"/>
                </a:solidFill>
                <a:latin typeface="Golos Text SemiBold"/>
              </a:rPr>
              <a:t>Масштаб, экономика и автоматизация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Пересмотреть экономику и закрепить результат в системах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6957" y="2750000"/>
            <a:ext cx="2689916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 объектов  ·  Масштаб программы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125" y="319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Отдельно: 3 объекта вне очереди — исполняются другим подразделением целиком, срок контролируется через SLA по родительскому объекту.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349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125" y="352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Из чего состоит волна 1: 25 объектов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125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20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восстанавливаем исполнение внутри ДУП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Чек-листы, регламенты и упрощение отчётности — без согласования со смежником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27041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4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описываем границы процессов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Паспорта блоков 1, 2 и 4 и чек-лист передачи между реализацией и сопровождением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6957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1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снимаем базовую линию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Пилотный аудит одного филиала и регулярный контроль качества данных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Ценность и лёгкость реализации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Ценность — четыре критерия без учёта лёгкости; граница высокой ценности — 60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77125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лёгкая (4–5 из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000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тяжёлая (1–3 из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41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высокая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77125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28AB6A"/>
                </a:solidFill>
                <a:latin typeface="Golos Text SemiBold"/>
              </a:rPr>
              <a:t>14</a:t>
            </a:r>
            <a:r>
              <a:rPr sz="1150">
                <a:solidFill>
                  <a:srgbClr val="28AB6A"/>
                </a:solidFill>
                <a:latin typeface="Golos Text SemiBold"/>
              </a:rPr>
              <a:t>  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Берём первыми: результат виден до того, как закончатся переговоры со смежниками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92000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013D85"/>
                </a:solidFill>
                <a:latin typeface="Golos Text SemiBold"/>
              </a:rPr>
              <a:t>13</a:t>
            </a:r>
            <a:r>
              <a:rPr sz="1150">
                <a:solidFill>
                  <a:srgbClr val="013D85"/>
                </a:solidFill>
                <a:latin typeface="Golos Text SemiBold"/>
              </a:rPr>
              <a:t>   Крупные проекты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Планируем как проект с ресурсом и сроком: SLA со смежниками, новые регламенты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125" y="290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умеренная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7125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384F4"/>
                </a:solidFill>
                <a:latin typeface="Golos Text SemiBold"/>
              </a:rPr>
              <a:t>12</a:t>
            </a:r>
            <a:r>
              <a:rPr sz="1150">
                <a:solidFill>
                  <a:srgbClr val="4384F4"/>
                </a:solidFill>
                <a:latin typeface="Golos Text SemiBold"/>
              </a:rPr>
              <a:t>   Заполнители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Делаем попутно, когда освобождается ресурс; в отдельную инициативу не выносим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2000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44746"/>
                </a:solidFill>
                <a:latin typeface="Golos Text SemiBold"/>
              </a:rPr>
              <a:t>15</a:t>
            </a:r>
            <a:r>
              <a:rPr sz="1150">
                <a:solidFill>
                  <a:srgbClr val="444746"/>
                </a:solidFill>
                <a:latin typeface="Golos Text SemiBold"/>
              </a:rPr>
              <a:t>   Отложить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 работу не берём, пока не изменятся исходные данные или не появится бюджет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Начало очереди: первые десять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запуска, строго по убыванию балла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50098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1110000"/>
            <a:ext cx="83497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1110000"/>
            <a:ext cx="40078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40965" y="1110000"/>
            <a:ext cx="6679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945" y="1110000"/>
            <a:ext cx="233793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392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8110" y="1392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3085" y="1392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0965" y="1392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8945" y="1392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1674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8110" y="1674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3085" y="1674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0965" y="1674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945" y="1674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1956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8110" y="1956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1956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40965" y="1956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8945" y="1956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238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10" y="2238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3085" y="2238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40965" y="2238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8945" y="2238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125" y="2520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110" y="2520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1.7.1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3085" y="2520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Инициация заявки, сбор спецификаций и тех. карт (со…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2520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2520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802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802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802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Прогноз поступлений / расходов и контроль бюджета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40965" y="2802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8945" y="2802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125" y="3084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8110" y="3084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2.3.1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084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Сбор данных и подтверждений по проектам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0965" y="3084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8945" y="3084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366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110" y="3366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33085" y="3366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Обратная связь по дефектам компонентов → владелец…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0965" y="3366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8945" y="3366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3648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8110" y="3648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085" y="3648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Отчётность по проектам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0965" y="3648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8945" y="3648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125" y="3930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8110" y="3930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4.3.1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3085" y="3930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Статус-встречи по проекту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40965" y="3930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8945" y="3930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Высший балл начинается сразу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2 держит только то, что нельзя решить внутри ДУП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6679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5105" y="1110000"/>
            <a:ext cx="83497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0080" y="1110000"/>
            <a:ext cx="40078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7960" y="1110000"/>
            <a:ext cx="283891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Когда берём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105" y="14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80" y="14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960" y="14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7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105" y="17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80" y="17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7960" y="17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0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105" y="20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0080" y="20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960" y="20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1. Запуск: паспорта и быстрые победы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3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5105" y="23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0080" y="23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960" y="23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6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105" y="26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0080" y="26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960" y="26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9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105" y="29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1.5.1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00080" y="29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Формирование ФЭМ по шаблону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7960" y="29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Стыки с ЦО и закрытие пробелов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51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Приём пакета от ДРБ, платежи и заявка на закупку стоят в начале очереди.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Закупки целиком, ФЭМ и gate готовности продукта ждут волну 2: норматив ставит другое подразделение, а не паспорт процесса.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Программа старта: пять первых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Шаги волны 1 стоят по убыванию балла и паспорта не ждут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8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4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Чек-лист приёмки и письмо в ДРБ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6875" y="108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реализации, директор ДУП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6875" y="143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1.1, 1.1.1, 1.1.2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6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125" y="17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125" y="170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Инструкция по трём потокам платежей ВУ / КИЗ / КОЗ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196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Инструкция по очерёдности и единая форма реестра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6875" y="17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6875" y="205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1.9, 1.9.1, 1.9.2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2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3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32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Единый реестр и календарь прогноза поступлений и расходов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258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Реестр прогноза и календарь его обновления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6875" y="232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операционной деятельности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875" y="267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2.3, 2.3.1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28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125" y="29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125" y="294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Регламент статус-встреч по проектам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125" y="320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Регламент, шаблон повестки и протокола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6875" y="294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реализации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6875" y="329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4.3, 4.3.1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4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7125" y="35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125" y="356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125" y="382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Паспорт процесса: границы, вход, выход, владелец и три показателя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6875" y="35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операционной деятельности, директор ДУП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875" y="391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Волна 1  · 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230000"/>
            <a:ext cx="834975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Шаги 6–11 — остальная волна 1 по убыванию балла: реестр переносов, паспорта блоков 1 и 4, чек-лист передачи, пилотный аудит и матрица кураторов.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требуется от руководства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Решения, без которых очередь не двигается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2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Чек-лист приёмки и письмо в ДРБ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6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сопровождения (блок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188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1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1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1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процесса реализации (блок 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44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Паспорт процесса: границы, вход, выход, владелец и три показателя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6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7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7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Паспорт методологии и положение о контроле качества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00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Положение о контроле качества и паспорт процесса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2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3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3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356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Утверждённая приказом матрица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910000"/>
            <a:ext cx="8349750" cy="4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Ни одно из решений не требует бюджета, ИТ-разработки и согласия смежных блоков.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Участники проекта и 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Кто принимает решения, кто исполняет и в каком порядке идут фазы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1 · месяцы 1–4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Запуск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Быстрые победы, паспорта и пилотный аудит идут параллельно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7041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2 · месяцы 3–8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7041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28AB6A"/>
                </a:solidFill>
                <a:latin typeface="Golos Text SemiBold"/>
              </a:rPr>
              <a:t>Стыки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SLA со смежниками, gate продукта и маршрут открытия филиала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56957" y="1010000"/>
            <a:ext cx="2689916" cy="340000"/>
          </a:xfrm>
          <a:prstGeom prst="roundRect">
            <a:avLst>
              <a:gd name="adj" fmla="val 12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Волна 3 · месяцы 7–12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6957" y="1370000"/>
            <a:ext cx="2689916" cy="8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384F4"/>
                </a:solidFill>
                <a:latin typeface="Golos Text SemiBold"/>
              </a:rPr>
              <a:t>Масштаб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800">
                <a:solidFill>
                  <a:srgbClr val="282828"/>
                </a:solidFill>
                <a:latin typeface="Golos Text"/>
              </a:rPr>
              <a:t>Экономика поверки, единая карточка проекта и автоматизация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23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7125" y="2470000"/>
            <a:ext cx="183694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Роль в проекте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34070" y="2470000"/>
            <a:ext cx="2504925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Кто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38995" y="2470000"/>
            <a:ext cx="4007880" cy="286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Golos Text SemiBold"/>
              </a:rPr>
              <a:t>За что отвечает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2756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Заказчик и спонсор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4070" y="2756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Директор ДУП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8995" y="2756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Приоритеты, утверждение паспортов процессов, эскалации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3042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Руководитель проекта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34070" y="3042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Назначается из ДУП / ГМП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38995" y="3042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Дорожная карта, риски, еженедельный 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3328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Владельцы процессов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34070" y="3328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Зам. по реализации, зам. по сопровождению, ГМП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38995" y="3328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Результат своих блоков, паспорта процессов, целевые значения метрик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7125" y="3614000"/>
            <a:ext cx="183694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Процессный офис (ПМО)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34070" y="3614000"/>
            <a:ext cx="2504925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Главный менеджер проектов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38995" y="3614000"/>
            <a:ext cx="4007880" cy="286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Методология, аудит качества данных, реестр процессов и метрик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125" y="3900000"/>
            <a:ext cx="183694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Рабочие группы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34070" y="3900000"/>
            <a:ext cx="2504925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ДУП, центральный офис, филиалы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8995" y="3900000"/>
            <a:ext cx="4007880" cy="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282828"/>
                </a:solidFill>
                <a:latin typeface="Golos Text"/>
              </a:rPr>
              <a:t>Регламенты стыков, SLA, проверка решений на практике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125" y="4336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Смежные подразделения, с которыми согласуются стыки: HR, ДРБ, Закупщики (ОЛЖА), Зерек, СТ, Финблок, Юр блок, филиалы и госпартнёр.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12 месяцев. Волны перекрываются: стыки начинаются, пока ещё закрывается запуск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7125" y="990000"/>
            <a:ext cx="16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SemiBold"/>
              </a:rPr>
              <a:t>Волна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7712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3293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8749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4561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373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618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199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7809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3621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9433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5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057" y="990000"/>
            <a:ext cx="555812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127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477125" y="133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125" y="151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1–4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712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3293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88749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4561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0373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5618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199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7809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23621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79433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35245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91057" y="127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097125" y="1340000"/>
            <a:ext cx="2183248" cy="320000"/>
          </a:xfrm>
          <a:prstGeom prst="roundRect">
            <a:avLst>
              <a:gd name="adj" fmla="val 15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Победы, паспорта, аудит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125" y="181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34" name="TextBox 33"/>
          <p:cNvSpPr txBox="1"/>
          <p:nvPr/>
        </p:nvSpPr>
        <p:spPr>
          <a:xfrm>
            <a:off x="477125" y="187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7125" y="205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3–8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7712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3293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88749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44561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00373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5618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1199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67809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23621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79433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35245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1057" y="181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208749" y="1880000"/>
            <a:ext cx="3294872" cy="320000"/>
          </a:xfrm>
          <a:prstGeom prst="roundRect">
            <a:avLst>
              <a:gd name="adj" fmla="val 15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SLA, gate, маршрут филиала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2350000"/>
            <a:ext cx="8349750" cy="46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0" name="TextBox 49"/>
          <p:cNvSpPr txBox="1"/>
          <p:nvPr/>
        </p:nvSpPr>
        <p:spPr>
          <a:xfrm>
            <a:off x="477125" y="241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7125" y="2590000"/>
            <a:ext cx="15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мес. 7–12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7712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63293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88749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744561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0373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5618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1199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67809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23621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79433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35245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91057" y="2350000"/>
            <a:ext cx="8000" cy="460000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31997" y="2420000"/>
            <a:ext cx="3294872" cy="320000"/>
          </a:xfrm>
          <a:prstGeom prst="roundRect">
            <a:avLst>
              <a:gd name="adj" fmla="val 15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Экономика, карточка, автоматизация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125" y="2930000"/>
            <a:ext cx="834975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Месяцы по горизонтали. Ключевые результаты на стыках волн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97125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7125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Старт: чек-лист приёмки от ДРБ и инструкция платежей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09562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09562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Паспорта блоков 1, 2 и 4, восемь регламентов работают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21999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1999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Подписаны SLA, утверждены gate и маршрут открытия филиала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734436" y="3170000"/>
            <a:ext cx="360000" cy="280000"/>
          </a:xfrm>
          <a:prstGeom prst="roundRect">
            <a:avLst>
              <a:gd name="adj" fmla="val 2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90000" bIns="9000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4436" y="3170000"/>
            <a:ext cx="1592437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Зрелость 3, мониторинговый отчёт и карточка проекта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4fc5f99509_2_26"/>
          <p:cNvPicPr preferRelativeResize="0"/>
          <p:nvPr/>
        </p:nvPicPr>
        <p:blipFill rotWithShape="1">
          <a:blip r:embed="rId3">
            <a:alphaModFix/>
          </a:blip>
          <a:srcRect b="0" l="0" r="0" t="15626"/>
          <a:stretch/>
        </p:blipFill>
        <p:spPr>
          <a:xfrm>
            <a:off x="0" y="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4fc5f99509_2_26"/>
          <p:cNvSpPr txBox="1"/>
          <p:nvPr/>
        </p:nvSpPr>
        <p:spPr>
          <a:xfrm>
            <a:off x="576526" y="2202300"/>
            <a:ext cx="79911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Golos Text Medium"/>
              </a:rPr>
              <a:t>Начинаем с высшего балла внутри ДУП — паспорт очередь не держит</a:t>
            </a:r>
            <a:endParaRPr sz="2400"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sp>
        <p:nvSpPr>
          <p:cNvPr id="347" name="Google Shape;347;g34fc5f99509_2_26"/>
          <p:cNvSpPr txBox="1"/>
          <p:nvPr/>
        </p:nvSpPr>
        <p:spPr>
          <a:xfrm>
            <a:off x="2081987" y="493525"/>
            <a:ext cx="4897200" cy="708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2700" marR="0" rt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4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Спасибо!</a:t>
            </a:r>
            <a:endParaRPr b="1" i="0" sz="4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grpSp>
        <p:nvGrpSpPr>
          <p:cNvPr id="348" name="Google Shape;348;g34fc5f99509_2_26"/>
          <p:cNvGrpSpPr/>
          <p:nvPr/>
        </p:nvGrpSpPr>
        <p:grpSpPr>
          <a:xfrm>
            <a:off x="3256171" y="4260137"/>
            <a:ext cx="2631820" cy="395775"/>
            <a:chOff x="7419975" y="4637527"/>
            <a:chExt cx="1105946" cy="166306"/>
          </a:xfrm>
        </p:grpSpPr>
        <p:sp>
          <p:nvSpPr>
            <p:cNvPr id="349" name="Google Shape;349;g34fc5f99509_2_26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4fc5f99509_2_26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4fc5f99509_2_26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4fc5f99509_2_26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4fc5f99509_2_26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4fc5f99509_2_26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4fc5f99509_2_26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4fc5f99509_2_26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4fc5f99509_2_26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g34fc5f99509_2_26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g34fc5f99509_2_26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Пользователь</dc:creator>
</cp:coreProperties>
</file>