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77" r:id="rId7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  <p:sldId id="288" r:id="rId47"/>
    <p:sldId id="289" r:id="rId48"/>
    <p:sldId id="290" r:id="rId49"/>
    <p:sldId id="291" r:id="rId50"/>
    <p:sldId id="292" r:id="rId51"/>
    <p:sldId id="293" r:id="rId52"/>
    <p:sldId id="294" r:id="rId53"/>
    <p:sldId id="295" r:id="rId54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Relationship Id="rId40" Type="http://schemas.openxmlformats.org/officeDocument/2006/relationships/slide" Target="slides/slide16.xml"/><Relationship Id="rId41" Type="http://schemas.openxmlformats.org/officeDocument/2006/relationships/slide" Target="slides/slide17.xml"/><Relationship Id="rId42" Type="http://schemas.openxmlformats.org/officeDocument/2006/relationships/slide" Target="slides/slide18.xml"/><Relationship Id="rId43" Type="http://schemas.openxmlformats.org/officeDocument/2006/relationships/slide" Target="slides/slide19.xml"/><Relationship Id="rId44" Type="http://schemas.openxmlformats.org/officeDocument/2006/relationships/slide" Target="slides/slide20.xml"/><Relationship Id="rId45" Type="http://schemas.openxmlformats.org/officeDocument/2006/relationships/slide" Target="slides/slide21.xml"/><Relationship Id="rId46" Type="http://schemas.openxmlformats.org/officeDocument/2006/relationships/slide" Target="slides/slide22.xml"/><Relationship Id="rId47" Type="http://schemas.openxmlformats.org/officeDocument/2006/relationships/slide" Target="slides/slide23.xml"/><Relationship Id="rId48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1" Type="http://schemas.openxmlformats.org/officeDocument/2006/relationships/slide" Target="slides/slide27.xml"/><Relationship Id="rId52" Type="http://schemas.openxmlformats.org/officeDocument/2006/relationships/slide" Target="slides/slide28.xml"/><Relationship Id="rId53" Type="http://schemas.openxmlformats.org/officeDocument/2006/relationships/slide" Target="slides/slide29.xml"/><Relationship Id="rId54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Реинжиниринг процессов ДУП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От предпосылок до очереди работ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Периметр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Управляем процессами. Строки реестра — это их подпроцессы и этапы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960000"/>
            <a:ext cx="2689916" cy="64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17125" y="1000000"/>
            <a:ext cx="2449916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28AB6A"/>
                </a:solidFill>
                <a:latin typeface="Golos Text SemiBold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25" y="1360000"/>
            <a:ext cx="2449916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Medium"/>
              </a:rPr>
              <a:t>процессов в периметре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960000"/>
            <a:ext cx="2689916" cy="64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3347041" y="1000000"/>
            <a:ext cx="2449916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28AB6A"/>
                </a:solidFill>
                <a:latin typeface="Golos Text SemiBold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7041" y="1360000"/>
            <a:ext cx="2449916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Medium"/>
              </a:rPr>
              <a:t>ДУП — владелец результата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6957" y="960000"/>
            <a:ext cx="2689916" cy="64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6176957" y="1000000"/>
            <a:ext cx="2449916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13D85"/>
                </a:solidFill>
                <a:latin typeface="Golos Text SemiBold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6957" y="1360000"/>
            <a:ext cx="2449916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Medium"/>
              </a:rPr>
              <a:t>ДУП — участник или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125" y="1680000"/>
            <a:ext cx="2680000" cy="24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397125" y="1680000"/>
            <a:ext cx="2680000" cy="7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" name="TextBox 14"/>
          <p:cNvSpPr txBox="1"/>
          <p:nvPr/>
        </p:nvSpPr>
        <p:spPr>
          <a:xfrm>
            <a:off x="517125" y="1770000"/>
            <a:ext cx="244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28AB6A"/>
                </a:solidFill>
                <a:latin typeface="Golos Text SemiBold"/>
              </a:rPr>
              <a:t>Владелец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125" y="2000000"/>
            <a:ext cx="24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125" y="2420000"/>
            <a:ext cx="24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125" y="2840000"/>
            <a:ext cx="24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"/>
              </a:rPr>
              <a:t>Управление филиальной сетью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125" y="3260000"/>
            <a:ext cx="24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"/>
              </a:rPr>
              <a:t>Открытие нового филиала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125" y="3680000"/>
            <a:ext cx="24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17125" y="1680000"/>
            <a:ext cx="2714875" cy="24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2" name="Rectangle 21"/>
          <p:cNvSpPr/>
          <p:nvPr/>
        </p:nvSpPr>
        <p:spPr>
          <a:xfrm>
            <a:off x="3217125" y="1680000"/>
            <a:ext cx="2714875" cy="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3" name="TextBox 22"/>
          <p:cNvSpPr txBox="1"/>
          <p:nvPr/>
        </p:nvSpPr>
        <p:spPr>
          <a:xfrm>
            <a:off x="3317125" y="1770000"/>
            <a:ext cx="251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013D85"/>
                </a:solidFill>
                <a:latin typeface="Golos Text SemiBold"/>
              </a:rPr>
              <a:t>Участник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7125" y="2000000"/>
            <a:ext cx="2514875" cy="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Бюджетирование проекта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7125" y="2350000"/>
            <a:ext cx="2514875" cy="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Осуществление закупок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7125" y="2700000"/>
            <a:ext cx="2514875" cy="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Проведение платежей по проектам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7125" y="3050000"/>
            <a:ext cx="2514875" cy="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Прогноз и контроль бюджета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7125" y="3400000"/>
            <a:ext cx="2514875" cy="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Продление и модернизация контракта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7125" y="3750000"/>
            <a:ext cx="2514875" cy="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Финансовое закрытие проекта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2000" y="1680000"/>
            <a:ext cx="2714875" cy="24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1" name="Rectangle 30"/>
          <p:cNvSpPr/>
          <p:nvPr/>
        </p:nvSpPr>
        <p:spPr>
          <a:xfrm>
            <a:off x="6032000" y="1680000"/>
            <a:ext cx="2714875" cy="70000"/>
          </a:xfrm>
          <a:prstGeom prst="rect">
            <a:avLst/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2" name="TextBox 31"/>
          <p:cNvSpPr txBox="1"/>
          <p:nvPr/>
        </p:nvSpPr>
        <p:spPr>
          <a:xfrm>
            <a:off x="6132000" y="1770000"/>
            <a:ext cx="251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A87300"/>
                </a:solidFill>
                <a:latin typeface="Golos Text SemiBold"/>
              </a:rPr>
              <a:t>Клиент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32000" y="2000000"/>
            <a:ext cx="2514875" cy="3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Вывод продукта в реализацию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2000" y="2420000"/>
            <a:ext cx="2514875" cy="3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Производство, монтаж и калибровка оборудования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32000" y="2840000"/>
            <a:ext cx="2514875" cy="3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Юридическое сопровождение договоров с контрагентами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32000" y="3260000"/>
            <a:ext cx="2514875" cy="3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Оформление штата и кадровых приказов по проекту и филиалу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2000" y="3680000"/>
            <a:ext cx="2514875" cy="3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"/>
              </a:rPr>
              <a:t>Монтаж и запуск ИТ-инфраструктуры ЦОД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125" y="4220000"/>
            <a:ext cx="834975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В реестре 60 объектов: 19 подпроцессов и 25 этапов. Роль ДУП по этим строкам: 25 — владелец, 20 — участник, 15 — клиент.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60 объектов реестра по процессам. Лист 1 из 8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строительству и реализации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паспорт процесса реализации: границы, вход, выход и три показателя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Зам. по реализации — приёмка и валидация; ДРБ — передача пакета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чек-лист минимального пакета и правило возврата неполного комплекта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Получение карточки проекта и комплекта документов от ДРБ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ДРБ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Зафиксировать в письме ДРБ норматив срока передачи пакета и форму карточки проекта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 программа)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реализации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Ввести обязательную проверку по чек-листу до регистрации проекта в портфеле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Регистрация проекта в портфеле / системе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реализации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Определить обязательные поля карточки проекта в SimBASE и запретить регистрацию без них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Назначение куратора (проект и филиал)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одну матрицу «филиал → куратор» и срок назначения от даты регистрации проекта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Разработка проектной документации (устав, план, приказ)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реализации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типовой комплект: устав, план проекта, приказ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Оформление приказа на реализацию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реализации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Свести устав и план в единую форму приказа на реализацию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60 объектов реестра по процессам. Лист 2 из 8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Вывод продукта в реализацию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ДРБ — владелец решения по продукту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очередь ведётся по подпроцессу 1.2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ДРБ — владелец решения по продукту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Разработать регламент gate: критерии пилота, подпись директора ДУП и право блокировать старт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Проверка завершения пилота / тестовой эксплуатации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ДРБ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Определить измеримые критерии завершения пилота и форму подтверждения от ДРБ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Бюджетирование проекта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 — владелец процесса целиком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очередь ведётся по подпроцессу 1.5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Формирование и согласование бюджета (ФЭМ)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 — владелец процесса целиком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Провести ревизию нормативов ФЭМ и согласовать с Финблоком срок рассмотрения модели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Формирование ФЭМ по шаблону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Пересчитать нормы поверки, переносов и логистики по фактическим данным за два года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Проверка и согласование ФЭМ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Зафиксировать в SLA срок рассмотрения ФЭМ Финблоком и состав замечаний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Утверждение бюджета, кредитование при необходимости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срок входит в SLA по объекту 1.5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60 объектов реестра по процессам. Лист 3 из 8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Осуществление закупок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Закупщики (ОЛЖА) — владелец процедуры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очередь ведётся по подпроцессу 1.7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Закупщики (ОЛЖА) — владелец процедуры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Закупщиками нормативы сроков по шагам процедуры и правило эскалации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Инициация заявки, сбор спецификаций и тех. карт (со СТ)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Закупщики (ОЛЖА)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Ввести форму заявки и правило: тех. карты СТ собираются до подачи заявки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Проведение процедуры закупки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Закупщики (ОЛЖА)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Внести шаги процедуры в общий трекер и установить точку эскалации при просрочке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Контроль сроков поставки и приёмка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Закупщики (ОЛЖА)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форму приёмки с фиксацией дефектов и маршрутом их передачи владельцу ТЗ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Проведение платежей по проектам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 — владелец решения по оплате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очередь ведётся по подпроцессу 1.9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 — владелец решения по оплате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инструкцию по трём потокам платежей и единую форму реестра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Агрегация заявок и данных филиалов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Ввести единую форму заявки филиала и срок её подачи до даты формирования реестра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60 объектов реестра по процессам. Лист 4 из 8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Описать правило очерёдности: какой платёж попадает в начало реестра и почему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Решение об оплате и проведение платежа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Финблоком норматив срока от передачи реестра до проведения платежа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паспорт процесса сопровождения: границы, вход, выход и три показателя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Передача проекта «реализация → сопровождение»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строительству и реализации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Спроектировать чек-лист передачи и внести обязательную дату handover в карточку проекта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Организация поверки оборудования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 (исполнитель — внешняя лаборатория)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Рассчитать экономику собственной аккредитации против аутсорса поверки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Сопровождение канала связи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Закрепить мониторинг канала связи в Zabbix и правило реакции на отказ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Обработка запросов на перенос оборудования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Завести реестр переносов с сопоставлением «факт против ФЭМ»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 владелец ТЗ / закупки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форму фиксации дефекта и маршрут «эксплуатация → владелец ТЗ → закупки»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60 объектов реестра по процессам. Лист 5 из 8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Прогноз и контроль бюджета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 — владелец решения и планирования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очередь ведётся по подпроцессам 2.3 и 2.6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Прогноз поступлений / расходов и контроль бюджета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 — владелец решения и планирования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Завести единый реестр прогноза и календарь его обновления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Сбор данных и подтверждений по проектам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форму и срок подачи данных филиалами в реестр прогноза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Планирование и решение по прогнозу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Финблоком срок возврата утверждённого прогноза в ДУП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Выявление нехватки бюджета и вынесение на ОСУ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Зам. по операционной деятельности — вынесение; ОСУ — решение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Зафиксировать порог и срок вынесения вопроса о нехватке бюджета на ОСУ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Продление и модернизация контракта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ДРБ — владелец presale и сделки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очередь ведётся по подпроцессу 2.4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Инициация продления / модернизации контракта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ДРБ — владелец presale и сделки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Установить срок инициации продления до окончания договора и точку передачи в ДРБ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Управление филиальной сетью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паспорт процесса филиальной сети: отношения вне проекта и стык с открытием филиала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60 объектов реестра по процессам. Лист 6 из 8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Общие отношения с филиалом (вне привязки к проекту)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порядок обращений филиала вне проектной рамки: кто принимает и в какой срок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Открытие нового филиала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на Операционном комитете сквозной маршрут Юр → HR → Финблок → ДУП и сроки по этапам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Участие ДУП: потребность, данные по региону, приём площадки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критерий инициации открытия филиала и форму обоснования потребности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Подготовка пакета документов и доверенностей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Юр блок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Юр блоком срок подготовки пакета документов и доверенностей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Регистрация и запуск филиала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Юр блок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Юр блоком срок регистрации филиала и чек-лист приёма его в работу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Главный менеджер проектов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паспорт процесса методологии и положение о контроле качества проектных данных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Разработка и поддержка методологии, шаблонов, реестров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Главный менеджер проектов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Актуализировать методологию: роли вместо фамилий, глоссарий, архивация устаревшего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Контроль качества и полноты проектных данных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Главный менеджер проектов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Провести пилотный аудит одного филиала и развернуть его на весь портфель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60 объектов реестра по процессам. Лист 7 из 8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Отчётность по проектам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Главный менеджер проектов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один регламент отчётности: проект, операция, портфель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Статус-встречи по проекту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реализации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Ввести статус-встречи: частота, повестка, протокол, адресат решений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Операционный статус руководству и госпартнёру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Собирать операционный статус из протокола статус-встреч, без второго опроса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Портфельная отчётность руководству и заказчикам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Главный менеджер проектов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Собирать портфельный отчёт из проектного и операционного статуса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Финансовое закрытие проекта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Финблоком состав и срок пакета документов на закрытие проекта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Служебная записка о необходимости закрытия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Ввести типовую форму служебной записки о закрытии проекта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Сбор актов сверок, уведомления о расторжении договоров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данные предоставляются по запросу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Формирование бюджета на логистику / демонтаж, закрытие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подтверждение закрытия приходит из Финблока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60 объектов реестра по процессам. Лист 8 из 8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Производство, монтаж и калибровка оборудования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СТ (техническая служба)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Зафиксировать со СТ срок выдачи тех. карт — до подачи заявки на закупку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Юридическое сопровождение договоров с контрагентами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Юр блок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Юр блоком срок рассмотрения договора и типовые условия по проектам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Оформление штата и кадровых приказов по проекту и филиалу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HR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HR срок оформления штата и кадровых приказов по филиалу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Монтаж и запуск ИТ-инфраструктуры ЦОД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Зерек (ИТ-инфраструктура)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Включить интерфейс с Зерек в карту процессов и согласовать срок монтажа ИТ-инфраструктуры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мы взялись за этот проект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Три предпосылки, с которых начался проект трансформации процессов ДУП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3971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6" name="TextBox 5"/>
          <p:cNvSpPr txBox="1"/>
          <p:nvPr/>
        </p:nvSpPr>
        <p:spPr>
          <a:xfrm>
            <a:off x="5571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Портфель вырос, управление —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1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ДУП ведёт доходные проекты компании по ГЧП и госзакупу: фото-видеофиксация, каналы связи, эко-мониторинг. Портфель и филиальная сеть выросли, а управление осталось на устных договорённостях.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037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9" name="Rectangle 8"/>
          <p:cNvSpPr/>
          <p:nvPr/>
        </p:nvSpPr>
        <p:spPr>
          <a:xfrm>
            <a:off x="324037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340037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Методика компании обязательна, но не применяется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037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В компании действует Методика системы управления бизнес-процессами KT_METHOD v1. Она обязательна для всех работников (п. 4). Владение по должностям уже закреплено, но паспортов процессов нет и метрики не установлены.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36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3" name="Rectangle 12"/>
          <p:cNvSpPr/>
          <p:nvPr/>
        </p:nvSpPr>
        <p:spPr>
          <a:xfrm>
            <a:off x="60836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2436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Спорить о сроке приходится словами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36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Фактические значения не измерялись. Ни доказать эффект изменения, ни назвать виновника срыва было нечем — только мнения.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480000"/>
            <a:ext cx="8349750" cy="64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Цель проекта: выстроить управляемую, прозрачную и масштабируемую модель управления проектами — предсказуемый запуск во всех филиалах, единые правила стыка филиала, ДУП и центрального офиса, восстановленное исполнение методологии.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уже сделано в проекте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Диагностика завершена: процессная модель описана, владение закреплено, метрики и очередь работ определены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620000" bIns="90000" wrap="square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А — текущий анализ: интервью, дерево процессов v4, RACI-матрица, кадровая матрица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B — наследие методологии «Сергек»: 434 документа, реестр Confluence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Методика системы управления бизнес-процессами KT_METHOD v1 — 52 страницы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Матрица стыков ДУП со смежными подразделениями центрального офиса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Что проанализировали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2000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7" name="TextBox 6"/>
          <p:cNvSpPr txBox="1"/>
          <p:nvPr/>
        </p:nvSpPr>
        <p:spPr>
          <a:xfrm>
            <a:off x="4842000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28AB6A"/>
                </a:solidFill>
                <a:latin typeface="Golos Text SemiBold"/>
              </a:rPr>
              <a:t>Что построено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2000" y="171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процессной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2000" y="194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60 объектов: процессы, подпроцессы и этапы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2000" y="225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Карта ролей ДУП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2000" y="248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роль ДУП и бизнес-владелец у каждого объекта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2000" y="279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метрик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2000" y="302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386 критериев оценки с формулой и источником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2000" y="333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Приоритеты реинжиниринга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2000" y="356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54 объекта — балл, место в очереди и обоснование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41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Четыре файла собираются из одного источника: правка в карте ролей сама проходит в метрики, приоритеты и эту презентацию — разойтись между собой они не могут.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Система управления процессами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Цикл из Методики KT_METHOD v1 и инструменты, которыми этот цикл ведём в проекте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970000"/>
            <a:ext cx="8349750" cy="5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Процесс — сквозная последовательность действий, преобразующая входы в результат, ценный для клиента. У процесса ровно один бизнес-владелец, отвечающий за результат целиком.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Система управления процессами нужна, чтобы описывать, измерять и улучшать работу одинаково во всех подразделениях, не спорить о том, кто владелец, и не терять ответственность при передаче процесса между блоками (п. 3 Методики).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1530000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Цикл управления — пять этапов (Таблица 20 Методики)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1. Проектирование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1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Схема, паспорт процесса, карта SIPOC, KPI и SLA, назначение владельца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707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2. Внедрение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707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Автоматизация шагов, интеграция систем, обучение, ввод в эксплуатацию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770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3. Анализ и оценка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770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Сбор фактических значений метрик, контроль SLA, отчётность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697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4. Улучшение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6697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Поиск узких мест, оценка зрелости, приоритизация улучшений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69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5. Оптимизация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69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Устранение узких мест, рост зрелости, тиражирование решений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2670000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Инструменты, которые применяем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125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Реестр процессов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Процесс, подпроцесс и этап в одном дереве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02083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Роль в процессе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Владелец, участник или клиент у каждого объекта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7041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Паспорт процесса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Границы, вход, выход, владелец, показатели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1999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SIPOC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Поставщик, вход, шаги, выход, клиент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16957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Метрики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Формула, единица и источник данных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21915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KPI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Целевое значение и факт по объекту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SLA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Норматив срока на стыке с другим подразделением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02083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Базовая линия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Замер «до» и аудит по чек-листам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7041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Зрелость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Семь критериев Методики, шкала 1–5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1999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Очередь работ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Балл, волна и порядок реинжиниринга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16957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Регламент и чек-лист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Письменное правило, по которому работают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1915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Мониторинговый отчёт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Проект, операция и портфель на одном контуре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измеряется процесс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Формулы и целевые значения взяты из Глав 9–13 Методики, а не придуманы под задачу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60000"/>
            <a:ext cx="133596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Группа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3085" y="1160000"/>
            <a:ext cx="250492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Метрика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4238010" y="1160000"/>
            <a:ext cx="283891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Формула расчёта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6925" y="1160000"/>
            <a:ext cx="166995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Целевое значение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22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3085" y="1422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Cycle Time — время цикла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8010" y="1422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CT = Дата завершения − Дата начала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6925" y="1422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норматив SLA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684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3085" y="1684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On-Time % — соблюдение срока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8010" y="1684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OT% = (Выполнено в срок ÷ Всего задач) × 100%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6925" y="1684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946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3085" y="1946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Wait Time % — доля ожидания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8010" y="1946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WT% = (Время ожидания ÷ Cycle Time) ×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6925" y="1946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208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2208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First Pass Yield — выход с первого раза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8010" y="2208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FPY = (Единицы без доработок ÷ Всего) × 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6925" y="2208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470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3085" y="2470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Defect Rate — доля дефектов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8010" y="2470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DR = (Дефекты ÷ Всего единиц) × 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76925" y="2470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732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3085" y="2732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— стоимость несоответствий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38010" y="2732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= Внутренние потери + Внешние потери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6925" y="2732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устойчивое снижение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125" y="2994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3085" y="2994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Budget Variance — отклонение от бюджета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8010" y="2994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= ((Факт − Бюджет) ÷ Бюджет) ×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6925" y="2994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≤ 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125" y="3256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3085" y="3256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Bottleneck Index — индекс узкого места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8010" y="3256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BNI = Загрузка узкого места ÷ Средняя загрузка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76925" y="3256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1,15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3518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518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 Compliance % — соблюдение SLA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38010" y="3518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SLA% = (Выполнено в SLA ÷ Всего задач) × 100%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76925" y="3518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780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3085" y="3780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Уровень автоматизации (Automation Rate)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38010" y="3780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УА = Кша ÷ Кшо ×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76925" y="3780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70%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125" y="4262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справочнике Методики 26 метрик; по объектам реестра из них разложено 386 критериев оценки.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Набор метрик зависит от роли ДУП: владелец отвечает за объект целиком, участник — за свой шаг, клиент — за требования к входу и приёмку.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считается приоритет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критериев, шкала от 1 до 5 и вес критерия — одинаково для всех объектов реестра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90000"/>
            <a:ext cx="250492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190000"/>
            <a:ext cx="83497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190000"/>
            <a:ext cx="5009850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6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46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46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02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02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02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258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258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258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14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14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14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2970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2970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2970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25" y="3526000"/>
            <a:ext cx="8349750" cy="46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Балл объекта = сумма (оценка от 1 до 5 × вес критерия) ÷ 500 × 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066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файле приоритетов расписаны все пять ступеней каждой шкалы — оценка 2 или 4 не ставится на глаз и защищается на комитете.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идёт по баллу. Дальше место в очереди задают пять правил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не держит очередь быстрых побед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Паспорт обязателен и не отодвигает объект с более высоким баллом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измеряет эффект и не держит 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Замер «до» доказывает эффект и не блокирует соседние работы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были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До системы управления: правила либо не исполнялись, либо их не было — это диагноз работы, а не оценка людей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7125" y="106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объекта из 60 описаны, но не исполняются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7125" y="131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Проект стартует по договорённости, а не по правилу: срок зависит от того, кто вспомнил о шаге и до кого дошли руки.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61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9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125" y="168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процедуры не существует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7125" y="193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Подтверждение готовности продукта и проверка завершения пилота решаются каждый раз заново и доходят до директора.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23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31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7125" y="230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критериев из 386 измеряется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7125" y="255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Ни срок, ни стоимость, ни качество подтвердить нечем: спор о результате выигрывает тот, кто увереннее.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85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93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7125" y="292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из 5 — уровень зрелости каждого сквозного процесса ДУП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7125" y="317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 Методике это «Начальный»: результат держится на конкретном человеке, а не на системе. Целевой уровень — 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47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55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7125" y="354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портфеля проверено аудитом по чек-листам с 2020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7125" y="379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Чек-листы написаны и лежат в методологии. Ошибка в проектных данных всплывает не на аудите, а на приёмке у госпартнёра.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20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Важная оговорка: двенадцать из пятнадцати узких мест уже описаны в методологии компании. Проблема не в том, что никто не придумал правил, а в том, что правила перестали исполняться.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Систему управления собрали. Исполнение процессов ещё прежнее — очередь как раз про то, чтобы это изменить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30000"/>
            <a:ext cx="4084875" cy="24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40000" tIns="480000" bIns="90000" wrap="square"/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60 объектов сведены в один реестр: процесс, подпроцесс, этап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Роль ДУП названа у каждого: 25 — владелец, 20 — участник, 15 — клиент. Неназначенных — 0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386 критериев оценки расписаны формулой и источником данных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Очередь из 3 волн: место объекта задаёт балл, паспорт очередь не держит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150000"/>
            <a:ext cx="3764875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28AB6A"/>
                </a:solidFill>
                <a:latin typeface="Golos Text SemiBold"/>
              </a:rPr>
              <a:t>Система уже работает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2000" y="1030000"/>
            <a:ext cx="4084875" cy="24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40000" tIns="480000" bIns="90000" wrap="square"/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23 объектов по-прежнему не исполняются так, как написано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2 процедуры по-прежнему нет: готовность продукта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Ни один критерий ещё не измеряется — факта «до» нет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Зрелость каждого сквозного процесса — 1 из 5. Паспорта блоков 1, 2 и 4 не утверждены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2000" y="1150000"/>
            <a:ext cx="3764875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E94235"/>
                </a:solidFill>
                <a:latin typeface="Golos Text SemiBold"/>
              </a:rPr>
              <a:t>В работе процессов пока ничего не сдвинулось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367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Система ответила на вопросы «кто владелец», «чем измеряем» и «что берём первым».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Срок, деньги и качество сдвинутся, когда заработают регламенты волны запуска, а не в момент, когда реестр собран.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предлагаем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Норматив есть — возвращаем в работу. Норматива нет — пишем правило и применяем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94875" cy="360000"/>
          </a:xfrm>
          <a:prstGeom prst="roundRect">
            <a:avLst>
              <a:gd name="adj" fmla="val 8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Вернуть в работу — 9 объектов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450000"/>
            <a:ext cx="4094875" cy="21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00000" tIns="80000" bIns="90000" wrap="square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1.1  Приём пакета от ДРБ. Чек-лист минимального пакета и возврат неполного комплекта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1.5  ФЭМ и бюджет. Ревизия нормативов модели: поверка, переносы, цены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1.7  Закупки. Нормативы сроков по шагам и точка эскалации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1.9  Реестр платежей. Инструкция трёх потоков ВУ / КИЗ / КОЗ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2.3  Прогноз поступлений. Реестр и календарь вместо чата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2.5  Переносы оборудования. Учёт «факт против ФЭМ»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2.7  Дефекты компонентов. Маршрут из эксплуатации в ТЗ и закупки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4.2  Аудит данных. Чек-листы методологии, контур остановлен с 2020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4.3  Статус и отчётность. Один регламент: проект, операция, портфель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52000" y="1090000"/>
            <a:ext cx="4094875" cy="360000"/>
          </a:xfrm>
          <a:prstGeom prst="roundRect">
            <a:avLst>
              <a:gd name="adj" fmla="val 8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Написать правило и начать применять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2000" y="1450000"/>
            <a:ext cx="4094875" cy="21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20000" tIns="100000" bIns="90000" wrap="square"/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282828"/>
                </a:solidFill>
                <a:latin typeface="Golos Text"/>
              </a:rPr>
              <a:t>В методологии этих процедур нет. Пока их не напишем, каждый случай решается заново.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1.2  Готовность продукта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Gate «пилот → реализация»: критерии, подпись, право остановить старт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2.0  Передача в сопровождение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Чек-лист handover: состав, дата, ответственный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Б.5  Открытие филиала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Сквозной маршрут Юр → HR → Финблок → ДУП и сроки по этапам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3670000"/>
            <a:ext cx="4094875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20000" tIns="6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Описать то, чем владеем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Паспорта блоков 1, 2 и 4, чек-лист передачи и положение о контроле качества данных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2000" y="3670000"/>
            <a:ext cx="4094875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20000" tIns="6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Оцифровать то, что уже исполняется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Единая карточка и автопрогноз — после регламента, иначе в системе закрепится беспорядок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получит компания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Сначала процессом можно управлять. Затем это видно в сроке, деньгах и прогнозе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970000"/>
            <a:ext cx="4094875" cy="320000"/>
          </a:xfrm>
          <a:prstGeom prst="roundRect">
            <a:avLst>
              <a:gd name="adj" fmla="val 8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Golos Text SemiBold"/>
              </a:rPr>
              <a:t>Управляемость и прозрачность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137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Владелец и паспорт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125" y="161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Границы, вход, выход и один ответственный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125" y="189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Прозрачность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125" y="213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Показатель с источником данных, а не мнение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25" y="241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Мониторинговый отчёт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125" y="265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Каждый месяц: проект, операция, портфель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125" y="293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Одинаковый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125" y="317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Старт по чек-листу, а не по памяти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2000" y="970000"/>
            <a:ext cx="4094875" cy="320000"/>
          </a:xfrm>
          <a:prstGeom prst="roundRect">
            <a:avLst>
              <a:gd name="adj" fmla="val 8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Golos Text SemiBold"/>
              </a:rPr>
              <a:t>Срок, деньги, регулярность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52000" y="1370000"/>
            <a:ext cx="163795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Показатель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9950" y="1370000"/>
            <a:ext cx="131036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Сейчас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00310" y="1370000"/>
            <a:ext cx="114656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За 12 месяцев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52000" y="16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Срок старта проекта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9950" y="16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Сегодня не измеряется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00310" y="16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−30% к базовой линии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52000" y="1970000"/>
            <a:ext cx="163795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Полный пакет на старте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9950" y="1970000"/>
            <a:ext cx="131036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Не измеряется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00310" y="1970000"/>
            <a:ext cx="114656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≥ 90% проектов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52000" y="22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Оплаты в срок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9950" y="22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 обстоятельствам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310" y="22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≥ 85% заявок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52000" y="2570000"/>
            <a:ext cx="163795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Прогноз поступлений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9950" y="2570000"/>
            <a:ext cx="131036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Чаты и разовые запросы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00310" y="2570000"/>
            <a:ext cx="114656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100% по календарю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52000" y="28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Аудит портфеля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89950" y="28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0% с 2020 года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00310" y="28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100% за год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430000"/>
            <a:ext cx="8349750" cy="1120000"/>
          </a:xfrm>
          <a:prstGeom prst="roundRect">
            <a:avLst>
              <a:gd name="adj" fmla="val 10000"/>
            </a:avLst>
          </a:prstGeom>
          <a:solidFill>
            <a:srgbClr val="1C3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0000" rIns="160000" tIns="70000" bIns="70000" wrap="square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Зрелость с 1 до 3: портфель больше не держится на одном человеке.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На уровне 1 уход заместителя обнуляет срок, пакет и прогноз: срыв виден, когда его уже принёс госпартнёр.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На уровне 3 отклонение денег и срока видно в ежемесячном отчёте, пока его можно поправить, а смежник отвечает по подписанному SLA.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объекты с высшим баллом, которые ДУП начинает сам.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Паспорт и замер «до» идут в той же волне и очередь не держат. Договорённости со смежниками — следующая волна.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объекта с баллом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волны 1: паспорта, замер и быстрые победы внутри ДУП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60 объектов;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Три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— по убыванию балла; волны 2 и 3 ждут договорённости со смежником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Запуск: паспорта и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Паспорта, замер «до» и быстрые победы внутри ДУП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25 объектов  ·  Старт программы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7041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7041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18 объектов  ·  Стыки с центральным офисом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6957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6957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6957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Масштаб программы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125" y="319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349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125" y="352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Из чего состоит волна 1: 25 объектов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20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восстанавливаем исполнение внутри ДУП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Чек-листы, регламенты и упрощение отчётности — без согласования со смежником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27041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4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описываем границы процессов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Паспорта блоков 1, 2 и 4 и чек-лист передачи между реализацией и сопровождением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6957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1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снимаем базовую линию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Пилотный аудит одного филиала и регулярный контроль качества данных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14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13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12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15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запуска, строго по убыванию балла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1.7.1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Инициация заявки, сбор спецификаций и тех. карт (со…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Прогноз поступлений / расходов и контроль бюджета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2.3.1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Сбор данных и подтверждений по проектам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 владелец…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Отчётность по проектам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4.3.1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Статус-встречи по проекту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Высший балл начинается сразу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2 держит только то, что нельзя решить внутри ДУП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1.5.1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Формирование ФЭМ по шаблону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Приём пакета от ДРБ, платежи и заявка на закупку стоят в начале очереди.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Закупки целиком, ФЭМ и gate готовности продукта ждут волну 2: норматив ставит другое подразделение, а не паспорт процесса.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волны 1 стоят по убыванию балла и паспорта не ждут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Чек-лист приёмки и письмо в ДРБ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реализации, директор ДУП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1.1, 1.1.1, 1.1.2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Инструкция по трём потокам платежей ВУ / КИЗ / КОЗ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Инструкция по очерёдности и единая форма реестра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1.9, 1.9.1, 1.9.2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Единый реестр и календарь прогноза поступлений и расходов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Реестр прогноза и календарь его обновления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2.3, 2.3.1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Регламент статус-встреч по проектам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Регламент, шаблон повестки и протокола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4.3, 4.3.1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Паспорт процесса: границы, вход, выход, владелец и три показателя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деятельности, 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6–11 — остальная волна 1 по убыванию балла: реестр переносов, паспорта блоков 1 и 4, чек-лист передачи, пилотный аудит и матрица кураторов.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реализации (блок 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методологии и положение о контроле качества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Положение о контроле качества и паспорт процесса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Участники проекта и 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Кто принимает решения, кто исполняет и в каком порядке идут фазы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1 · месяцы 1–4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Запуск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Быстрые победы, паспорта и пилотный аудит идут параллельно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7041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2 · месяцы 3–8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Стыки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SLA со смежниками, gate продукта и маршрут открытия филиала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6957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3 · месяцы 7–12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6957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Масштаб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Экономика поверки, единая карточка проекта и автоматизация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23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7125" y="2470000"/>
            <a:ext cx="183694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Роль в проекте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34070" y="2470000"/>
            <a:ext cx="250492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Кто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38995" y="2470000"/>
            <a:ext cx="4007880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За что отвечает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2756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Заказчик и спонсор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4070" y="2756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8995" y="2756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Приоритеты, утверждение паспортов процессов, эскалации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3042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Руководитель проекта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34070" y="3042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Назначается из ДУП / ГМП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38995" y="3042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Дорожная карта, риски, еженедельный 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3328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Владельцы процессов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34070" y="3328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Зам. по реализации, зам. по сопровождению, ГМП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38995" y="3328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Результат своих блоков, паспорта процессов, целевые значения метрик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125" y="3614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Процессный офис (ПМО)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34070" y="3614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Главный менеджер проектов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38995" y="3614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Методология, аудит качества данных, реестр процессов и метрик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125" y="3900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Рабочие группы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34070" y="3900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ДУП, центральный офис, филиалы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8995" y="3900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Регламенты стыков, SLA, проверка решений на практике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125" y="4336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Смежные подразделения, с которыми согласуются стыки: HR, ДРБ, Закупщики (ОЛЖА), Зерек, СТ, Финблок, Юр блок, филиалы и госпартнёр.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12 месяцев. Волны перекрываются: стыки начинаются, пока ещё закрывается запуск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7125" y="990000"/>
            <a:ext cx="16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SemiBold"/>
              </a:rPr>
              <a:t>Волна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712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3293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8749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4561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373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618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199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7809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3621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9433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05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127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477125" y="133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125" y="151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1–4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712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3293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88749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4561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0373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5618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199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7809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3621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79433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3524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9105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97125" y="1340000"/>
            <a:ext cx="2183248" cy="320000"/>
          </a:xfrm>
          <a:prstGeom prst="roundRect">
            <a:avLst>
              <a:gd name="adj" fmla="val 15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Победы, паспорта, аудит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125" y="181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477125" y="187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7125" y="205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3–8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7712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3293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88749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44561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00373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5618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1199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67809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23621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79433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3524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105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208749" y="1880000"/>
            <a:ext cx="3294872" cy="320000"/>
          </a:xfrm>
          <a:prstGeom prst="roundRect">
            <a:avLst>
              <a:gd name="adj" fmla="val 15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SLA, gate, маршрут филиала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35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0" name="TextBox 49"/>
          <p:cNvSpPr txBox="1"/>
          <p:nvPr/>
        </p:nvSpPr>
        <p:spPr>
          <a:xfrm>
            <a:off x="477125" y="241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125" y="259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7–12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7712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63293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88749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744561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0373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5618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1199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67809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23621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79433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3524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9105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31997" y="2420000"/>
            <a:ext cx="3294872" cy="320000"/>
          </a:xfrm>
          <a:prstGeom prst="roundRect">
            <a:avLst>
              <a:gd name="adj" fmla="val 15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Экономика, карточка, автоматизация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125" y="2930000"/>
            <a:ext cx="834975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Месяцы по горизонтали. Ключевые результаты на стыках волн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97125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7125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Старт: чек-лист приёмки от ДРБ и инструкция платежей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09562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09562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Паспорта блоков 1, 2 и 4, восемь регламентов работают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21999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1999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Подписаны SLA, утверждены gate и маршрут открытия филиала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34436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4436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Зрелость 3, мониторинговый отчёт и карточка проекта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высшего балла внутри ДУП — паспорт очередь не держит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