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  <p:sldMasterId id="2147483670" r:id="rId4"/>
  </p:sldMasterIdLst>
  <p:notesMasterIdLst>
    <p:notesMasterId r:id="rId5"/>
  </p:notesMasterIdLst>
  <p:sldIdLst>
    <p:sldId id="256" r:id="rId6"/>
    <p:sldId id="268" r:id="rId16"/>
    <p:sldId id="269" r:id="rId15"/>
    <p:sldId id="270" r:id="rId14"/>
    <p:sldId id="271" r:id="rId13"/>
    <p:sldId id="272" r:id="rId12"/>
    <p:sldId id="273" r:id="rId11"/>
    <p:sldId id="274" r:id="rId10"/>
    <p:sldId id="275" r:id="rId9"/>
    <p:sldId id="276" r:id="rId8"/>
    <p:sldId id="267" r:id="rId17"/>
  </p:sldIdLst>
  <p:sldSz cy="5143500" cx="9144000"/>
  <p:notesSz cx="6858000" cy="9144000"/>
  <p:embeddedFontLst>
    <p:embeddedFont>
      <p:font typeface="Golos Text"/>
      <p:regular r:id="rId18"/>
      <p:bold r:id="rId19"/>
    </p:embeddedFont>
    <p:embeddedFont>
      <p:font typeface="IBM Plex Sans"/>
      <p:regular r:id="rId20"/>
      <p:bold r:id="rId21"/>
      <p:italic r:id="rId22"/>
      <p:boldItalic r:id="rId23"/>
    </p:embeddedFont>
    <p:embeddedFont>
      <p:font typeface="Golos Text Medium"/>
      <p:regular r:id="rId24"/>
      <p:bold r:id="rId25"/>
    </p:embeddedFont>
    <p:embeddedFont>
      <p:font typeface="Montserrat"/>
      <p:regular r:id="rId26"/>
      <p:bold r:id="rId27"/>
      <p:italic r:id="rId28"/>
      <p:boldItalic r:id="rId29"/>
    </p:embeddedFont>
    <p:embeddedFont>
      <p:font typeface="JetBrains Mono"/>
      <p:regular r:id="rId30"/>
      <p:bold r:id="rId31"/>
      <p:italic r:id="rId32"/>
      <p:boldItalic r:id="rId33"/>
    </p:embeddedFont>
    <p:embeddedFont>
      <p:font typeface="Golos Text SemiBold"/>
      <p:regular r:id="rId34"/>
      <p:bold r:id="rId3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6" roundtripDataSignature="AMtx7mjiC108pgRb5se202Y13m7UAO+Vj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7.xml"/><Relationship Id="rId13" Type="http://schemas.openxmlformats.org/officeDocument/2006/relationships/slide" Target="slides/slide6.xml"/><Relationship Id="rId14" Type="http://schemas.openxmlformats.org/officeDocument/2006/relationships/slide" Target="slides/slide5.xml"/><Relationship Id="rId15" Type="http://schemas.openxmlformats.org/officeDocument/2006/relationships/slide" Target="slides/slide4.xml"/><Relationship Id="rId16" Type="http://schemas.openxmlformats.org/officeDocument/2006/relationships/slide" Target="slides/slide3.xml"/><Relationship Id="rId17" Type="http://schemas.openxmlformats.org/officeDocument/2006/relationships/slide" Target="slides/slide90.xml"/><Relationship Id="rId18" Type="http://schemas.openxmlformats.org/officeDocument/2006/relationships/font" Target="fonts/GolosText-regular.fntdata"/><Relationship Id="rId19" Type="http://schemas.openxmlformats.org/officeDocument/2006/relationships/font" Target="fonts/GolosText-bold.fntdata"/><Relationship Id="rId20" Type="http://schemas.openxmlformats.org/officeDocument/2006/relationships/font" Target="fonts/IBMPlexSans-regular.fntdata"/><Relationship Id="rId21" Type="http://schemas.openxmlformats.org/officeDocument/2006/relationships/font" Target="fonts/IBMPlexSans-bold.fntdata"/><Relationship Id="rId22" Type="http://schemas.openxmlformats.org/officeDocument/2006/relationships/font" Target="fonts/IBMPlexSans-italic.fntdata"/><Relationship Id="rId23" Type="http://schemas.openxmlformats.org/officeDocument/2006/relationships/font" Target="fonts/IBMPlexSans-boldItalic.fntdata"/><Relationship Id="rId24" Type="http://schemas.openxmlformats.org/officeDocument/2006/relationships/font" Target="fonts/GolosTextMedium-regular.fntdata"/><Relationship Id="rId25" Type="http://schemas.openxmlformats.org/officeDocument/2006/relationships/font" Target="fonts/GolosTextMedium-bold.fntdata"/><Relationship Id="rId26" Type="http://schemas.openxmlformats.org/officeDocument/2006/relationships/font" Target="fonts/Montserrat-regular.fntdata"/><Relationship Id="rId27" Type="http://schemas.openxmlformats.org/officeDocument/2006/relationships/font" Target="fonts/Montserrat-bold.fntdata"/><Relationship Id="rId28" Type="http://schemas.openxmlformats.org/officeDocument/2006/relationships/font" Target="fonts/Montserrat-italic.fntdata"/><Relationship Id="rId29" Type="http://schemas.openxmlformats.org/officeDocument/2006/relationships/font" Target="fonts/Montserrat-boldItalic.fntdata"/><Relationship Id="rId30" Type="http://schemas.openxmlformats.org/officeDocument/2006/relationships/font" Target="fonts/JetBrainsMono-regular.fntdata"/><Relationship Id="rId31" Type="http://schemas.openxmlformats.org/officeDocument/2006/relationships/font" Target="fonts/JetBrainsMono-bold.fntdata"/><Relationship Id="rId32" Type="http://schemas.openxmlformats.org/officeDocument/2006/relationships/font" Target="fonts/JetBrainsMono-italic.fntdata"/><Relationship Id="rId33" Type="http://schemas.openxmlformats.org/officeDocument/2006/relationships/font" Target="fonts/JetBrainsMono-boldItalic.fntdata"/><Relationship Id="rId34" Type="http://schemas.openxmlformats.org/officeDocument/2006/relationships/font" Target="fonts/GolosTextSemiBold-regular.fntdata"/><Relationship Id="rId35" Type="http://schemas.openxmlformats.org/officeDocument/2006/relationships/font" Target="fonts/GolosTextSemiBold-bold.fntdata"/><Relationship Id="rId3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1bf351e6d1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1bf351e6d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4fc5f99509_2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1" name="Google Shape;341;g34fc5f99509_2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1b4f510750_5_3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g31b4f510750_5_358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9" name="Google Shape;9;g31b4f510750_5_358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10" name="Google Shape;10;g31b4f510750_5_358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g31b4f510750_5_358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g31b4f510750_5_358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g31b4f510750_5_358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g31b4f510750_5_358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1b4f510750_5_358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g31b4f510750_5_358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g31b4f510750_5_358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g31b4f510750_5_358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g31b4f510750_5_358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g31b4f510750_5_358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g31b4f510750_5_358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Слайд ТЕМНО СЕРЫЙ ФОН_1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1d6e50d44b_1_34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">
    <p:bg>
      <p:bgPr>
        <a:solidFill>
          <a:schemeClr val="lt1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oogle Shape;25;g31b4f510750_5_374"/>
          <p:cNvGrpSpPr/>
          <p:nvPr/>
        </p:nvGrpSpPr>
        <p:grpSpPr>
          <a:xfrm>
            <a:off x="7487097" y="394835"/>
            <a:ext cx="1191767" cy="179211"/>
            <a:chOff x="7419975" y="4637527"/>
            <a:chExt cx="1105946" cy="166306"/>
          </a:xfrm>
        </p:grpSpPr>
        <p:sp>
          <p:nvSpPr>
            <p:cNvPr id="26" name="Google Shape;26;g31b4f510750_5_374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g31b4f510750_5_374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g31b4f510750_5_374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1b4f510750_5_374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g31b4f510750_5_374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g31b4f510750_5_374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g31b4f510750_5_374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g31b4f510750_5_374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g31b4f510750_5_374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g31b4f510750_5_374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g31b4f510750_5_374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" name="Google Shape;37;g31b4f510750_5_374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38" name="Google Shape;38;g31b4f510750_5_374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1b4f510750_5_357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accent2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accent2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41" name="Google Shape;41;g31b4f510750_5_357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rgbClr val="B7B7B7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rgbClr val="B7B7B7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1b4f510750_5_3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1b4f510750_5_360"/>
          <p:cNvSpPr txBox="1"/>
          <p:nvPr/>
        </p:nvSpPr>
        <p:spPr>
          <a:xfrm>
            <a:off x="8489450" y="4729775"/>
            <a:ext cx="654600" cy="4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83175" lIns="83175" spcFirstLastPara="1" rIns="83175" wrap="square" tIns="831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‹#›</a:t>
            </a:fld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 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grpSp>
        <p:nvGrpSpPr>
          <p:cNvPr id="45" name="Google Shape;45;g31b4f510750_5_360"/>
          <p:cNvGrpSpPr/>
          <p:nvPr/>
        </p:nvGrpSpPr>
        <p:grpSpPr>
          <a:xfrm>
            <a:off x="7487100" y="394845"/>
            <a:ext cx="1191767" cy="179211"/>
            <a:chOff x="7419975" y="4637527"/>
            <a:chExt cx="1105946" cy="166306"/>
          </a:xfrm>
        </p:grpSpPr>
        <p:sp>
          <p:nvSpPr>
            <p:cNvPr id="46" name="Google Shape;46;g31b4f510750_5_360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g31b4f510750_5_360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g31b4f510750_5_360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g31b4f510750_5_360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g31b4f510750_5_360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g31b4f510750_5_360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g31b4f510750_5_360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1b4f510750_5_360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g31b4f510750_5_360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g31b4f510750_5_360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g31b4f510750_5_360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g31b4f510750_5_360"/>
          <p:cNvSpPr txBox="1"/>
          <p:nvPr/>
        </p:nvSpPr>
        <p:spPr>
          <a:xfrm>
            <a:off x="308275" y="4709050"/>
            <a:ext cx="5542200" cy="3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ru" sz="9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rPr>
              <a:t>Строго конфиденциально. Все права принадлежат Sergek Group ©</a:t>
            </a:r>
            <a:endParaRPr b="0" i="0" sz="9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1b4f510750_5_3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0" name="Google Shape;60;g31b4f510750_5_3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g31b4f510750_5_3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b4f510750_5_3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g31b4f510750_5_3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1b4f510750_5_3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b4f510750_5_3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" name="Google Shape;69;g31b4f510750_5_3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1b4f510750_5_37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g31b4f510750_5_375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g31b4f510750_5_37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1E1E1E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" name="Google Shape;74;g31b4f510750_5_37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 1">
  <p:cSld name="Один столбец_белый 1">
    <p:bg>
      <p:bgPr>
        <a:solidFill>
          <a:srgbClr val="6C85DB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1b4f510750_5_380"/>
          <p:cNvSpPr txBox="1"/>
          <p:nvPr>
            <p:ph type="title"/>
          </p:nvPr>
        </p:nvSpPr>
        <p:spPr>
          <a:xfrm>
            <a:off x="180000" y="180000"/>
            <a:ext cx="39906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g31b4f510750_5_380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g31b4f510750_5_380"/>
          <p:cNvSpPr txBox="1"/>
          <p:nvPr>
            <p:ph idx="1" type="body"/>
          </p:nvPr>
        </p:nvSpPr>
        <p:spPr>
          <a:xfrm>
            <a:off x="4369500" y="180000"/>
            <a:ext cx="4594500" cy="46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type="title">
  <p:cSld name="TITLE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1b4f510750_5_38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1" name="Google Shape;81;g31b4f510750_5_38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g31b4f510750_5_38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">
  <p:cSld name="Title and Content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b4f510750_5_388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1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g31b4f510750_5_388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1">
  <p:cSld name="Title and Content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1b4f510750_5_391"/>
          <p:cNvSpPr txBox="1"/>
          <p:nvPr>
            <p:ph type="title"/>
          </p:nvPr>
        </p:nvSpPr>
        <p:spPr>
          <a:xfrm>
            <a:off x="327479" y="327457"/>
            <a:ext cx="48651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g31b4f510750_5_391"/>
          <p:cNvSpPr txBox="1"/>
          <p:nvPr/>
        </p:nvSpPr>
        <p:spPr>
          <a:xfrm>
            <a:off x="328333" y="1203800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600" lIns="41600" spcFirstLastPara="1" rIns="41600" wrap="square" tIns="416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9">
          <p15:clr>
            <a:srgbClr val="E46962"/>
          </p15:clr>
        </p15:guide>
        <p15:guide id="3" orient="horz" pos="759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2">
  <p:cSld name="Заголовок и контент 2">
    <p:bg>
      <p:bgPr>
        <a:solidFill>
          <a:schemeClr val="lt1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1b4f510750_5_394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g31b4f510750_5_394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2" name="Google Shape;92;g31b4f510750_5_394"/>
          <p:cNvSpPr txBox="1"/>
          <p:nvPr>
            <p:ph idx="12" type="sldNum"/>
          </p:nvPr>
        </p:nvSpPr>
        <p:spPr>
          <a:xfrm>
            <a:off x="8556784" y="4749851"/>
            <a:ext cx="5487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">
  <p:cSld name="Заголовок и контент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1b4f510750_5_398"/>
          <p:cNvSpPr txBox="1"/>
          <p:nvPr>
            <p:ph type="title"/>
          </p:nvPr>
        </p:nvSpPr>
        <p:spPr>
          <a:xfrm>
            <a:off x="327479" y="327456"/>
            <a:ext cx="486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5" name="Google Shape;95;g31b4f510750_5_398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96" name="Google Shape;96;g31b4f510750_5_398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BFBFBF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rgbClr val="BFBFB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контент 3 1">
  <p:cSld name="Заголовок и контент 3"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b4f510750_5_402"/>
          <p:cNvSpPr txBox="1"/>
          <p:nvPr>
            <p:ph type="title"/>
          </p:nvPr>
        </p:nvSpPr>
        <p:spPr>
          <a:xfrm>
            <a:off x="327479" y="327456"/>
            <a:ext cx="48651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9" name="Google Shape;99;g31b4f510750_5_402"/>
          <p:cNvSpPr txBox="1"/>
          <p:nvPr/>
        </p:nvSpPr>
        <p:spPr>
          <a:xfrm>
            <a:off x="328332" y="1203801"/>
            <a:ext cx="4243800" cy="361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1575" lIns="41575" spcFirstLastPara="1" rIns="41575" wrap="square" tIns="41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E46962"/>
          </p15:clr>
        </p15:guide>
        <p15:guide id="2" orient="horz" pos="538">
          <p15:clr>
            <a:srgbClr val="E46962"/>
          </p15:clr>
        </p15:guide>
        <p15:guide id="3" orient="horz" pos="758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графит">
  <p:cSld name="ONE_COLUMN_TEXT_1">
    <p:bg>
      <p:bgPr>
        <a:solidFill>
          <a:srgbClr val="1E1E1E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1b4f510750_5_405"/>
          <p:cNvSpPr txBox="1"/>
          <p:nvPr>
            <p:ph idx="12" type="sldNum"/>
          </p:nvPr>
        </p:nvSpPr>
        <p:spPr>
          <a:xfrm>
            <a:off x="7637975" y="4717050"/>
            <a:ext cx="1436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EFEFEF"/>
                </a:solidFill>
                <a:latin typeface="JetBrains Mono"/>
                <a:ea typeface="JetBrains Mono"/>
                <a:cs typeface="JetBrains Mono"/>
                <a:sym typeface="JetBrains Mon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2" name="Google Shape;102;g31b4f510750_5_405"/>
          <p:cNvSpPr txBox="1"/>
          <p:nvPr>
            <p:ph type="title"/>
          </p:nvPr>
        </p:nvSpPr>
        <p:spPr>
          <a:xfrm>
            <a:off x="180000" y="180000"/>
            <a:ext cx="39906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3" name="Google Shape;103;g31b4f510750_5_405"/>
          <p:cNvSpPr txBox="1"/>
          <p:nvPr>
            <p:ph idx="1" type="body"/>
          </p:nvPr>
        </p:nvSpPr>
        <p:spPr>
          <a:xfrm>
            <a:off x="180000" y="1883600"/>
            <a:ext cx="4594500" cy="26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048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048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048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048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●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048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○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048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■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4" name="Google Shape;104;g31b4f510750_5_4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80000" y="4682460"/>
            <a:ext cx="713135" cy="32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31b4f510750_5_405"/>
          <p:cNvSpPr txBox="1"/>
          <p:nvPr/>
        </p:nvSpPr>
        <p:spPr>
          <a:xfrm>
            <a:off x="5095284" y="4751328"/>
            <a:ext cx="3890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Строго конфиденциально. Все права принадлежат Sergek Group ©</a:t>
            </a:r>
            <a:endParaRPr b="0" i="0" sz="1400" u="none" cap="none" strike="noStrike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дин столбец_белый">
  <p:cSld name="Один столбец_белый">
    <p:bg>
      <p:bgPr>
        <a:solidFill>
          <a:schemeClr val="lt1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1b4f510750_5_411"/>
          <p:cNvSpPr txBox="1"/>
          <p:nvPr>
            <p:ph type="title"/>
          </p:nvPr>
        </p:nvSpPr>
        <p:spPr>
          <a:xfrm>
            <a:off x="312125" y="180000"/>
            <a:ext cx="4117800" cy="15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None/>
              <a:defRPr b="1" i="0" sz="20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bg>
      <p:bgPr>
        <a:solidFill>
          <a:schemeClr val="lt1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1b4f510750_5_413"/>
          <p:cNvSpPr txBox="1"/>
          <p:nvPr>
            <p:ph type="title"/>
          </p:nvPr>
        </p:nvSpPr>
        <p:spPr>
          <a:xfrm>
            <a:off x="630785" y="441132"/>
            <a:ext cx="7882500" cy="3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1" i="0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1b4f510750_2_431"/>
          <p:cNvSpPr txBox="1"/>
          <p:nvPr>
            <p:ph type="title"/>
          </p:nvPr>
        </p:nvSpPr>
        <p:spPr>
          <a:xfrm>
            <a:off x="684682" y="308559"/>
            <a:ext cx="3743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1800" u="none" cap="none" strike="noStrike">
                <a:solidFill>
                  <a:srgbClr val="23A8DE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2" name="Google Shape;112;g31b4f510750_2_431"/>
          <p:cNvSpPr txBox="1"/>
          <p:nvPr/>
        </p:nvSpPr>
        <p:spPr>
          <a:xfrm>
            <a:off x="375200" y="4823550"/>
            <a:ext cx="3458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Strictly Confidential. Copyright Reserved to Sergek Projects Ltd ©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g31b4f510750_2_431"/>
          <p:cNvSpPr txBox="1"/>
          <p:nvPr>
            <p:ph idx="12" type="sldNum"/>
          </p:nvPr>
        </p:nvSpPr>
        <p:spPr>
          <a:xfrm>
            <a:off x="8677835" y="4889749"/>
            <a:ext cx="1524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БЕЛЫЙ ФОН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Слайд ТЕМНО СЕРЫЙ ФОН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1bf351e6d1_0_5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334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">
  <p:cSld name="Слайд ЧЕРНЫЙ ФОН">
    <p:bg>
      <p:bgPr>
        <a:solidFill>
          <a:schemeClr val="lt1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1bf351e6d1_0_6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1bf351e6d1_0_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2" name="Google Shape;122;g31bf351e6d1_0_6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3" name="Google Shape;123;g31bf351e6d1_0_6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1">
  <p:cSld name="1_Заголовок и два столбца_белый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1bf351e6d1_0_6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1bf351e6d1_0_66"/>
          <p:cNvPicPr preferRelativeResize="0"/>
          <p:nvPr/>
        </p:nvPicPr>
        <p:blipFill rotWithShape="1">
          <a:blip r:embed="rId2">
            <a:alphaModFix amt="5000"/>
          </a:blip>
          <a:srcRect b="-2976" l="0" r="-2459" t="0"/>
          <a:stretch/>
        </p:blipFill>
        <p:spPr>
          <a:xfrm rot="-995823">
            <a:off x="1146996" y="41721"/>
            <a:ext cx="9001550" cy="55892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2">
  <p:cSld name="Заголовок и два столбца_белый">
    <p:bg>
      <p:bgPr>
        <a:solidFill>
          <a:schemeClr val="lt1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1bf351e6d1_0_6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и два столбца_белый 3">
  <p:cSld name="1_Заголовок и два столбца_белый 2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1bf351e6d1_0_7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13D8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g31bf351e6d1_0_71"/>
          <p:cNvPicPr preferRelativeResize="0"/>
          <p:nvPr/>
        </p:nvPicPr>
        <p:blipFill rotWithShape="1">
          <a:blip r:embed="rId2">
            <a:alphaModFix amt="5000"/>
          </a:blip>
          <a:srcRect b="-2976" l="-1468" r="-1944" t="0"/>
          <a:stretch/>
        </p:blipFill>
        <p:spPr>
          <a:xfrm>
            <a:off x="-1203960" y="0"/>
            <a:ext cx="11207539" cy="5483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01">
          <p15:clr>
            <a:srgbClr val="E46962"/>
          </p15:clr>
        </p15:guide>
        <p15:guide id="2" orient="horz" pos="2978">
          <p15:clr>
            <a:srgbClr val="E46962"/>
          </p15:clr>
        </p15:guide>
        <p15:guide id="3" orient="horz" pos="3163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g31bf351e6d1_0_37"/>
          <p:cNvGrpSpPr/>
          <p:nvPr/>
        </p:nvGrpSpPr>
        <p:grpSpPr>
          <a:xfrm>
            <a:off x="486285" y="590175"/>
            <a:ext cx="2398023" cy="360601"/>
            <a:chOff x="7419975" y="4637527"/>
            <a:chExt cx="1105946" cy="166306"/>
          </a:xfrm>
        </p:grpSpPr>
        <p:sp>
          <p:nvSpPr>
            <p:cNvPr id="137" name="Google Shape;137;g31bf351e6d1_0_37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g31bf351e6d1_0_37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g31bf351e6d1_0_37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g31bf351e6d1_0_37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g31bf351e6d1_0_37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g31bf351e6d1_0_37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g31bf351e6d1_0_37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g31bf351e6d1_0_37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g31bf351e6d1_0_37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g31bf351e6d1_0_37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g31bf351e6d1_0_37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8" name="Google Shape;148;g31bf351e6d1_0_37"/>
          <p:cNvSpPr txBox="1"/>
          <p:nvPr/>
        </p:nvSpPr>
        <p:spPr>
          <a:xfrm>
            <a:off x="373227" y="3420000"/>
            <a:ext cx="3009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000" b="0">
                <a:solidFill>
                  <a:srgbClr val="A7B6BD"/>
                </a:solidFill>
                <a:latin typeface="Golos Text"/>
              </a:rPr>
              <a:t>Сентябрь 2026</a:t>
            </a:r>
            <a:endParaRPr b="0" i="0" sz="1000" u="none" cap="none" strike="noStrike">
              <a:solidFill>
                <a:schemeClr val="lt1"/>
              </a:solidFill>
              <a:latin typeface="Golos Text"/>
              <a:ea typeface="Golos Text"/>
              <a:cs typeface="Golos Text"/>
              <a:sym typeface="Golos Text"/>
            </a:endParaRPr>
          </a:p>
        </p:txBody>
      </p:sp>
      <p:sp>
        <p:nvSpPr>
          <p:cNvPr id="149" name="Google Shape;149;g31bf351e6d1_0_37"/>
          <p:cNvSpPr txBox="1"/>
          <p:nvPr/>
        </p:nvSpPr>
        <p:spPr>
          <a:xfrm>
            <a:off x="373227" y="1320000"/>
            <a:ext cx="4100000" cy="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500" b="0">
                <a:solidFill>
                  <a:srgbClr val="FFFFFF"/>
                </a:solidFill>
                <a:latin typeface="Golos Text SemiBold"/>
              </a:rPr>
              <a:t>Приоритеты реинжиниринга</a:t>
            </a:r>
            <a:endParaRPr b="0" i="0" sz="2400" u="none" cap="none" strike="noStrike">
              <a:solidFill>
                <a:schemeClr val="lt1"/>
              </a:solidFill>
              <a:latin typeface="Golos Text Medium"/>
              <a:ea typeface="Golos Text Medium"/>
              <a:cs typeface="Golos Text Medium"/>
              <a:sym typeface="Golos Text Medium"/>
            </a:endParaRPr>
          </a:p>
        </p:txBody>
      </p:sp>
      <p:pic>
        <p:nvPicPr>
          <p:cNvPr id="150" name="Google Shape;150;g31bf351e6d1_0_37"/>
          <p:cNvPicPr preferRelativeResize="0"/>
          <p:nvPr/>
        </p:nvPicPr>
        <p:blipFill rotWithShape="1">
          <a:blip r:embed="rId3">
            <a:alphaModFix/>
          </a:blip>
          <a:srcRect b="0" l="44680" r="6316" t="0"/>
          <a:stretch/>
        </p:blipFill>
        <p:spPr>
          <a:xfrm rot="5400000">
            <a:off x="4094185" y="266040"/>
            <a:ext cx="5143504" cy="461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ectangle 150"/>
          <p:cNvSpPr/>
          <p:nvPr/>
        </p:nvSpPr>
        <p:spPr>
          <a:xfrm>
            <a:off x="433227" y="2440000"/>
            <a:ext cx="620000" cy="30000"/>
          </a:xfrm>
          <a:prstGeom prst="rect">
            <a:avLst/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52" name="TextBox 151"/>
          <p:cNvSpPr txBox="1"/>
          <p:nvPr/>
        </p:nvSpPr>
        <p:spPr>
          <a:xfrm>
            <a:off x="433227" y="2600000"/>
            <a:ext cx="41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28AB6A"/>
                </a:solidFill>
                <a:latin typeface="Golos Text Medium"/>
              </a:rPr>
              <a:t>С чего начинаем и почему именно с этого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3227" y="2990000"/>
            <a:ext cx="4100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D4D8E4"/>
                </a:solidFill>
                <a:latin typeface="Golos Text"/>
              </a:rPr>
              <a:t>Департамент управления проектами · ТОО «Көркем Телеком»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Очередь реинжиниринга построена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97125" y="920000"/>
            <a:ext cx="8349750" cy="70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Первыми берём не самые выгодные процессы, а те, что разблокируют остальные.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Владелец закреплён у каждого объекта. Пока решение не доведено до приказа и не снят замер «до», выгоду от оптимизации нечем доказать.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5" name="TextBox 4"/>
          <p:cNvSpPr txBox="1"/>
          <p:nvPr/>
        </p:nvSpPr>
        <p:spPr>
          <a:xfrm>
            <a:off x="557125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125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объектов реестра оценены и поставлены в очередь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4562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8" name="TextBox 7"/>
          <p:cNvSpPr txBox="1"/>
          <p:nvPr/>
        </p:nvSpPr>
        <p:spPr>
          <a:xfrm>
            <a:off x="2684562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E94235"/>
                </a:solidFill>
                <a:latin typeface="Golos Text SemiBold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4562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решений о владении ждут документа — они держат очередь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1999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1" name="TextBox 10"/>
          <p:cNvSpPr txBox="1"/>
          <p:nvPr/>
        </p:nvSpPr>
        <p:spPr>
          <a:xfrm>
            <a:off x="4811999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28AB6A"/>
                </a:solidFill>
                <a:latin typeface="Golos Text SemiBol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999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быстрых побед: высокая ценность, лёгкая реализация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79436" y="1860000"/>
            <a:ext cx="1967437" cy="170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90000" bIns="90000" wrap="square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6939436" y="206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>
                <a:solidFill>
                  <a:srgbClr val="013D85"/>
                </a:solidFill>
                <a:latin typeface="Golos Text SemiBold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9436" y="2800000"/>
            <a:ext cx="1647437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первых шагов — без бюджета и ИТ-разработки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37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25" y="3840000"/>
            <a:ext cx="834975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Источник: реестр из 62 процессов, подпроцессов и этапов; оценка по 5 критериям на основании Методики KT_METHOD v1.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Пять критериев оценки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Балл по каждому от 1 до 5, умножается на вес, приводится к шкале 0–100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210000"/>
            <a:ext cx="250492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Критерий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2050" y="1210000"/>
            <a:ext cx="834975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Вес</a:t>
            </a:r>
          </a:p>
        </p:txBody>
      </p:sp>
      <p:sp>
        <p:nvSpPr>
          <p:cNvPr id="6" name="Rectangle 5"/>
          <p:cNvSpPr/>
          <p:nvPr/>
        </p:nvSpPr>
        <p:spPr>
          <a:xfrm>
            <a:off x="3737025" y="1210000"/>
            <a:ext cx="5009850" cy="37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На какой вопрос отвечает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8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Влияние на результат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2050" y="158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3737025" y="158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Насколько объект определяет срок запуска и доходность проекта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125" y="195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времени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02050" y="195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7025" y="195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времени цикла высвобождается после вмешательства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7125" y="232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Экономия денег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2050" y="232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7025" y="232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Какой прямой денежный эффект даёт вмешательство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690000"/>
            <a:ext cx="250492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Риск бездействия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02050" y="2690000"/>
            <a:ext cx="834975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37025" y="2690000"/>
            <a:ext cx="5009850" cy="37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Что произойдёт, если объект не трогать в этом году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060000"/>
            <a:ext cx="250492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Лёгкость реализации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02050" y="3060000"/>
            <a:ext cx="834975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15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37025" y="3060000"/>
            <a:ext cx="5009850" cy="3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Golos Text"/>
              </a:rPr>
              <a:t>Сколько усилий и согласий требует вмешательство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125" y="3690000"/>
            <a:ext cx="834975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Вес отражает управленческий приоритет: то, что даёт результат, стоит дороже того, что даёт удобство.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Объекта на 100 баллов в реестре нет — шкала нужна для сравнения объектов между собой, а не для абсолютной оценки.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Почему очередь не совпадает с рейтингом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Пять правил очерёдности, каждое опирается на пункт Методики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1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1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Владение раньше метрик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8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Спрашивать за результат можно только с той должности, которая есть — п. 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7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7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7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Базовая линия раньше улучшений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204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Без замера «до» эффект будет предметом спора, а не расчёта — п. 176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3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4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4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Узкое место раньше соседних шагов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70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Пока шаг-ограничитель на месте, остальные ускорения не дают срока — п. 140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30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31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31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Своё раньше общего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36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Требовать норматив у смежника убедительнее, когда исполняешь свой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6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7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7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Автоматизация после регламента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4020000"/>
            <a:ext cx="780975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444746"/>
                </a:solidFill>
                <a:latin typeface="Golos Text"/>
              </a:rPr>
              <a:t>Автоматизировать неисполняемый процесс — закрепить беспорядок в коде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Четыре волны работ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задаёт зависимости, балл — порядок внутри волны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7125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13D85"/>
                </a:solidFill>
                <a:latin typeface="Golos Text SemiBold"/>
              </a:rPr>
              <a:t>Закрепление владения и базовая линия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Довести решения о владении до приказа и снять базовую линию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7 объектов  ·  Фазы 0–1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9562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562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28AB6A"/>
                </a:solidFill>
                <a:latin typeface="Golos Text SemiBold"/>
              </a:rPr>
              <a:t>Быстрые победы внутри ДУП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Восстановить исполнение там, где ДУП решает в одиночку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9562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20 объектов  ·  Фаза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1999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FBBB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Golos Text SemiBold"/>
              </a:rPr>
              <a:t>Волна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41999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A87300"/>
                </a:solidFill>
                <a:latin typeface="Golos Text SemiBold"/>
              </a:rPr>
              <a:t>Стыки с ЦО и закрытие пробелов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Договориться о стыках и спроектировать то, чего нет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41999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23 объектов  ·  Фаза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4436" y="1070000"/>
            <a:ext cx="1982437" cy="420000"/>
          </a:xfrm>
          <a:prstGeom prst="roundRect">
            <a:avLst>
              <a:gd name="adj" fmla="val 10000"/>
            </a:avLst>
          </a:prstGeom>
          <a:solidFill>
            <a:srgbClr val="438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Волна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4436" y="1510000"/>
            <a:ext cx="1982437" cy="118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4384F4"/>
                </a:solidFill>
                <a:latin typeface="Golos Text SemiBold"/>
              </a:rPr>
              <a:t>Масштаб, экономика и автоматизация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Пересмотреть экономику и закрепить результат в системах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4436" y="2750000"/>
            <a:ext cx="1982437" cy="3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 Medium"/>
              </a:rPr>
              <a:t>8 объектов  ·  Фаза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125" y="319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Отдельно: 3 объекта вне очереди — исполняются другим подразделением целиком, срок контролируется через SLA по родительскому объекту.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125" y="349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125" y="3520000"/>
            <a:ext cx="834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Medium"/>
              </a:rPr>
              <a:t>Из чего состоит волна 1: 7 объектов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7125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E94235"/>
                </a:solidFill>
                <a:latin typeface="Golos Text SemiBold"/>
              </a:rPr>
              <a:t>4</a:t>
            </a:r>
            <a:r>
              <a:rPr sz="1000">
                <a:solidFill>
                  <a:srgbClr val="E94235"/>
                </a:solidFill>
                <a:latin typeface="Golos Text SemiBold"/>
              </a:rPr>
              <a:t>   доводим владение до приказа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Чек-лист передачи между блоками 1 и 2, разделение заместителей, полномочия ПМО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27041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2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снимаем базовую линию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Пилотный аудит одного филиала и регулярный контроль качества данных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6957" y="3810000"/>
            <a:ext cx="2689916" cy="81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80000" bIns="80000" wrap="square"/>
          <a:lstStyle/>
          <a:p>
            <a:pPr algn="l">
              <a:lnSpc>
                <a:spcPct val="100000"/>
              </a:lnSpc>
            </a:pPr>
            <a:r>
              <a:rPr sz="1600">
                <a:solidFill>
                  <a:srgbClr val="013D85"/>
                </a:solidFill>
                <a:latin typeface="Golos Text SemiBold"/>
              </a:rPr>
              <a:t>1</a:t>
            </a:r>
            <a:r>
              <a:rPr sz="1000">
                <a:solidFill>
                  <a:srgbClr val="013D85"/>
                </a:solidFill>
                <a:latin typeface="Golos Text SemiBold"/>
              </a:rPr>
              <a:t>   нормируем срок стыка с ЦО</a:t>
            </a:r>
          </a:p>
          <a:p>
            <a:pPr>
              <a:lnSpc>
                <a:spcPct val="120000"/>
              </a:lnSpc>
              <a:spcBef>
                <a:spcPts val="500"/>
              </a:spcBef>
            </a:pPr>
            <a:r>
              <a:rPr sz="850">
                <a:solidFill>
                  <a:srgbClr val="282828"/>
                </a:solidFill>
                <a:latin typeface="Golos Text"/>
              </a:rPr>
              <a:t>Решения волны вступают в силу в день приказа HR — нужен норматив срока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Ценность и лёгкость реализации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Ценность — четыре критерия без учёта лёгкости; граница высокой ценности — 60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77125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лёгкая (4–5 из 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2000" y="1090000"/>
            <a:ext cx="3554875" cy="3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 Medium"/>
              </a:rPr>
              <a:t>Реализация тяжёлая (1–3 из 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125" y="141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высокая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77125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28AB6A"/>
                </a:solidFill>
                <a:latin typeface="Golos Text SemiBold"/>
              </a:rPr>
              <a:t>10</a:t>
            </a:r>
            <a:r>
              <a:rPr sz="1150">
                <a:solidFill>
                  <a:srgbClr val="28AB6A"/>
                </a:solidFill>
                <a:latin typeface="Golos Text SemiBold"/>
              </a:rPr>
              <a:t>   Быстрые победы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Берём первыми: результат виден до того, как закончатся переговоры со смежниками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92000" y="141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013D85"/>
                </a:solidFill>
                <a:latin typeface="Golos Text SemiBold"/>
              </a:rPr>
              <a:t>21</a:t>
            </a:r>
            <a:r>
              <a:rPr sz="1150">
                <a:solidFill>
                  <a:srgbClr val="013D85"/>
                </a:solidFill>
                <a:latin typeface="Golos Text SemiBold"/>
              </a:rPr>
              <a:t>   Крупные проекты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Планируем как проект с ресурсом и сроком: SLA со смежниками, новые регламенты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125" y="2900000"/>
            <a:ext cx="940000" cy="1330000"/>
          </a:xfrm>
          <a:prstGeom prst="roundRect">
            <a:avLst>
              <a:gd name="adj" fmla="val 1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0000" rIns="40000" tIns="90000" bIns="90000" wrap="square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Ценность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Medium"/>
              </a:rPr>
              <a:t>умеренная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7125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384F4"/>
                </a:solidFill>
                <a:latin typeface="Golos Text SemiBold"/>
              </a:rPr>
              <a:t>15</a:t>
            </a:r>
            <a:r>
              <a:rPr sz="1150">
                <a:solidFill>
                  <a:srgbClr val="4384F4"/>
                </a:solidFill>
                <a:latin typeface="Golos Text SemiBold"/>
              </a:rPr>
              <a:t>   Заполнители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Делаем попутно, когда освобождается ресурс; в отдельную инициативу не выносим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92000" y="2900000"/>
            <a:ext cx="3554875" cy="1330000"/>
          </a:xfrm>
          <a:prstGeom prst="roundRect">
            <a:avLst>
              <a:gd name="adj" fmla="val 6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0000" rIns="110000" tIns="90000" bIns="90000" wrap="square"/>
          <a:lstStyle/>
          <a:p>
            <a:pPr algn="l">
              <a:lnSpc>
                <a:spcPct val="100000"/>
              </a:lnSpc>
            </a:pPr>
            <a:r>
              <a:rPr sz="2400">
                <a:solidFill>
                  <a:srgbClr val="444746"/>
                </a:solidFill>
                <a:latin typeface="Golos Text SemiBold"/>
              </a:rPr>
              <a:t>15</a:t>
            </a:r>
            <a:r>
              <a:rPr sz="1150">
                <a:solidFill>
                  <a:srgbClr val="444746"/>
                </a:solidFill>
                <a:latin typeface="Golos Text SemiBold"/>
              </a:rPr>
              <a:t>   Отложить</a:t>
            </a:r>
          </a:p>
          <a:p>
            <a:pPr>
              <a:lnSpc>
                <a:spcPct val="125000"/>
              </a:lnSpc>
              <a:spcBef>
                <a:spcPts val="800"/>
              </a:spcBef>
            </a:pPr>
            <a:r>
              <a:rPr sz="900">
                <a:solidFill>
                  <a:srgbClr val="282828"/>
                </a:solidFill>
                <a:latin typeface="Golos Text"/>
              </a:rPr>
              <a:t>В работу не берём, пока не изменятся исходные данные или не появится бюджет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Начало очереди: первые десять объектов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Волна 1 целиком — закрепление владения и базовая линия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50098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№</a:t>
            </a:r>
          </a:p>
        </p:txBody>
      </p:sp>
      <p:sp>
        <p:nvSpPr>
          <p:cNvPr id="5" name="Rectangle 4"/>
          <p:cNvSpPr/>
          <p:nvPr/>
        </p:nvSpPr>
        <p:spPr>
          <a:xfrm>
            <a:off x="898110" y="1110000"/>
            <a:ext cx="834975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733085" y="1110000"/>
            <a:ext cx="40078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40965" y="1110000"/>
            <a:ext cx="66798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8945" y="1110000"/>
            <a:ext cx="2337930" cy="282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Golos Text SemiBold"/>
              </a:rPr>
              <a:t>Что делаем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392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8110" y="1392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3085" y="1392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Передача проекта «реализация → сопровождение»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40965" y="1392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8945" y="1392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Проектирование TO-BE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125" y="1674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8110" y="1674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3085" y="1674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Реализация проекта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0965" y="1674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945" y="1674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1956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8110" y="1956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33085" y="1956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Постпроектное сопровождение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40965" y="1956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8945" y="1956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238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10" y="2238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3085" y="2238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Методология и контроль качества (ПМО)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40965" y="2238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8945" y="2238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Закрепление владения приказом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125" y="2520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110" y="2520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4.2.1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3085" y="2520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Аудит проектной документации по чек-листам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40965" y="2520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8945" y="2520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7125" y="2802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8110" y="2802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3085" y="2802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Оформление штата и кадровых приказов по проекту и…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40965" y="2802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8945" y="2802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SLA на стык с ЦО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7125" y="3084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8110" y="3084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4.2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3085" y="3084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Контроль качества и полноты проектных данных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40965" y="3084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54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8945" y="3084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Базовая линия и замер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7125" y="3366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8110" y="3366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33085" y="3366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40965" y="3366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8945" y="3366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7125" y="3648000"/>
            <a:ext cx="50098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8110" y="3648000"/>
            <a:ext cx="834975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3085" y="3648000"/>
            <a:ext cx="40078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ТЗ, адресная…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40965" y="3648000"/>
            <a:ext cx="66798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8945" y="3648000"/>
            <a:ext cx="2337930" cy="28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125" y="3930000"/>
            <a:ext cx="50098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8110" y="3930000"/>
            <a:ext cx="834975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1.9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3085" y="3930000"/>
            <a:ext cx="40078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Формирование реестра платежей и приоритизация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40965" y="3930000"/>
            <a:ext cx="66798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8945" y="3930000"/>
            <a:ext cx="2337930" cy="28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282828"/>
                </a:solidFill>
                <a:latin typeface="Golos Text"/>
              </a:rPr>
              <a:t>Регламент и чек-лист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Самые ценные объекты идут не первыми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И это осознанное решение, а не недосмотр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397125" y="1110000"/>
            <a:ext cx="6679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Балл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5105" y="1110000"/>
            <a:ext cx="83497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0080" y="1110000"/>
            <a:ext cx="4007880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Объект реестра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907960" y="1110000"/>
            <a:ext cx="2838915" cy="300000"/>
          </a:xfrm>
          <a:prstGeom prst="rect">
            <a:avLst/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Golos Text SemiBold"/>
              </a:rPr>
              <a:t>Когда берём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125" y="14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105" y="14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0080" y="14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Приём и валидация пакета документов от ДРБ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960" y="14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125" y="17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105" y="17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1.9.2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0080" y="17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Приоритизация реестра (ВУ / КИЗ / КОЗ)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7960" y="17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125" y="20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105" y="20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1.1.2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0080" y="20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Проверка полноты пакета (договор, ФЭМ, ТЗ…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960" y="20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2. Быстрые победы внутри ДУП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125" y="23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5105" y="23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0080" y="23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Инициация и контроль закупок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07960" y="23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125" y="2610000"/>
            <a:ext cx="6679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105" y="2610000"/>
            <a:ext cx="83497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Б.4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0080" y="2610000"/>
            <a:ext cx="4007880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Закупки выше упрощённого порога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960" y="2610000"/>
            <a:ext cx="2838915" cy="3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125" y="2910000"/>
            <a:ext cx="6679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83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105" y="2910000"/>
            <a:ext cx="83497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1.2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00080" y="2910000"/>
            <a:ext cx="4007880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Подтверждение готовности продукта (пилот)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07960" y="2910000"/>
            <a:ext cx="2838915" cy="3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20000" bIns="20000" wrap="square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82828"/>
                </a:solidFill>
                <a:latin typeface="Golos Text"/>
              </a:rPr>
              <a:t>Волна 3. Стыки с ЦО и закрытие пробелов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125" y="3510000"/>
            <a:ext cx="8349750" cy="620000"/>
          </a:xfrm>
          <a:prstGeom prst="roundRect">
            <a:avLst>
              <a:gd name="adj" fmla="val 12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Это вход проекта: приём пакета от ДРБ, приоритизация платежей, закупки и готовность продукта.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Golos Text SemiBold"/>
              </a:rPr>
              <a:t>Они ждут волн 2 и 3: сначала приказы и замер, иначе эффект будет не доказан, а объявлен.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Программа старта: пять первых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Шаги 1–5 доводят владение до приказа и снимают базовую линию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8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Пилотный аудит одного филиала по трём чек-листам методологии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4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Отчёт аудита и зафиксированная базовая линия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46875" y="108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Главный менеджер проектов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6875" y="143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0  ·  4.2.1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125" y="16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7125" y="17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125" y="170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Чек-лист передачи «реализация → сопровождение»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125" y="196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Чек-лист передачи и обязательная дата handover в карточке проекта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6875" y="170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Зам. по строительству и реализации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6875" y="205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2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3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32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разделении заместителей и матрица RACI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258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Приказ, целевая оргсхема и RACI 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6875" y="232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875" y="267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1, 2, 2.0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125" y="28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97125" y="29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125" y="294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Приказ о полномочиях процессного офиса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125" y="320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Приказ о полномочиях ПМО и должностная инструкция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6875" y="294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6875" y="329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4, 4.1, 4.2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125" y="348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97125" y="35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125" y="3560000"/>
            <a:ext cx="54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1E1E1E"/>
                </a:solidFill>
                <a:latin typeface="Golos Text SemiBold"/>
              </a:rPr>
              <a:t>Норматив срока оформления кадровых приказов с HR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125" y="3820000"/>
            <a:ext cx="540975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Результат: Соглашение с HR о сроке оформления приказов по филиалу и проекту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6875" y="3560000"/>
            <a:ext cx="22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28AB6A"/>
                </a:solidFill>
                <a:latin typeface="Golos Text Medium"/>
              </a:rPr>
              <a:t>Директор ДУП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6875" y="3910000"/>
            <a:ext cx="22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A7B6BD"/>
                </a:solidFill>
                <a:latin typeface="Golos Text"/>
              </a:rPr>
              <a:t>Фаза 1  ·  Б.9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125" y="4230000"/>
            <a:ext cx="834975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A7B6BD"/>
                </a:solidFill>
                <a:latin typeface="Golos Text"/>
              </a:rPr>
              <a:t>Шаги 6–11 — восстановление исполнения внутри ДУП: матрица кураторов, приёмка пакета от ДРБ, платежи, статус-встречи, прогноз, переносы оборудования.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7125" y="327775"/>
            <a:ext cx="6084300" cy="31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1E1E1E"/>
                </a:solidFill>
                <a:latin typeface="Golos Text SemiBold"/>
              </a:rPr>
              <a:t>Что требуется от руководства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125" y="681275"/>
            <a:ext cx="834975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444746"/>
                </a:solidFill>
                <a:latin typeface="Golos Text"/>
              </a:rPr>
              <a:t>Решения, без которых очередь не двигается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7125" y="107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125" y="106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разделении заместителей и матрица RACI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125" y="132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Приказ, целевая оргсхема и RACI v2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125" y="154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7125" y="163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125" y="162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Приказ о полномочиях процессного офиса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125" y="188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Приказ о полномочиях ПМО и должностная инструкция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125" y="210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7125" y="219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125" y="218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Норматив срока оформления кадровых приказов с HR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125" y="244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Соглашение с HR о сроке оформления приказов по филиалу и проекту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125" y="266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125" y="275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125" y="274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Утверждение матрицы «филиал → куратор»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125" y="300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Утверждённая приказом матрица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7125" y="3220000"/>
            <a:ext cx="8349750" cy="9525"/>
          </a:xfrm>
          <a:prstGeom prst="rect">
            <a:avLst/>
          </a:prstGeom>
          <a:solidFill>
            <a:srgbClr val="D4D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7125" y="3310000"/>
            <a:ext cx="400000" cy="400000"/>
          </a:xfrm>
          <a:prstGeom prst="roundRect">
            <a:avLst>
              <a:gd name="adj" fmla="val 50000"/>
            </a:avLst>
          </a:prstGeom>
          <a:solidFill>
            <a:srgbClr val="28A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Golos Text SemiBol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125" y="3300000"/>
            <a:ext cx="780975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Golos Text SemiBold"/>
              </a:rPr>
              <a:t>Чек-лист минимального пакета от ДРБ и письмо о сроке передачи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125" y="3560000"/>
            <a:ext cx="780975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44746"/>
                </a:solidFill>
                <a:latin typeface="Golos Text"/>
              </a:rPr>
              <a:t>Закрывается документом: Чек-лист приёмки и письмо в ДРБ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125" y="3910000"/>
            <a:ext cx="8349750" cy="420000"/>
          </a:xfrm>
          <a:prstGeom prst="roundRect">
            <a:avLst>
              <a:gd name="adj" fmla="val 12000"/>
            </a:avLst>
          </a:prstGeom>
          <a:solidFill>
            <a:srgbClr val="013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0000" rIns="110000" tIns="0" bIns="0" wrap="square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Golos Text SemiBold"/>
              </a:rPr>
              <a:t>Ни одно из решений не требует бюджета, ИТ-разработки и согласия смежных блоков.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Google Shape;343;g34fc5f99509_2_26"/>
          <p:cNvPicPr preferRelativeResize="0"/>
          <p:nvPr/>
        </p:nvPicPr>
        <p:blipFill rotWithShape="1">
          <a:blip r:embed="rId3">
            <a:alphaModFix/>
          </a:blip>
          <a:srcRect b="0" l="0" r="0" t="15626"/>
          <a:stretch/>
        </p:blipFill>
        <p:spPr>
          <a:xfrm>
            <a:off x="0" y="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4fc5f99509_2_26"/>
          <p:cNvSpPr/>
          <p:nvPr/>
        </p:nvSpPr>
        <p:spPr>
          <a:xfrm>
            <a:off x="0" y="25"/>
            <a:ext cx="9014700" cy="5143500"/>
          </a:xfrm>
          <a:prstGeom prst="rect">
            <a:avLst/>
          </a:prstGeom>
          <a:gradFill>
            <a:gsLst>
              <a:gs pos="0">
                <a:srgbClr val="013D85">
                  <a:alpha val="6313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4fc5f99509_2_26"/>
          <p:cNvSpPr txBox="1"/>
          <p:nvPr/>
        </p:nvSpPr>
        <p:spPr>
          <a:xfrm>
            <a:off x="576526" y="2202300"/>
            <a:ext cx="79911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1600" b="0">
                <a:solidFill>
                  <a:srgbClr val="FFFFFF"/>
                </a:solidFill>
                <a:latin typeface="Golos Text Medium"/>
              </a:rPr>
              <a:t>Начинаем с ответственности и замера — дальше очередь считается сама</a:t>
            </a:r>
            <a:endParaRPr sz="2400">
              <a:solidFill>
                <a:schemeClr val="lt1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sp>
        <p:nvSpPr>
          <p:cNvPr id="347" name="Google Shape;347;g34fc5f99509_2_26"/>
          <p:cNvSpPr txBox="1"/>
          <p:nvPr/>
        </p:nvSpPr>
        <p:spPr>
          <a:xfrm>
            <a:off x="2081987" y="493525"/>
            <a:ext cx="4897200" cy="708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12700" marR="0" rtl="0"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ru" sz="4000" u="none" cap="none" strike="noStrike">
                <a:solidFill>
                  <a:srgbClr val="FFFFFF"/>
                </a:solidFill>
                <a:latin typeface="Golos Text SemiBold"/>
                <a:ea typeface="Golos Text SemiBold"/>
                <a:cs typeface="Golos Text SemiBold"/>
                <a:sym typeface="Golos Text SemiBold"/>
              </a:rPr>
              <a:t>Спасибо!</a:t>
            </a:r>
            <a:endParaRPr b="1" i="0" sz="4000" u="none" cap="none" strike="noStrike">
              <a:solidFill>
                <a:srgbClr val="FFFFFF"/>
              </a:solidFill>
              <a:latin typeface="Golos Text SemiBold"/>
              <a:ea typeface="Golos Text SemiBold"/>
              <a:cs typeface="Golos Text SemiBold"/>
              <a:sym typeface="Golos Text SemiBold"/>
            </a:endParaRPr>
          </a:p>
        </p:txBody>
      </p:sp>
      <p:grpSp>
        <p:nvGrpSpPr>
          <p:cNvPr id="348" name="Google Shape;348;g34fc5f99509_2_26"/>
          <p:cNvGrpSpPr/>
          <p:nvPr/>
        </p:nvGrpSpPr>
        <p:grpSpPr>
          <a:xfrm>
            <a:off x="3256171" y="4260137"/>
            <a:ext cx="2631820" cy="395775"/>
            <a:chOff x="7419975" y="4637527"/>
            <a:chExt cx="1105946" cy="166306"/>
          </a:xfrm>
        </p:grpSpPr>
        <p:sp>
          <p:nvSpPr>
            <p:cNvPr id="349" name="Google Shape;349;g34fc5f99509_2_26"/>
            <p:cNvSpPr/>
            <p:nvPr/>
          </p:nvSpPr>
          <p:spPr>
            <a:xfrm>
              <a:off x="7419975" y="4674865"/>
              <a:ext cx="86010" cy="94678"/>
            </a:xfrm>
            <a:custGeom>
              <a:rect b="b" l="l" r="r" t="t"/>
              <a:pathLst>
                <a:path extrusionOk="0" h="94678" w="86010">
                  <a:moveTo>
                    <a:pt x="2667" y="73914"/>
                  </a:moveTo>
                  <a:lnTo>
                    <a:pt x="55912" y="73914"/>
                  </a:lnTo>
                  <a:cubicBezTo>
                    <a:pt x="63246" y="73914"/>
                    <a:pt x="65342" y="72104"/>
                    <a:pt x="65342" y="64865"/>
                  </a:cubicBezTo>
                  <a:cubicBezTo>
                    <a:pt x="65342" y="57626"/>
                    <a:pt x="63246" y="55816"/>
                    <a:pt x="55912" y="55816"/>
                  </a:cubicBezTo>
                  <a:lnTo>
                    <a:pt x="28289" y="55816"/>
                  </a:lnTo>
                  <a:cubicBezTo>
                    <a:pt x="10668" y="55816"/>
                    <a:pt x="0" y="45529"/>
                    <a:pt x="0" y="27908"/>
                  </a:cubicBezTo>
                  <a:cubicBezTo>
                    <a:pt x="0" y="10287"/>
                    <a:pt x="10668" y="0"/>
                    <a:pt x="28289" y="0"/>
                  </a:cubicBezTo>
                  <a:lnTo>
                    <a:pt x="76200" y="0"/>
                  </a:lnTo>
                  <a:lnTo>
                    <a:pt x="76200" y="20574"/>
                  </a:lnTo>
                  <a:lnTo>
                    <a:pt x="28289" y="20574"/>
                  </a:lnTo>
                  <a:cubicBezTo>
                    <a:pt x="22193" y="20574"/>
                    <a:pt x="20669" y="21622"/>
                    <a:pt x="20669" y="27908"/>
                  </a:cubicBezTo>
                  <a:cubicBezTo>
                    <a:pt x="20669" y="34195"/>
                    <a:pt x="22289" y="35243"/>
                    <a:pt x="28289" y="35243"/>
                  </a:cubicBezTo>
                  <a:lnTo>
                    <a:pt x="55912" y="35243"/>
                  </a:lnTo>
                  <a:cubicBezTo>
                    <a:pt x="74581" y="35243"/>
                    <a:pt x="86011" y="46101"/>
                    <a:pt x="86011" y="64960"/>
                  </a:cubicBezTo>
                  <a:cubicBezTo>
                    <a:pt x="86011" y="83820"/>
                    <a:pt x="74581" y="94678"/>
                    <a:pt x="55912" y="94678"/>
                  </a:cubicBezTo>
                  <a:lnTo>
                    <a:pt x="2667" y="94678"/>
                  </a:lnTo>
                  <a:lnTo>
                    <a:pt x="2667" y="7410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g34fc5f99509_2_26"/>
            <p:cNvSpPr/>
            <p:nvPr/>
          </p:nvSpPr>
          <p:spPr>
            <a:xfrm>
              <a:off x="7517415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g34fc5f99509_2_26"/>
            <p:cNvSpPr/>
            <p:nvPr/>
          </p:nvSpPr>
          <p:spPr>
            <a:xfrm>
              <a:off x="7622381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0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g34fc5f99509_2_26"/>
            <p:cNvSpPr/>
            <p:nvPr/>
          </p:nvSpPr>
          <p:spPr>
            <a:xfrm>
              <a:off x="7684389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0" y="98108"/>
                    <a:pt x="0" y="85154"/>
                    <a:pt x="0" y="49054"/>
                  </a:cubicBezTo>
                  <a:cubicBezTo>
                    <a:pt x="0" y="12954"/>
                    <a:pt x="11620" y="0"/>
                    <a:pt x="47244" y="0"/>
                  </a:cubicBezTo>
                  <a:cubicBezTo>
                    <a:pt x="82867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5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g34fc5f99509_2_26"/>
            <p:cNvSpPr/>
            <p:nvPr/>
          </p:nvSpPr>
          <p:spPr>
            <a:xfrm>
              <a:off x="7792116" y="4672960"/>
              <a:ext cx="91359" cy="96393"/>
            </a:xfrm>
            <a:custGeom>
              <a:rect b="b" l="l" r="r" t="t"/>
              <a:pathLst>
                <a:path extrusionOk="0" h="96393" w="91359">
                  <a:moveTo>
                    <a:pt x="20860" y="57721"/>
                  </a:moveTo>
                  <a:cubicBezTo>
                    <a:pt x="22098" y="73724"/>
                    <a:pt x="27242" y="75819"/>
                    <a:pt x="48101" y="75819"/>
                  </a:cubicBezTo>
                  <a:lnTo>
                    <a:pt x="85725" y="75819"/>
                  </a:lnTo>
                  <a:lnTo>
                    <a:pt x="85725" y="96393"/>
                  </a:lnTo>
                  <a:lnTo>
                    <a:pt x="48101" y="96393"/>
                  </a:lnTo>
                  <a:cubicBezTo>
                    <a:pt x="12287" y="96393"/>
                    <a:pt x="0" y="84106"/>
                    <a:pt x="0" y="48196"/>
                  </a:cubicBezTo>
                  <a:cubicBezTo>
                    <a:pt x="0" y="12287"/>
                    <a:pt x="11430" y="0"/>
                    <a:pt x="46292" y="0"/>
                  </a:cubicBezTo>
                  <a:cubicBezTo>
                    <a:pt x="82963" y="0"/>
                    <a:pt x="93345" y="14573"/>
                    <a:pt x="91059" y="57626"/>
                  </a:cubicBezTo>
                  <a:lnTo>
                    <a:pt x="20860" y="57626"/>
                  </a:lnTo>
                  <a:close/>
                  <a:moveTo>
                    <a:pt x="70390" y="37148"/>
                  </a:moveTo>
                  <a:cubicBezTo>
                    <a:pt x="69152" y="24194"/>
                    <a:pt x="66770" y="20765"/>
                    <a:pt x="46292" y="20765"/>
                  </a:cubicBezTo>
                  <a:cubicBezTo>
                    <a:pt x="27718" y="20765"/>
                    <a:pt x="22384" y="22574"/>
                    <a:pt x="20955" y="37148"/>
                  </a:cubicBezTo>
                  <a:lnTo>
                    <a:pt x="70295" y="3714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g34fc5f99509_2_26"/>
            <p:cNvSpPr/>
            <p:nvPr/>
          </p:nvSpPr>
          <p:spPr>
            <a:xfrm>
              <a:off x="7896891" y="4637527"/>
              <a:ext cx="85058" cy="131921"/>
            </a:xfrm>
            <a:custGeom>
              <a:rect b="b" l="l" r="r" t="t"/>
              <a:pathLst>
                <a:path extrusionOk="0" h="131921" w="85058">
                  <a:moveTo>
                    <a:pt x="20860" y="0"/>
                  </a:moveTo>
                  <a:lnTo>
                    <a:pt x="20860" y="72485"/>
                  </a:lnTo>
                  <a:lnTo>
                    <a:pt x="38481" y="72485"/>
                  </a:lnTo>
                  <a:cubicBezTo>
                    <a:pt x="62389" y="56483"/>
                    <a:pt x="62675" y="54007"/>
                    <a:pt x="62675" y="37338"/>
                  </a:cubicBezTo>
                  <a:lnTo>
                    <a:pt x="83344" y="37338"/>
                  </a:lnTo>
                  <a:cubicBezTo>
                    <a:pt x="83344" y="59912"/>
                    <a:pt x="78677" y="68771"/>
                    <a:pt x="59627" y="82868"/>
                  </a:cubicBezTo>
                  <a:cubicBezTo>
                    <a:pt x="80105" y="97060"/>
                    <a:pt x="85058" y="106490"/>
                    <a:pt x="85058" y="131921"/>
                  </a:cubicBezTo>
                  <a:lnTo>
                    <a:pt x="64389" y="131921"/>
                  </a:lnTo>
                  <a:cubicBezTo>
                    <a:pt x="64389" y="112205"/>
                    <a:pt x="63532" y="109538"/>
                    <a:pt x="37814" y="93155"/>
                  </a:cubicBezTo>
                  <a:lnTo>
                    <a:pt x="20669" y="93155"/>
                  </a:lnTo>
                  <a:lnTo>
                    <a:pt x="20669" y="131921"/>
                  </a:lnTo>
                  <a:lnTo>
                    <a:pt x="0" y="131921"/>
                  </a:lnTo>
                  <a:lnTo>
                    <a:pt x="0" y="0"/>
                  </a:lnTo>
                  <a:lnTo>
                    <a:pt x="2066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g34fc5f99509_2_26"/>
            <p:cNvSpPr/>
            <p:nvPr/>
          </p:nvSpPr>
          <p:spPr>
            <a:xfrm>
              <a:off x="8044433" y="4673055"/>
              <a:ext cx="94488" cy="130778"/>
            </a:xfrm>
            <a:custGeom>
              <a:rect b="b" l="l" r="r" t="t"/>
              <a:pathLst>
                <a:path extrusionOk="0" h="130778" w="94488">
                  <a:moveTo>
                    <a:pt x="47244" y="98108"/>
                  </a:moveTo>
                  <a:cubicBezTo>
                    <a:pt x="11621" y="98108"/>
                    <a:pt x="0" y="85154"/>
                    <a:pt x="0" y="49054"/>
                  </a:cubicBezTo>
                  <a:cubicBezTo>
                    <a:pt x="0" y="12954"/>
                    <a:pt x="11621" y="0"/>
                    <a:pt x="47244" y="0"/>
                  </a:cubicBezTo>
                  <a:cubicBezTo>
                    <a:pt x="82868" y="0"/>
                    <a:pt x="94488" y="12954"/>
                    <a:pt x="94488" y="49054"/>
                  </a:cubicBezTo>
                  <a:lnTo>
                    <a:pt x="94488" y="85630"/>
                  </a:lnTo>
                  <a:cubicBezTo>
                    <a:pt x="94488" y="119253"/>
                    <a:pt x="82772" y="130778"/>
                    <a:pt x="49054" y="130778"/>
                  </a:cubicBezTo>
                  <a:lnTo>
                    <a:pt x="15907" y="130778"/>
                  </a:lnTo>
                  <a:lnTo>
                    <a:pt x="15907" y="110204"/>
                  </a:lnTo>
                  <a:lnTo>
                    <a:pt x="49054" y="110204"/>
                  </a:lnTo>
                  <a:cubicBezTo>
                    <a:pt x="68866" y="110204"/>
                    <a:pt x="72581" y="107918"/>
                    <a:pt x="73628" y="94202"/>
                  </a:cubicBezTo>
                  <a:cubicBezTo>
                    <a:pt x="66866" y="96869"/>
                    <a:pt x="58103" y="98108"/>
                    <a:pt x="47244" y="98108"/>
                  </a:cubicBezTo>
                  <a:close/>
                  <a:moveTo>
                    <a:pt x="20669" y="49054"/>
                  </a:moveTo>
                  <a:cubicBezTo>
                    <a:pt x="20669" y="74867"/>
                    <a:pt x="24098" y="77534"/>
                    <a:pt x="47244" y="77534"/>
                  </a:cubicBezTo>
                  <a:cubicBezTo>
                    <a:pt x="70390" y="77534"/>
                    <a:pt x="73819" y="74867"/>
                    <a:pt x="73819" y="49054"/>
                  </a:cubicBezTo>
                  <a:cubicBezTo>
                    <a:pt x="73819" y="23241"/>
                    <a:pt x="70390" y="20574"/>
                    <a:pt x="47244" y="20574"/>
                  </a:cubicBezTo>
                  <a:cubicBezTo>
                    <a:pt x="24098" y="20574"/>
                    <a:pt x="20669" y="23241"/>
                    <a:pt x="20669" y="490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g34fc5f99509_2_26"/>
            <p:cNvSpPr/>
            <p:nvPr/>
          </p:nvSpPr>
          <p:spPr>
            <a:xfrm>
              <a:off x="8154066" y="4674865"/>
              <a:ext cx="50387" cy="94583"/>
            </a:xfrm>
            <a:custGeom>
              <a:rect b="b" l="l" r="r" t="t"/>
              <a:pathLst>
                <a:path extrusionOk="0" h="94583" w="50387">
                  <a:moveTo>
                    <a:pt x="20669" y="94583"/>
                  </a:moveTo>
                  <a:lnTo>
                    <a:pt x="0" y="94583"/>
                  </a:lnTo>
                  <a:lnTo>
                    <a:pt x="0" y="45148"/>
                  </a:lnTo>
                  <a:cubicBezTo>
                    <a:pt x="0" y="11525"/>
                    <a:pt x="11621" y="0"/>
                    <a:pt x="45244" y="0"/>
                  </a:cubicBezTo>
                  <a:lnTo>
                    <a:pt x="50387" y="0"/>
                  </a:lnTo>
                  <a:lnTo>
                    <a:pt x="50387" y="20574"/>
                  </a:lnTo>
                  <a:lnTo>
                    <a:pt x="45244" y="20574"/>
                  </a:lnTo>
                  <a:cubicBezTo>
                    <a:pt x="22955" y="20574"/>
                    <a:pt x="20669" y="22860"/>
                    <a:pt x="20669" y="45148"/>
                  </a:cubicBezTo>
                  <a:lnTo>
                    <a:pt x="20669" y="9458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g34fc5f99509_2_26"/>
            <p:cNvSpPr/>
            <p:nvPr/>
          </p:nvSpPr>
          <p:spPr>
            <a:xfrm>
              <a:off x="8216074" y="4673055"/>
              <a:ext cx="96202" cy="98107"/>
            </a:xfrm>
            <a:custGeom>
              <a:rect b="b" l="l" r="r" t="t"/>
              <a:pathLst>
                <a:path extrusionOk="0" h="98107" w="96202">
                  <a:moveTo>
                    <a:pt x="48101" y="0"/>
                  </a:moveTo>
                  <a:cubicBezTo>
                    <a:pt x="84582" y="0"/>
                    <a:pt x="96202" y="13716"/>
                    <a:pt x="96202" y="49054"/>
                  </a:cubicBezTo>
                  <a:cubicBezTo>
                    <a:pt x="96202" y="84392"/>
                    <a:pt x="84582" y="98108"/>
                    <a:pt x="48101" y="98108"/>
                  </a:cubicBezTo>
                  <a:cubicBezTo>
                    <a:pt x="11621" y="98108"/>
                    <a:pt x="0" y="84582"/>
                    <a:pt x="0" y="49054"/>
                  </a:cubicBezTo>
                  <a:cubicBezTo>
                    <a:pt x="0" y="13526"/>
                    <a:pt x="11906" y="0"/>
                    <a:pt x="48101" y="0"/>
                  </a:cubicBezTo>
                  <a:close/>
                  <a:moveTo>
                    <a:pt x="48101" y="77534"/>
                  </a:moveTo>
                  <a:cubicBezTo>
                    <a:pt x="72200" y="77534"/>
                    <a:pt x="75533" y="74200"/>
                    <a:pt x="75533" y="49054"/>
                  </a:cubicBezTo>
                  <a:cubicBezTo>
                    <a:pt x="75533" y="23908"/>
                    <a:pt x="72104" y="20574"/>
                    <a:pt x="48101" y="20574"/>
                  </a:cubicBezTo>
                  <a:cubicBezTo>
                    <a:pt x="24098" y="20574"/>
                    <a:pt x="20669" y="24098"/>
                    <a:pt x="20669" y="49054"/>
                  </a:cubicBezTo>
                  <a:cubicBezTo>
                    <a:pt x="20669" y="74009"/>
                    <a:pt x="24098" y="77534"/>
                    <a:pt x="48101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g34fc5f99509_2_26"/>
            <p:cNvSpPr/>
            <p:nvPr/>
          </p:nvSpPr>
          <p:spPr>
            <a:xfrm>
              <a:off x="8325612" y="4674865"/>
              <a:ext cx="90677" cy="96297"/>
            </a:xfrm>
            <a:custGeom>
              <a:rect b="b" l="l" r="r" t="t"/>
              <a:pathLst>
                <a:path extrusionOk="0" h="96297" w="90677">
                  <a:moveTo>
                    <a:pt x="70009" y="0"/>
                  </a:moveTo>
                  <a:lnTo>
                    <a:pt x="90678" y="0"/>
                  </a:lnTo>
                  <a:lnTo>
                    <a:pt x="90678" y="51149"/>
                  </a:lnTo>
                  <a:cubicBezTo>
                    <a:pt x="90678" y="84773"/>
                    <a:pt x="78962" y="96298"/>
                    <a:pt x="45244" y="96298"/>
                  </a:cubicBezTo>
                  <a:cubicBezTo>
                    <a:pt x="11525" y="96298"/>
                    <a:pt x="0" y="84773"/>
                    <a:pt x="0" y="51149"/>
                  </a:cubicBezTo>
                  <a:lnTo>
                    <a:pt x="0" y="0"/>
                  </a:lnTo>
                  <a:lnTo>
                    <a:pt x="20669" y="0"/>
                  </a:lnTo>
                  <a:lnTo>
                    <a:pt x="20669" y="51149"/>
                  </a:lnTo>
                  <a:cubicBezTo>
                    <a:pt x="20669" y="73343"/>
                    <a:pt x="22955" y="75724"/>
                    <a:pt x="45244" y="75724"/>
                  </a:cubicBezTo>
                  <a:cubicBezTo>
                    <a:pt x="67532" y="75724"/>
                    <a:pt x="70009" y="73438"/>
                    <a:pt x="70009" y="51149"/>
                  </a:cubicBezTo>
                  <a:lnTo>
                    <a:pt x="7000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g34fc5f99509_2_26"/>
            <p:cNvSpPr/>
            <p:nvPr/>
          </p:nvSpPr>
          <p:spPr>
            <a:xfrm>
              <a:off x="8431434" y="4673055"/>
              <a:ext cx="94487" cy="130778"/>
            </a:xfrm>
            <a:custGeom>
              <a:rect b="b" l="l" r="r" t="t"/>
              <a:pathLst>
                <a:path extrusionOk="0" h="130778" w="94487">
                  <a:moveTo>
                    <a:pt x="47244" y="0"/>
                  </a:moveTo>
                  <a:cubicBezTo>
                    <a:pt x="83058" y="0"/>
                    <a:pt x="94488" y="12954"/>
                    <a:pt x="94488" y="49054"/>
                  </a:cubicBezTo>
                  <a:cubicBezTo>
                    <a:pt x="94488" y="85154"/>
                    <a:pt x="83058" y="98108"/>
                    <a:pt x="47244" y="98108"/>
                  </a:cubicBezTo>
                  <a:cubicBezTo>
                    <a:pt x="36195" y="98108"/>
                    <a:pt x="27432" y="96869"/>
                    <a:pt x="20669" y="94012"/>
                  </a:cubicBezTo>
                  <a:lnTo>
                    <a:pt x="20669" y="130778"/>
                  </a:lnTo>
                  <a:lnTo>
                    <a:pt x="0" y="130778"/>
                  </a:lnTo>
                  <a:lnTo>
                    <a:pt x="0" y="49054"/>
                  </a:lnTo>
                  <a:cubicBezTo>
                    <a:pt x="0" y="12954"/>
                    <a:pt x="11621" y="0"/>
                    <a:pt x="47244" y="0"/>
                  </a:cubicBezTo>
                  <a:close/>
                  <a:moveTo>
                    <a:pt x="47244" y="77534"/>
                  </a:moveTo>
                  <a:cubicBezTo>
                    <a:pt x="70580" y="77534"/>
                    <a:pt x="73819" y="74867"/>
                    <a:pt x="73819" y="49054"/>
                  </a:cubicBezTo>
                  <a:cubicBezTo>
                    <a:pt x="73819" y="23241"/>
                    <a:pt x="70580" y="20574"/>
                    <a:pt x="47244" y="20574"/>
                  </a:cubicBezTo>
                  <a:cubicBezTo>
                    <a:pt x="23908" y="20574"/>
                    <a:pt x="20669" y="23241"/>
                    <a:pt x="20669" y="49054"/>
                  </a:cubicBezTo>
                  <a:cubicBezTo>
                    <a:pt x="20669" y="74867"/>
                    <a:pt x="24098" y="77534"/>
                    <a:pt x="47244" y="7753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Фоны">
  <a:themeElements>
    <a:clrScheme name="SG_pptx">
      <a:dk1>
        <a:srgbClr val="1E1E1E"/>
      </a:dk1>
      <a:lt1>
        <a:srgbClr val="FFFFFF"/>
      </a:lt1>
      <a:dk2>
        <a:srgbClr val="1C3341"/>
      </a:dk2>
      <a:lt2>
        <a:srgbClr val="013D85"/>
      </a:lt2>
      <a:accent1>
        <a:srgbClr val="28AB6A"/>
      </a:accent1>
      <a:accent2>
        <a:srgbClr val="D4D8E4"/>
      </a:accent2>
      <a:accent3>
        <a:srgbClr val="A7B6BD"/>
      </a:accent3>
      <a:accent4>
        <a:srgbClr val="FBBB05"/>
      </a:accent4>
      <a:accent5>
        <a:srgbClr val="4384F4"/>
      </a:accent5>
      <a:accent6>
        <a:srgbClr val="E94235"/>
      </a:accent6>
      <a:hlink>
        <a:srgbClr val="FFFFFF"/>
      </a:hlink>
      <a:folHlink>
        <a:srgbClr val="A7B6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Пользователь</dc:creator>
</cp:coreProperties>
</file>