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70" r:id="rId4"/>
  </p:sldMasterIdLst>
  <p:notesMasterIdLst>
    <p:notesMasterId r:id="rId5"/>
  </p:notesMasterIdLst>
  <p:sldIdLst>
    <p:sldId id="256" r:id="rId6"/>
    <p:sldId id="268" r:id="rId16"/>
    <p:sldId id="269" r:id="rId15"/>
    <p:sldId id="270" r:id="rId14"/>
    <p:sldId id="271" r:id="rId13"/>
    <p:sldId id="272" r:id="rId12"/>
    <p:sldId id="273" r:id="rId11"/>
    <p:sldId id="274" r:id="rId10"/>
    <p:sldId id="275" r:id="rId9"/>
    <p:sldId id="276" r:id="rId8"/>
    <p:sldId id="267" r:id="rId17"/>
  </p:sldIdLst>
  <p:sldSz cy="5143500" cx="9144000"/>
  <p:notesSz cx="6858000" cy="9144000"/>
  <p:embeddedFontLst>
    <p:embeddedFont>
      <p:font typeface="Golos Text"/>
      <p:regular r:id="rId18"/>
      <p:bold r:id="rId19"/>
    </p:embeddedFont>
    <p:embeddedFont>
      <p:font typeface="IBM Plex Sans"/>
      <p:regular r:id="rId20"/>
      <p:bold r:id="rId21"/>
      <p:italic r:id="rId22"/>
      <p:boldItalic r:id="rId23"/>
    </p:embeddedFont>
    <p:embeddedFont>
      <p:font typeface="Golos Text Medium"/>
      <p:regular r:id="rId24"/>
      <p:bold r:id="rId25"/>
    </p:embeddedFont>
    <p:embeddedFont>
      <p:font typeface="Montserrat"/>
      <p:regular r:id="rId26"/>
      <p:bold r:id="rId27"/>
      <p:italic r:id="rId28"/>
      <p:boldItalic r:id="rId29"/>
    </p:embeddedFont>
    <p:embeddedFont>
      <p:font typeface="JetBrains Mono"/>
      <p:regular r:id="rId30"/>
      <p:bold r:id="rId31"/>
      <p:italic r:id="rId32"/>
      <p:boldItalic r:id="rId33"/>
    </p:embeddedFont>
    <p:embeddedFont>
      <p:font typeface="Golos Text SemiBold"/>
      <p:regular r:id="rId34"/>
      <p:bold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6" roundtripDataSignature="AMtx7mjiC108pgRb5se202Y13m7UAO+V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5.xml"/><Relationship Id="rId15" Type="http://schemas.openxmlformats.org/officeDocument/2006/relationships/slide" Target="slides/slide4.xml"/><Relationship Id="rId16" Type="http://schemas.openxmlformats.org/officeDocument/2006/relationships/slide" Target="slides/slide3.xml"/><Relationship Id="rId17" Type="http://schemas.openxmlformats.org/officeDocument/2006/relationships/slide" Target="slides/slide90.xml"/><Relationship Id="rId18" Type="http://schemas.openxmlformats.org/officeDocument/2006/relationships/font" Target="fonts/GolosText-regular.fntdata"/><Relationship Id="rId19" Type="http://schemas.openxmlformats.org/officeDocument/2006/relationships/font" Target="fonts/GolosText-bold.fntdata"/><Relationship Id="rId20" Type="http://schemas.openxmlformats.org/officeDocument/2006/relationships/font" Target="fonts/IBMPlexSans-regular.fntdata"/><Relationship Id="rId21" Type="http://schemas.openxmlformats.org/officeDocument/2006/relationships/font" Target="fonts/IBMPlexSans-bold.fntdata"/><Relationship Id="rId22" Type="http://schemas.openxmlformats.org/officeDocument/2006/relationships/font" Target="fonts/IBMPlexSans-italic.fntdata"/><Relationship Id="rId23" Type="http://schemas.openxmlformats.org/officeDocument/2006/relationships/font" Target="fonts/IBMPlexSans-boldItalic.fntdata"/><Relationship Id="rId24" Type="http://schemas.openxmlformats.org/officeDocument/2006/relationships/font" Target="fonts/GolosTextMedium-regular.fntdata"/><Relationship Id="rId25" Type="http://schemas.openxmlformats.org/officeDocument/2006/relationships/font" Target="fonts/GolosTextMedium-bold.fntdata"/><Relationship Id="rId26" Type="http://schemas.openxmlformats.org/officeDocument/2006/relationships/font" Target="fonts/Montserrat-regular.fntdata"/><Relationship Id="rId27" Type="http://schemas.openxmlformats.org/officeDocument/2006/relationships/font" Target="fonts/Montserrat-bold.fntdata"/><Relationship Id="rId28" Type="http://schemas.openxmlformats.org/officeDocument/2006/relationships/font" Target="fonts/Montserrat-italic.fntdata"/><Relationship Id="rId29" Type="http://schemas.openxmlformats.org/officeDocument/2006/relationships/font" Target="fonts/Montserrat-boldItalic.fntdata"/><Relationship Id="rId30" Type="http://schemas.openxmlformats.org/officeDocument/2006/relationships/font" Target="fonts/JetBrainsMono-regular.fntdata"/><Relationship Id="rId31" Type="http://schemas.openxmlformats.org/officeDocument/2006/relationships/font" Target="fonts/JetBrainsMono-bold.fntdata"/><Relationship Id="rId32" Type="http://schemas.openxmlformats.org/officeDocument/2006/relationships/font" Target="fonts/JetBrainsMono-italic.fntdata"/><Relationship Id="rId33" Type="http://schemas.openxmlformats.org/officeDocument/2006/relationships/font" Target="fonts/JetBrainsMono-boldItalic.fntdata"/><Relationship Id="rId34" Type="http://schemas.openxmlformats.org/officeDocument/2006/relationships/font" Target="fonts/GolosTextSemiBold-regular.fntdata"/><Relationship Id="rId35" Type="http://schemas.openxmlformats.org/officeDocument/2006/relationships/font" Target="fonts/GolosTextSemiBold-bold.fntdata"/><Relationship Id="rId36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1bf351e6d1_0_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1bf351e6d1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4fc5f99509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34fc5f99509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g31b4f510750_5_3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g31b4f510750_5_358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9" name="Google Shape;9;g31b4f510750_5_358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10" name="Google Shape;10;g31b4f510750_5_358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" name="Google Shape;11;g31b4f510750_5_358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g31b4f510750_5_358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g31b4f510750_5_358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g31b4f510750_5_358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g31b4f510750_5_358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g31b4f510750_5_358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g31b4f510750_5_358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g31b4f510750_5_358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g31b4f510750_5_358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g31b4f510750_5_358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g31b4f510750_5_358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Слайд ТЕМНО СЕРЫЙ ФОН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1d6e50d44b_1_3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">
    <p:bg>
      <p:bgPr>
        <a:solidFill>
          <a:schemeClr val="lt1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oogle Shape;25;g31b4f510750_5_374"/>
          <p:cNvGrpSpPr/>
          <p:nvPr/>
        </p:nvGrpSpPr>
        <p:grpSpPr>
          <a:xfrm>
            <a:off x="7487097" y="394835"/>
            <a:ext cx="1191767" cy="179211"/>
            <a:chOff x="7419975" y="4637527"/>
            <a:chExt cx="1105946" cy="166306"/>
          </a:xfrm>
        </p:grpSpPr>
        <p:sp>
          <p:nvSpPr>
            <p:cNvPr id="26" name="Google Shape;26;g31b4f510750_5_374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g31b4f510750_5_374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g31b4f510750_5_374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g31b4f510750_5_374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g31b4f510750_5_374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g31b4f510750_5_374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g31b4f510750_5_374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g31b4f510750_5_374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g31b4f510750_5_374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g31b4f510750_5_374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g31b4f510750_5_374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" name="Google Shape;37;g31b4f510750_5_374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38" name="Google Shape;38;g31b4f510750_5_374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1b4f510750_5_357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41" name="Google Shape;41;g31b4f510750_5_357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1b4f510750_5_3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g31b4f510750_5_360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45" name="Google Shape;45;g31b4f510750_5_360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46" name="Google Shape;46;g31b4f510750_5_360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g31b4f510750_5_360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g31b4f510750_5_360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g31b4f510750_5_360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g31b4f510750_5_360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g31b4f510750_5_360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g31b4f510750_5_360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g31b4f510750_5_360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g31b4f510750_5_360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g31b4f510750_5_360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g31b4f510750_5_360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" name="Google Shape;57;g31b4f510750_5_360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1b4f510750_5_3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0" name="Google Shape;60;g31b4f510750_5_3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g31b4f510750_5_3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1b4f510750_5_3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g31b4f510750_5_3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1b4f510750_5_3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1b4f510750_5_3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9" name="Google Shape;69;g31b4f510750_5_3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1b4f510750_5_37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g31b4f510750_5_37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g31b4f510750_5_37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" name="Google Shape;74;g31b4f510750_5_37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 1">
  <p:cSld name="Один столбец_белый 1">
    <p:bg>
      <p:bgPr>
        <a:solidFill>
          <a:srgbClr val="6C85DB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1b4f510750_5_380"/>
          <p:cNvSpPr txBox="1"/>
          <p:nvPr>
            <p:ph type="title"/>
          </p:nvPr>
        </p:nvSpPr>
        <p:spPr>
          <a:xfrm>
            <a:off x="180000" y="180000"/>
            <a:ext cx="3990600" cy="15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g31b4f510750_5_380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g31b4f510750_5_380"/>
          <p:cNvSpPr txBox="1"/>
          <p:nvPr>
            <p:ph idx="1" type="body"/>
          </p:nvPr>
        </p:nvSpPr>
        <p:spPr>
          <a:xfrm>
            <a:off x="4369500" y="180000"/>
            <a:ext cx="4594500" cy="46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 type="title">
  <p:cSld name="TITLE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1b4f510750_5_38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1" name="Google Shape;81;g31b4f510750_5_38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g31b4f510750_5_38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">
  <p:cSld name="Title and Content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1b4f510750_5_388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g31b4f510750_5_388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1">
  <p:cSld name="Title and Content_2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1b4f510750_5_391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g31b4f510750_5_391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9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2">
  <p:cSld name="Заголовок и контент 2">
    <p:bg>
      <p:bgPr>
        <a:solidFill>
          <a:schemeClr val="lt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1b4f510750_5_394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g31b4f510750_5_394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2" name="Google Shape;92;g31b4f510750_5_394"/>
          <p:cNvSpPr txBox="1"/>
          <p:nvPr>
            <p:ph idx="12" type="sldNum"/>
          </p:nvPr>
        </p:nvSpPr>
        <p:spPr>
          <a:xfrm>
            <a:off x="8556784" y="4749851"/>
            <a:ext cx="548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">
  <p:cSld name="Заголовок и контент"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1b4f510750_5_398"/>
          <p:cNvSpPr txBox="1"/>
          <p:nvPr>
            <p:ph type="title"/>
          </p:nvPr>
        </p:nvSpPr>
        <p:spPr>
          <a:xfrm>
            <a:off x="327479" y="327456"/>
            <a:ext cx="486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g31b4f510750_5_398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6" name="Google Shape;96;g31b4f510750_5_398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 1">
  <p:cSld name="Заголовок и контент 3"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b4f510750_5_402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9" name="Google Shape;99;g31b4f510750_5_402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графит">
  <p:cSld name="ONE_COLUMN_TEXT_1">
    <p:bg>
      <p:bgPr>
        <a:solidFill>
          <a:srgbClr val="1E1E1E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1b4f510750_5_405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2" name="Google Shape;102;g31b4f510750_5_405"/>
          <p:cNvSpPr txBox="1"/>
          <p:nvPr>
            <p:ph type="title"/>
          </p:nvPr>
        </p:nvSpPr>
        <p:spPr>
          <a:xfrm>
            <a:off x="180000" y="180000"/>
            <a:ext cx="39906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3" name="Google Shape;103;g31b4f510750_5_405"/>
          <p:cNvSpPr txBox="1"/>
          <p:nvPr>
            <p:ph idx="1" type="body"/>
          </p:nvPr>
        </p:nvSpPr>
        <p:spPr>
          <a:xfrm>
            <a:off x="180000" y="1883600"/>
            <a:ext cx="4594500" cy="26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4" name="Google Shape;104;g31b4f510750_5_40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80000" y="4682460"/>
            <a:ext cx="713135" cy="3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g31b4f510750_5_40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">
  <p:cSld name="Один столбец_белый">
    <p:bg>
      <p:bgPr>
        <a:solidFill>
          <a:schemeClr val="lt1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1b4f510750_5_411"/>
          <p:cNvSpPr txBox="1"/>
          <p:nvPr>
            <p:ph type="title"/>
          </p:nvPr>
        </p:nvSpPr>
        <p:spPr>
          <a:xfrm>
            <a:off x="312125" y="180000"/>
            <a:ext cx="41178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bg>
      <p:bgPr>
        <a:solidFill>
          <a:schemeClr val="lt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1b4f510750_5_413"/>
          <p:cNvSpPr txBox="1"/>
          <p:nvPr>
            <p:ph type="title"/>
          </p:nvPr>
        </p:nvSpPr>
        <p:spPr>
          <a:xfrm>
            <a:off x="630785" y="441132"/>
            <a:ext cx="78825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1b4f510750_2_431"/>
          <p:cNvSpPr txBox="1"/>
          <p:nvPr>
            <p:ph type="title"/>
          </p:nvPr>
        </p:nvSpPr>
        <p:spPr>
          <a:xfrm>
            <a:off x="684682" y="308559"/>
            <a:ext cx="3743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800" u="none" cap="none" strike="noStrike">
                <a:solidFill>
                  <a:srgbClr val="23A8DE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g31b4f510750_2_431"/>
          <p:cNvSpPr txBox="1"/>
          <p:nvPr/>
        </p:nvSpPr>
        <p:spPr>
          <a:xfrm>
            <a:off x="375200" y="4823550"/>
            <a:ext cx="3458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Strictly Confidential. Copyright Reserved to Sergek Projects Ltd 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g31b4f510750_2_431"/>
          <p:cNvSpPr txBox="1"/>
          <p:nvPr>
            <p:ph idx="12" type="sldNum"/>
          </p:nvPr>
        </p:nvSpPr>
        <p:spPr>
          <a:xfrm>
            <a:off x="8677835" y="4889749"/>
            <a:ext cx="15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1bf351e6d1_0_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1bf351e6d1_0_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1bf351e6d1_0_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2" name="Google Shape;122;g31bf351e6d1_0_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g31bf351e6d1_0_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1bf351e6d1_0_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g31bf351e6d1_0_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1bf351e6d1_0_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1bf351e6d1_0_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g31bf351e6d1_0_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g31bf351e6d1_0_37"/>
          <p:cNvGrpSpPr/>
          <p:nvPr/>
        </p:nvGrpSpPr>
        <p:grpSpPr>
          <a:xfrm>
            <a:off x="486285" y="590175"/>
            <a:ext cx="2398023" cy="360601"/>
            <a:chOff x="7419975" y="4637527"/>
            <a:chExt cx="1105946" cy="166306"/>
          </a:xfrm>
        </p:grpSpPr>
        <p:sp>
          <p:nvSpPr>
            <p:cNvPr id="137" name="Google Shape;137;g31bf351e6d1_0_37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g31bf351e6d1_0_37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g31bf351e6d1_0_37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g31bf351e6d1_0_37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g31bf351e6d1_0_37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g31bf351e6d1_0_37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g31bf351e6d1_0_37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g31bf351e6d1_0_37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g31bf351e6d1_0_37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g31bf351e6d1_0_37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g31bf351e6d1_0_37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8" name="Google Shape;148;g31bf351e6d1_0_37"/>
          <p:cNvSpPr txBox="1"/>
          <p:nvPr/>
        </p:nvSpPr>
        <p:spPr>
          <a:xfrm>
            <a:off x="373227" y="3420000"/>
            <a:ext cx="300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000" b="0">
                <a:solidFill>
                  <a:srgbClr val="A7B6BD"/>
                </a:solidFill>
                <a:latin typeface="Golos Text"/>
              </a:rPr>
              <a:t>Сентябрь 2026</a:t>
            </a:r>
            <a:endParaRPr b="0" i="0" sz="10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49" name="Google Shape;149;g31bf351e6d1_0_37"/>
          <p:cNvSpPr txBox="1"/>
          <p:nvPr/>
        </p:nvSpPr>
        <p:spPr>
          <a:xfrm>
            <a:off x="373227" y="1320000"/>
            <a:ext cx="41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500" b="0">
                <a:solidFill>
                  <a:srgbClr val="FFFFFF"/>
                </a:solidFill>
                <a:latin typeface="Golos Text SemiBold"/>
              </a:rPr>
              <a:t>Приоритеты реинжиниринга</a:t>
            </a:r>
            <a:endParaRPr b="0" i="0" sz="2400" u="none" cap="none" strike="noStrike">
              <a:solidFill>
                <a:schemeClr val="lt1"/>
              </a:solidFill>
              <a:latin typeface="Golos Text Medium"/>
              <a:ea typeface="Golos Text Medium"/>
              <a:cs typeface="Golos Text Medium"/>
              <a:sym typeface="Golos Text Medium"/>
            </a:endParaRPr>
          </a:p>
        </p:txBody>
      </p:sp>
      <p:pic>
        <p:nvPicPr>
          <p:cNvPr id="150" name="Google Shape;150;g31bf351e6d1_0_37"/>
          <p:cNvPicPr preferRelativeResize="0"/>
          <p:nvPr/>
        </p:nvPicPr>
        <p:blipFill rotWithShape="1">
          <a:blip r:embed="rId3">
            <a:alphaModFix/>
          </a:blip>
          <a:srcRect b="0" l="44680" r="6316" t="0"/>
          <a:stretch/>
        </p:blipFill>
        <p:spPr>
          <a:xfrm rot="5400000">
            <a:off x="4094185" y="266040"/>
            <a:ext cx="5143504" cy="461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ectangle 150"/>
          <p:cNvSpPr/>
          <p:nvPr/>
        </p:nvSpPr>
        <p:spPr>
          <a:xfrm>
            <a:off x="433227" y="2440000"/>
            <a:ext cx="620000" cy="30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52" name="TextBox 151"/>
          <p:cNvSpPr txBox="1"/>
          <p:nvPr/>
        </p:nvSpPr>
        <p:spPr>
          <a:xfrm>
            <a:off x="433227" y="2600000"/>
            <a:ext cx="41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28AB6A"/>
                </a:solidFill>
                <a:latin typeface="Golos Text Medium"/>
              </a:rPr>
              <a:t>С чего начинаем и почему именно с этого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33227" y="2990000"/>
            <a:ext cx="4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D4D8E4"/>
                </a:solidFill>
                <a:latin typeface="Golos Text"/>
              </a:rPr>
              <a:t>Департамент управления проектами · ТОО «Көркем Телеком»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Очередь реинжиниринга построена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7125" y="920000"/>
            <a:ext cx="8349750" cy="70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Первыми берём не самые выгодные процессы, а те, что разблокируют остальные.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Владелец закреплён у каждого объекта. Пока решение не доведено до приказа и не снят замер «до», выгоду от оптимизации нечем доказать.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TextBox 4"/>
          <p:cNvSpPr txBox="1"/>
          <p:nvPr/>
        </p:nvSpPr>
        <p:spPr>
          <a:xfrm>
            <a:off x="557125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125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объектов реестра оценены и поставлены в очередь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4562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2684562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E94235"/>
                </a:solidFill>
                <a:latin typeface="Golos Text SemiBold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4562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решения о владении ждут приказа — они держат очередь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51999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4811999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1999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быстрых побед: высокая ценность, лёгкая реализация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79436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939436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013D85"/>
                </a:solidFill>
                <a:latin typeface="Golos Text SemiBold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9436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первых шагов — без бюджета и ИТ-разработки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37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125" y="38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Источник: реестр из 62 процессов, подпроцессов и этапов; оценка по 5 критериям на основании Методики KT_METHOD v1.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Пять критериев оценки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Балл по каждому от 1 до 5, умножается на вес, приводится к шкале 0–100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210000"/>
            <a:ext cx="250492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Критерий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2050" y="1210000"/>
            <a:ext cx="83497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Вес</a:t>
            </a:r>
          </a:p>
        </p:txBody>
      </p:sp>
      <p:sp>
        <p:nvSpPr>
          <p:cNvPr id="6" name="Rectangle 5"/>
          <p:cNvSpPr/>
          <p:nvPr/>
        </p:nvSpPr>
        <p:spPr>
          <a:xfrm>
            <a:off x="3737025" y="1210000"/>
            <a:ext cx="50098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На какой вопрос отвечает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80000"/>
            <a:ext cx="250492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Влияние на результат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2050" y="1580000"/>
            <a:ext cx="83497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3737025" y="1580000"/>
            <a:ext cx="50098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Насколько объект определяет срок запуска и доходность проекта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950000"/>
            <a:ext cx="250492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времени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02050" y="1950000"/>
            <a:ext cx="83497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37025" y="1950000"/>
            <a:ext cx="50098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времени цикла высвобождается после вмешательства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2320000"/>
            <a:ext cx="250492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денег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2050" y="2320000"/>
            <a:ext cx="83497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7025" y="2320000"/>
            <a:ext cx="50098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Какой прямой денежный эффект даёт вмешательство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690000"/>
            <a:ext cx="250492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Риск бездействия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02050" y="2690000"/>
            <a:ext cx="83497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7025" y="2690000"/>
            <a:ext cx="50098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Что произойдёт, если объект не трогать в этом году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060000"/>
            <a:ext cx="250492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Лёгкость реализации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2050" y="3060000"/>
            <a:ext cx="83497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37025" y="3060000"/>
            <a:ext cx="50098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усилий и согласий требует вмешательство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125" y="3690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Вес отражает управленческий приоритет: то, что даёт результат, стоит дороже того, что даёт удобство.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Объекта на 100 баллов в реестре нет — шкала нужна для сравнения объектов между собой, а не для абсолютной оценки.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очередь не совпадает с рейтингом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Пять правил очерёдности, каждое опирается на пункт Методики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1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1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Владение раньше метрик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8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Спрашивать за результат можно только с той должности, которая есть — п.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7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7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7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Базовая линия раньше улучшений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204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Без замера «до» эффект будет предметом спора, а не расчёта — п. 176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3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4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4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Узкое место раньше соседних шагов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70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Пока шаг-ограничитель на месте, остальные ускорения не дают срока — п. 140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30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31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31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Своё раньше общего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36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Требовать норматив у смежника убедительнее, когда исполняешь свой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6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7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7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Автоматизация после регламента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402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Автоматизировать неисполняемый процесс — закрепить беспорядок в коде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Четыре волны работ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задаёт зависимости, балл — порядок внутри волны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13D85"/>
                </a:solidFill>
                <a:latin typeface="Golos Text SemiBold"/>
              </a:rPr>
              <a:t>Закрепление владения и базовая линия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Довести решения о владении до приказа и снять базовую линию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7 объектов  ·  Фазы 0–1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9562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9562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28AB6A"/>
                </a:solidFill>
                <a:latin typeface="Golos Text SemiBold"/>
              </a:rPr>
              <a:t>Быстрые победы внутри ДУП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Восстановить исполнение там, где ДУП решает в одиночку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9562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20 объектов  ·  Фаза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41999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41999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A87300"/>
                </a:solidFill>
                <a:latin typeface="Golos Text SemiBold"/>
              </a:rPr>
              <a:t>Стыки с ЦО и закрытие пробелов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Договориться о стыках и спроектировать то, чего нет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41999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23 объектов  ·  Фаза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4436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4436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4384F4"/>
                </a:solidFill>
                <a:latin typeface="Golos Text SemiBold"/>
              </a:rPr>
              <a:t>Масштаб, экономика и автоматизация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Пересмотреть экономику и закрепить результат в системах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4436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8 объектов  ·  Фаза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319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Отдельно: 3 объекта вне очереди — исполняются другим подразделением целиком, срок контролируется через SLA по родительскому объекту.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125" y="349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7125" y="352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Из чего состоит волна 1: 7 объектов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7125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E94235"/>
                </a:solidFill>
                <a:latin typeface="Golos Text SemiBold"/>
              </a:rPr>
              <a:t>4</a:t>
            </a:r>
            <a:r>
              <a:rPr sz="1000">
                <a:solidFill>
                  <a:srgbClr val="E94235"/>
                </a:solidFill>
                <a:latin typeface="Golos Text SemiBold"/>
              </a:rPr>
              <a:t>   доводим владение до приказа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Чек-лист передачи между блоками 1 и 2, разделение заместителей, полномочия ПМО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27041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2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снимаем базовую линию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Пилотный аудит одного филиала и регулярный контроль качества данных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56957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1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нормируем срок стыка с ЦО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Решения волны вступают в силу в день приказа HR — нужен норматив срока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Ценность и лёгкость реализации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Ценность — четыре критерия без учёта лёгкости; граница высокой ценности — 60 из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77125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лёгкая (4–5 из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92000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тяжёлая (1–3 из 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141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высокая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77125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28AB6A"/>
                </a:solidFill>
                <a:latin typeface="Golos Text SemiBold"/>
              </a:rPr>
              <a:t>10</a:t>
            </a:r>
            <a:r>
              <a:rPr sz="1150">
                <a:solidFill>
                  <a:srgbClr val="28AB6A"/>
                </a:solidFill>
                <a:latin typeface="Golos Text SemiBold"/>
              </a:rPr>
              <a:t>   Быстрые победы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Берём первыми: результат виден до того, как закончатся переговоры со смежниками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92000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013D85"/>
                </a:solidFill>
                <a:latin typeface="Golos Text SemiBold"/>
              </a:rPr>
              <a:t>21</a:t>
            </a:r>
            <a:r>
              <a:rPr sz="1150">
                <a:solidFill>
                  <a:srgbClr val="013D85"/>
                </a:solidFill>
                <a:latin typeface="Golos Text SemiBold"/>
              </a:rPr>
              <a:t>   Крупные проекты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Планируем как проект с ресурсом и сроком: SLA со смежниками, новые регламенты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125" y="290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умеренная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77125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384F4"/>
                </a:solidFill>
                <a:latin typeface="Golos Text SemiBold"/>
              </a:rPr>
              <a:t>15</a:t>
            </a:r>
            <a:r>
              <a:rPr sz="1150">
                <a:solidFill>
                  <a:srgbClr val="4384F4"/>
                </a:solidFill>
                <a:latin typeface="Golos Text SemiBold"/>
              </a:rPr>
              <a:t>   Заполнители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Делаем попутно, когда освобождается ресурс; в отдельную инициативу не выносим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92000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44746"/>
                </a:solidFill>
                <a:latin typeface="Golos Text SemiBold"/>
              </a:rPr>
              <a:t>15</a:t>
            </a:r>
            <a:r>
              <a:rPr sz="1150">
                <a:solidFill>
                  <a:srgbClr val="444746"/>
                </a:solidFill>
                <a:latin typeface="Golos Text SemiBold"/>
              </a:rPr>
              <a:t>   Отложить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 работу не берём, пока не изменятся исходные данные или не появится бюджет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Начало очереди: первые десять объектов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1 целиком — закрепление владения и базовая линия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50098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98110" y="1110000"/>
            <a:ext cx="83497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3085" y="1110000"/>
            <a:ext cx="40078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740965" y="1110000"/>
            <a:ext cx="6679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8945" y="1110000"/>
            <a:ext cx="233793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392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8110" y="1392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3085" y="1392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Передача проекта «реализация → сопровождение»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40965" y="1392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8945" y="1392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Проектирование TO-BE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1674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8110" y="1674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3085" y="1674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Реализация проекта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0965" y="1674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8945" y="1674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Закрепление владения приказом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1956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8110" y="1956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1956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Постпроектное сопровождение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40965" y="1956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8945" y="1956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Закрепление владения приказом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238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10" y="2238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3085" y="2238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Методология и контроль качества (ПМО)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40965" y="2238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8945" y="2238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Закрепление владения приказом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125" y="2520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8110" y="2520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4.2.1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3085" y="2520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Аудит проектной документации по чек-листам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40965" y="2520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8945" y="2520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Базовая линия и замер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802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8110" y="2802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3085" y="2802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Оформление штата и кадровых приказов по проекту и…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40965" y="2802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8945" y="2802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SLA на стык с ЦО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7125" y="3084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8110" y="3084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084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Контроль качества и полноты проектных данных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40965" y="3084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8945" y="3084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Базовая линия и замер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366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8110" y="3366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33085" y="3366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40965" y="3366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8945" y="3366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3648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8110" y="3648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085" y="3648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ТЗ, адресная…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40965" y="3648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8945" y="3648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7125" y="3930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8110" y="3930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3085" y="3930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Формирование реестра платежей и приоритизация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40965" y="3930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8945" y="3930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Самые ценные объекты идут не первыми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И это осознанное решение, а не недосмотр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6679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5105" y="1110000"/>
            <a:ext cx="83497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0080" y="1110000"/>
            <a:ext cx="40078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07960" y="1110000"/>
            <a:ext cx="283891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Когда берём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5105" y="14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0080" y="14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07960" y="14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7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105" y="17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0080" y="17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7960" y="17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0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105" y="20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0080" y="20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07960" y="20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3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5105" y="23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00080" y="23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Инициация и контроль закупок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960" y="23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6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105" y="26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Б.4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0080" y="26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Закупки выше упрощённого порога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07960" y="26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9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105" y="29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00080" y="29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Подтверждение готовности продукта (пилот)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07960" y="29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125" y="3510000"/>
            <a:ext cx="8349750" cy="62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Это вход проекта: приём пакета от ДРБ, приоритизация платежей, закупки и готовность продукта.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Они ждут волн 2 и 3: сначала приказы и замер, иначе эффект будет не доказан, а объявлен.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Программа старта: пять первых действий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Шаги 1–5 доводят владение до приказа и снимают базовую линию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8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Пилотный аудит одного филиала по трём чек-листам методологии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4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Отчёт аудита и зафиксированная базовая линия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6875" y="108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Главный менеджер проектов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6875" y="143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0  ·  4.2.1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6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7125" y="17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125" y="170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Чек-лист передачи «реализация → сопровождение»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125" y="196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Чек-лист передачи и обязательная дата handover в карточке проекта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6875" y="17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строительству и реализации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6875" y="205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2.0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2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3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32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Приказ о разделении заместителей и матрица RACI 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258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Приказ, целевая оргсхема и RACI v2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6875" y="232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6875" y="267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1, 2, 2.0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125" y="28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97125" y="29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125" y="294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Приказ о полномочиях процессного офиса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125" y="320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Приказ о полномочиях ПМО и должностная инструкция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6875" y="294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6875" y="329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4, 4.1, 4.2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7125" y="34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7125" y="35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125" y="356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Норматив срока оформления кадровых приказов с HR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125" y="382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Соглашение с HR о сроке оформления приказов по филиалу и проекту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6875" y="35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6875" y="391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Б.9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125" y="4230000"/>
            <a:ext cx="834975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Шаги 6–11 — восстановление исполнения внутри ДУП: матрица кураторов, приёмка пакета от ДРБ, платежи, статус-встречи, прогноз, переносы оборудования.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требуется от руководства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Решения, без которых очередь не двигается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Приказ о разделении заместителей и матрица RACI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2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Приказ, целевая оргсхема и RACI v2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6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Приказ о полномочиях процессного офиса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188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Приказ о полномочиях ПМО и должностная инструкция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1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1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1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Норматив срока оформления кадровых приказов с HR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44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Соглашение с HR о сроке оформления приказов по филиалу и проекту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6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7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7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Утверждение матрицы «филиал → куратор»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00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Утверждённая приказом матрица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2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3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3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Чек-лист минимального пакета от ДРБ и письмо о сроке передачи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356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Чек-лист приёмки и письмо в ДРБ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125" y="3910000"/>
            <a:ext cx="8349750" cy="4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Ни одно из решений не требует бюджета, ИТ-разработки и согласия смежных блоков.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g34fc5f99509_2_26"/>
          <p:cNvPicPr preferRelativeResize="0"/>
          <p:nvPr/>
        </p:nvPicPr>
        <p:blipFill rotWithShape="1">
          <a:blip r:embed="rId3">
            <a:alphaModFix/>
          </a:blip>
          <a:srcRect b="0" l="0" r="0" t="15626"/>
          <a:stretch/>
        </p:blipFill>
        <p:spPr>
          <a:xfrm>
            <a:off x="0" y="25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4fc5f99509_2_26"/>
          <p:cNvSpPr txBox="1"/>
          <p:nvPr/>
        </p:nvSpPr>
        <p:spPr>
          <a:xfrm>
            <a:off x="576526" y="2202300"/>
            <a:ext cx="7991100" cy="7389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600" b="0">
                <a:solidFill>
                  <a:srgbClr val="FFFFFF"/>
                </a:solidFill>
                <a:latin typeface="Golos Text Medium"/>
              </a:rPr>
              <a:t>Начинаем с ответственности и замера — дальше очередь считается сама</a:t>
            </a:r>
            <a:endParaRPr sz="2400">
              <a:solidFill>
                <a:schemeClr val="lt1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sp>
        <p:nvSpPr>
          <p:cNvPr id="347" name="Google Shape;347;g34fc5f99509_2_26"/>
          <p:cNvSpPr txBox="1"/>
          <p:nvPr/>
        </p:nvSpPr>
        <p:spPr>
          <a:xfrm>
            <a:off x="2081987" y="493525"/>
            <a:ext cx="4897200" cy="7080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12700" marR="0" rt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4000" u="none" cap="none" strike="noStrike">
                <a:solidFill>
                  <a:srgbClr val="FFFFFF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  <a:t>Спасибо!</a:t>
            </a:r>
            <a:endParaRPr b="1" i="0" sz="4000" u="none" cap="none" strike="noStrike">
              <a:solidFill>
                <a:srgbClr val="FFFFFF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grpSp>
        <p:nvGrpSpPr>
          <p:cNvPr id="348" name="Google Shape;348;g34fc5f99509_2_26"/>
          <p:cNvGrpSpPr/>
          <p:nvPr/>
        </p:nvGrpSpPr>
        <p:grpSpPr>
          <a:xfrm>
            <a:off x="3256171" y="4260137"/>
            <a:ext cx="2631820" cy="395775"/>
            <a:chOff x="7419975" y="4637527"/>
            <a:chExt cx="1105946" cy="166306"/>
          </a:xfrm>
        </p:grpSpPr>
        <p:sp>
          <p:nvSpPr>
            <p:cNvPr id="349" name="Google Shape;349;g34fc5f99509_2_26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g34fc5f99509_2_26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g34fc5f99509_2_26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g34fc5f99509_2_26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g34fc5f99509_2_26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g34fc5f99509_2_26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g34fc5f99509_2_26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g34fc5f99509_2_26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g34fc5f99509_2_26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g34fc5f99509_2_26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g34fc5f99509_2_26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Пользователь</dc:creator>
</cp:coreProperties>
</file>