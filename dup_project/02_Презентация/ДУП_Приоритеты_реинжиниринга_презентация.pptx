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  <p:sldId id="292" r:id="rId51"/>
    <p:sldId id="293" r:id="rId52"/>
    <p:sldId id="294" r:id="rId53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Relationship Id="rId43" Type="http://schemas.openxmlformats.org/officeDocument/2006/relationships/slide" Target="slides/slide19.xml"/><Relationship Id="rId44" Type="http://schemas.openxmlformats.org/officeDocument/2006/relationships/slide" Target="slides/slide20.xml"/><Relationship Id="rId45" Type="http://schemas.openxmlformats.org/officeDocument/2006/relationships/slide" Target="slides/slide21.xml"/><Relationship Id="rId46" Type="http://schemas.openxmlformats.org/officeDocument/2006/relationships/slide" Target="slides/slide22.xml"/><Relationship Id="rId47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2" Type="http://schemas.openxmlformats.org/officeDocument/2006/relationships/slide" Target="slides/slide28.xml"/><Relationship Id="rId53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Периметр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объекты, которыми система управления будет заниматься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17125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13D85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25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объектов в реестре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39562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28AB6A"/>
                </a:solidFill>
                <a:latin typeface="Golos Text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9562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процессов, из них 5 — дерево ДУП и 6 — сквозные стыки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761999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13D85"/>
                </a:solidFill>
                <a:latin typeface="Golos Text SemiBold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1999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подпроцессов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884436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4436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этапов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450000"/>
            <a:ext cx="834975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Golos Text SemiBold"/>
              </a:rPr>
              <a:t>Роль ДУП в этих объектах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Rectangle 17"/>
          <p:cNvSpPr/>
          <p:nvPr/>
        </p:nvSpPr>
        <p:spPr>
          <a:xfrm>
            <a:off x="397125" y="2710000"/>
            <a:ext cx="1982437" cy="7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517125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28AB6A"/>
                </a:solidFill>
                <a:latin typeface="Golos Text SemiBold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125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владелец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125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Результат на ДУП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9562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3" name="Rectangle 22"/>
          <p:cNvSpPr/>
          <p:nvPr/>
        </p:nvSpPr>
        <p:spPr>
          <a:xfrm>
            <a:off x="2519562" y="2710000"/>
            <a:ext cx="1982437" cy="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2639562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013D85"/>
                </a:solidFill>
                <a:latin typeface="Golos Text SemiBold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9562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участник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9562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 в чужом процессе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1999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4641999" y="2710000"/>
            <a:ext cx="1982437" cy="70000"/>
          </a:xfrm>
          <a:prstGeom prst="rect">
            <a:avLst/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4761999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A87300"/>
                </a:solidFill>
                <a:latin typeface="Golos Text SemiBold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999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клиент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999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Принимает результат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4436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3" name="Rectangle 32"/>
          <p:cNvSpPr/>
          <p:nvPr/>
        </p:nvSpPr>
        <p:spPr>
          <a:xfrm>
            <a:off x="6764436" y="2710000"/>
            <a:ext cx="1982437" cy="70000"/>
          </a:xfrm>
          <a:prstGeom prst="rect">
            <a:avLst/>
          </a:prstGeom>
          <a:solidFill>
            <a:srgbClr val="444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6884436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444746"/>
                </a:solidFill>
                <a:latin typeface="Golos Text SemiBold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4436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не определён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4436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Таких объектов нет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125" y="3810000"/>
            <a:ext cx="834975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7B6BD"/>
                </a:solidFill>
                <a:latin typeface="Golos Text"/>
              </a:rPr>
              <a:t>Корень дерева ДУП.0 в очередь не ставится: его результат складывается из блоков 1–4 и сквозных стыков с центральным офисом.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1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Зам. по реализации — приёмка и валидация; ДРБ — передача пакета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чек-лист минимального пакета и правило возврата неполного комплекта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Описать правило очерёдности: какой платёж попадает в начало реестра и почему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 программа)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обязательную проверку по чек-листу до регистрации проекта в портфеле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решения по оплате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инструкцию по трём потокам платежей и единую форму реестра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 СТ)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форму заявки и правило: тех. карты СТ собираются до подачи заявки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решения и планирования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Завести единый реестр прогноза и календарь его обновления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форму и срок подачи данных филиалами в реестр прогноза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 ТЗ / закупки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форму фиксации дефекта и маршрут «эксплуатация → владелец ТЗ → закупки»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2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один регламент отчётности: проект, операция, портфель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статус-встречи: частота, повестка, протокол, адресат решений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Получение карточки проекта и комплекта документов от ДРБ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в письме ДРБ норматив срока передачи пакета и форму карточки проекта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Агрегация заявок и данных филиалов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единую форму заявки филиала и срок её подачи до даты формирования реестра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сопровождения: границы, вход, выход и три показателя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Обработка запросов на перенос оборудования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Завести реестр переносов с сопоставлением «факт против ФЭМ»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строительству и реализации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реализации: границы, вход, выход и три показателя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строительству и реализации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Спроектировать чек-лист передачи и внести обязательную дату handover в карточку проекта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3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методологии и положение о контроле качества проектных данных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Выявление нехватки бюджета и вынесение на ОСУ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Зам. по операционной деятельности — вынесение; ОСУ — решение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порог и срок вынесения вопроса о нехватке бюджета на ОСУ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Участие ДУП: потребность, данные по региону, приём площадки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критерий инициации открытия филиала и форму обоснования потребности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Провести пилотный аудит одного филиала и развернуть его на весь портфель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Операционный статус руководству и госпартнёру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Собирать операционный статус из протокола статус-встреч, без второго опроса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паспорт процесса филиальной сети: отношения вне проекта и стык с открытием филиала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Назначение куратора (проект и филиал)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одну матрицу «филиал → куратор» и срок назначения от даты регистрации проекта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Портфельная отчётность руководству и заказчикам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Собирать портфельный отчёт из проектного и операционного статуса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4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Общие отношения с филиалом (вне привязки к проекту)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порядок обращений филиала вне проектной рамки: кто принимает и в какой срок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 — владелец процедуры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Закупщиками нормативы сроков по шагам процедуры и правило эскалации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 — владелец решения по продукту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Разработать регламент gate: критерии пилота, подпись директора ДУП и право блокировать старт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и согласование бюджета (ФЭМ)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 — владелец процесса целиком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Провести ревизию нормативов ФЭМ и согласовать с Финблоком срок рассмотрения модели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Пересчитать нормы поверки, переносов и логистики по фактическим данным за два года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Проверка завершения пилота / тестовой эксплуатации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Определить измеримые критерии завершения пилота и форму подтверждения от ДРБ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Инициация продления / модернизации контракта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ДРБ — владелец presale и сделки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Установить срок инициации продления до окончания договора и точку передачи в ДРБ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Проведение процедуры закупки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Внести шаги процедуры в общий трекер и установить точку эскалации при просрочке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5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Контроль сроков поставки и приёмка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Закупщики (ОЛЖА)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форму приёмки с фиксацией дефектов и маршрутом их передачи владельцу ТЗ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Производство, монтаж и калибровка оборудования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СТ (техническая служба)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со СТ срок выдачи тех. карт — до подачи заявки на закупку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на Операционном комитете сквозной маршрут Юр → HR → Финблок → ДУП и сроки по этапам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Проверка и согласование ФЭМ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Зафиксировать в SLA срок рассмотрения ФЭМ Финблоком и состав замечаний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Монтаж и запуск ИТ-инфраструктуры ЦОД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Зерек (ИТ-инфраструктура)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Включить интерфейс с Зерек в карту процессов и согласовать срок монтажа ИТ-инфраструктуры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Юридическое сопровождение договоров с контрагентами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 блок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Юр блоком срок рассмотрения договора и типовые условия по проектам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Регистрация и запуск филиала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 блок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Юр блоком срок регистрации филиала и чек-лист приёма его в работу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 и филиалу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HR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HR срок оформления штата и кадровых приказов по филиалу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6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Решение об оплате и проведение платежа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Финблоком норматив срока от передачи реестра до проведения платежа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Планирование и решение по прогнозу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Финблоком срок возврата утверждённого прогноза в ДУП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Подготовка пакета документов и доверенностей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Юр блок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Юр блоком срок подготовки пакета документов и доверенностей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Организация поверки оборудования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 (исполнитель — внешняя лаборатория)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Рассчитать экономику собственной аккредитации против аутсорса поверки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Разработка проектной документации (устав, план, приказ)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Утвердить типовой комплект: устав, план проекта, приказ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Разработка и поддержка методологии, шаблонов, реестров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Главный менеджер проектов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Актуализировать методологию: роли вместо фамилий, глоссарий, архивация устаревшего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Регистрация проекта в портфеле / системе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Определить обязательные поля карточки проекта в SimBASE и запретить регистрацию без них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7125" y="393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7617" y="393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Оформление приказа на реализацию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67074" y="393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реализации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37024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4321506" y="393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5072983" y="393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57465" y="393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Свести устав и план в единую форму приказа на реализацию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8400" y="393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29385" y="393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7 из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25049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617" y="970000"/>
            <a:ext cx="141945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7074" y="970000"/>
            <a:ext cx="16699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Бизнес-владелец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7024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Процесс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1506" y="970000"/>
            <a:ext cx="75147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Подпроцесс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3" y="970000"/>
            <a:ext cx="584482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Этап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7465" y="970000"/>
            <a:ext cx="217093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400" y="970000"/>
            <a:ext cx="50098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9385" y="970000"/>
            <a:ext cx="417487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134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617" y="134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Финансовое закрытие проекта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7074" y="134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7024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1506" y="134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72983" y="134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657465" y="134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Согласовать с Финблоком состав и срок пакета документов на закрытие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28400" y="134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9385" y="134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71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617" y="171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Служебная записка о необходимости закрытия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7074" y="171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37024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21506" y="171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3" y="171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7465" y="171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Ввести типовую форму служебной записки о закрытии проекта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8400" y="171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9385" y="171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125" y="208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617" y="208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Сопровождение канала связи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67074" y="208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ДУП — Зам. по операционной деятельности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37024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4321506" y="208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72983" y="208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5657465" y="208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Закрепить мониторинг канала связи в Zabbix и правило реакции на отказ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8400" y="208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9385" y="208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45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617" y="245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Утверждение бюджета, кредитование при необходимости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67074" y="245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37024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4321506" y="245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3" y="245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57465" y="245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срок входит в SLA по объекту 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8400" y="245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9385" y="245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82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7617" y="282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Сбор актов сверок, уведомления о расторжении договоров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67074" y="282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37024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4321506" y="282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5072983" y="282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участник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57465" y="282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данные предоставляются по запросу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8400" y="282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9385" y="282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190000"/>
            <a:ext cx="25049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617" y="3190000"/>
            <a:ext cx="141945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Формирование бюджета на логистику / демонтаж, закрытие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67074" y="3190000"/>
            <a:ext cx="16699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Финблок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37024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21506" y="3190000"/>
            <a:ext cx="75147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3" y="3190000"/>
            <a:ext cx="584482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клиент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57465" y="3190000"/>
            <a:ext cx="217093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 — подтверждение закрытия приходит из Финблока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28400" y="3190000"/>
            <a:ext cx="50098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9385" y="3190000"/>
            <a:ext cx="417487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7125" y="3560000"/>
            <a:ext cx="25049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7617" y="3560000"/>
            <a:ext cx="141945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Управление проектами (ГЧП / ГЗ)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67074" y="3560000"/>
            <a:ext cx="16699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Директор ДУП (Аккушимов Г.В.)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37024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владелец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1506" y="3560000"/>
            <a:ext cx="75147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5072983" y="3560000"/>
            <a:ext cx="584482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/>
            </a:r>
          </a:p>
        </p:txBody>
      </p:sp>
      <p:sp>
        <p:nvSpPr>
          <p:cNvPr id="73" name="Rectangle 72"/>
          <p:cNvSpPr/>
          <p:nvPr/>
        </p:nvSpPr>
        <p:spPr>
          <a:xfrm>
            <a:off x="5657465" y="3560000"/>
            <a:ext cx="217093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Отдельных действий не требуется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28400" y="3560000"/>
            <a:ext cx="50098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9385" y="3560000"/>
            <a:ext cx="417487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000" rIns="45000" tIns="12000" bIns="12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4). Владение по должностям уже закреплено, но паспортов процессов нет и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55 объектов: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366 критериев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54 объекта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Цикл из Методики KT_METHOD v1 и инструменты, которыми этот цикл ведём в проекте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8349750" cy="5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53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Цикл управления — пять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70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70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770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70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69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669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69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69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67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Инструменты, которые применяем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Реестр процессов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Процесс, подпроцесс и этап в одном дереве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02083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Роль в процессе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Владелец, участник или клиент у каждого объекта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7041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Паспорт процесса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Границы, вход, выход, владелец, показатели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1999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SIPOC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Поставщик, вход, шаги, выход,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16957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Метрики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Формула, единица и источник данных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191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KPI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Целевое значение и факт по объекту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SLA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Норматив срока на стыке с другим подразделением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2083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Базовая линия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Замер «до» и аудит по чек-листам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7041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Зрелость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Семь критериев Методики, шкала 1–5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1999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Очередь работ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Балл, волна и порядок реинжиниринга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16957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Регламент и чек-лист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Письменное правило, по которому работают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191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Мониторинговый отчёт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Проект, операция и портфель на одном контуре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366 критериев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идёт по баллу. Дальше место в очереди задают пять правил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не держит очередь быстрых побед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Паспорт обязателен и не отодвигает объект с более высоким баллом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измеряет эффект и не держит 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Замер «до» доказывает эффект и не блокирует соседние работы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были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До системы управления: правила либо не исполнялись, либо их не было — это диагноз работы,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объекта из 55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Подтверждение готовности продукта и проверка завершения пилота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366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Систему управления собрали. Исполнение процессов ещё прежнее — очередь как раз про то, чтобы это изменить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55 объектов сведены в один реестр: процесс, подпроцесс, этап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Роль ДУП названа у каждого: 26 — владелец, 15 — участник, 14 — клиент. Неназначенных — 0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366 критериев оценки расписаны формулой и источником данных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Очередь из 3 волн: место объекта задаёт балл, паспорт очередь не держит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28AB6A"/>
                </a:solidFill>
                <a:latin typeface="Golos Text SemiBold"/>
              </a:rPr>
              <a:t>Система уже работает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2000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23 объектов по-прежнему не исполняются так, как написано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 процедуры по-прежнему нет: готовность продукта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Ни один критерий ещё не измеряется — факта «до» нет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Зрелость каждого сквозного процесса — 1 из 5. Паспорта блоков 1, 2 и 4 не утверждены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2000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E94235"/>
                </a:solidFill>
                <a:latin typeface="Golos Text SemiBold"/>
              </a:rPr>
              <a:t>В работе процессов пока ничего не сдвинулось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Система ответила на вопросы «кто владелец», «чем измеряем» и «что берём первым».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Срок, деньги и качество сдвинутся, когда заработают регламенты волны запуска, а не в момент, когда реестр собран.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Норматив есть — возвращаем в работу. Норматива нет — пишем правило и применяем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Вернуть в работу — 9 объектов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00000" tIns="80000" bIns="90000" wrap="square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1.1  Приём пакета от ДРБ. Чек-лист минимального пакета и возврат неполного комплекта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1.5  ФЭМ и бюджет. Ревизия нормативов модели: поверка, переносы, цены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1.7  Закупки. Нормативы сроков по шагам и точка эскалации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1.9  Реестр платежей. Инструкция трёх потоков ВУ / КИЗ / КОЗ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2.3  Прогноз поступлений. Реестр и календарь вместо чата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2.5  Переносы оборудования. Учёт «факт против ФЭМ»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2.7  Дефекты компонентов. Маршрут из эксплуатации в ТЗ и закупки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4.2  Аудит данных. Чек-листы методологии, контур остановлен с 2020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4.3  Статус и отчётность. Один регламент: проект, операция, портфель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52000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Написать правило и начать применять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2000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20000" tIns="100000" bIns="90000" wrap="square"/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282828"/>
                </a:solidFill>
                <a:latin typeface="Golos Text"/>
              </a:rPr>
              <a:t>В методологии этих процедур нет. Пока их не напишем, каждый случай решается заново.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1.2  Готовность продукта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Gate «пилот → реализация»: критерии, подпись, право остановить старт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2.0  Передача в сопровождение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Чек-лист handover: состав, дата, ответственный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Б.5  Открытие филиала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Сквозной маршрут Юр → HR → Финблок → ДУП и сроки по этапам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Описать то, чем владеем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 блоков 1, 2 и 4, чек-лист передачи и положение о контроле качества данных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2000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Оцифровать то, что уже исполняется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Единая карточка и автопрогноз — после регламента, иначе в системе закрепится беспорядок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получит компания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Сначала процессом можно управлять. Затем это видно в сроке, деньгах и прогнозе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Управляемость и прозрачность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37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Владелец и паспорт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125" y="161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Границы, вход, выход и один ответственный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125" y="189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Прозрачность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125" y="213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Показатель с источником данных, а не мнение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25" y="241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Мониторинговый отчёт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125" y="265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Каждый месяц: проект, операция, портфель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125" y="293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Одинаковый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125" y="317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Старт по чек-листу, а не по памяти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2000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Срок, деньги, регулярность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2000" y="1370000"/>
            <a:ext cx="163795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9950" y="1370000"/>
            <a:ext cx="131036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Сейчас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00310" y="1370000"/>
            <a:ext cx="114656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За 12 месяцев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52000" y="16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Срок старта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9950" y="16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Сегодня не измеряется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0310" y="16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2000" y="19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Полный пакет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9950" y="19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00310" y="19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52000" y="22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Оплаты в срок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9950" y="22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310" y="22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85% заявок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52000" y="25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9950" y="25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00310" y="25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52000" y="28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портфеля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89950" y="28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00310" y="28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за год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430000"/>
            <a:ext cx="8349750" cy="1120000"/>
          </a:xfrm>
          <a:prstGeom prst="roundRect">
            <a:avLst>
              <a:gd name="adj" fmla="val 10000"/>
            </a:avLst>
          </a:prstGeom>
          <a:solidFill>
            <a:srgbClr val="1C3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60000" tIns="70000" bIns="70000" wrap="square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Зрелость с 1 до 3: портфель больше не держится на одном человеке.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1 уход заместителя обнуляет срок, пакет и прогноз: срыв виден, когда его уже принёс госпартнёр.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3 отклонение денег и срока видно в ежемесячном отчёте, пока его можно поправить, а смежник отвечает по подписанному SLA.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объекты с высшим баллом, которые ДУП начинает сам.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Паспорт и замер «до» идут в той же волне и очередь не держат. Договорённости со смежниками — следующая волна.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волны 1: паспорта, замер и быстрые победы внутри ДУП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55 объектов;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Три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— по убыванию балла; волны 2 и 3 ждут договорённости со смежником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Запуск: паспорта и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Паспорта, замер «до» и быстрые победы внутри ДУП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25 объектов  ·  Старт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7041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041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18 объектов  ·  Стыки с центральным офисом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6957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6957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957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Масштаб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25 объектов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20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восстанавливаем исполнение внутри ДУП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Чек-листы, регламенты и упрощение отчётности — без согласования со смежником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4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описываем границы процессов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Паспорта блоков 1, 2 и 4 и чек-лист передачи между реализацией и сопровождением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14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13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запуска, строго по убыванию балла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Высший балл начинается сразу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2 держит только то, что нельзя решить внутри ДУП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Приём пакета от ДРБ, платежи и заявка на закупку стоят в начале очереди.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Закупки целиком, ФЭМ и gate готовности продукта ждут волну 2: норматив ставит другое подразделение, а не паспорт процесса.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волны 1 стоят по убыванию балла и паспорта не ждут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приёмки и письмо в ДРБ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реализации, директор ДУП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1.1, 1.1.1, 1.1.2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Инструкция по трём потокам платежей ВУ / КИЗ / КОЗ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Инструкция по очерёдности и единая форма реестра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1.9, 1.9.1, 1.9.2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Единый реестр и календарь прогноза поступлений и расходов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Реестр прогноза и календарь его обновления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2.3, 2.3.1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Регламент статус-встреч по проектам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Регламент, шаблон повестки и протокола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4.3, 4.3.1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деятельности, 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остальная волна 1 по убыванию балла: реестр переносов, паспорта блоков 1 и 4, чек-лист передачи, пилотный аудит и матрица кураторов.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Положение о контроле качества и паспорт процесса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1 · месяцы 1–4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Запуск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Быстрые победы, паспорта и пилотный аудит идут параллельно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7041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2 · месяцы 3–8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Стыки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SLA со смежниками, gate продукта и маршрут открытия филиала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6957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3 · месяцы 7–12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6957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Масштаб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Экономика поверки, единая карточка проекта и автоматизация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утверждение паспортов процессов, эскалации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12 месяцев. Волны перекрываются: стыки начинаются, пока ещё закрывается запуск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990000"/>
            <a:ext cx="16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SemiBold"/>
              </a:rPr>
              <a:t>Волна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712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293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874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456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37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618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199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780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362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43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05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127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477125" y="133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125" y="15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1–4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712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293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8874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456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037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618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199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780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362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7943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3524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9105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97125" y="1340000"/>
            <a:ext cx="2183248" cy="320000"/>
          </a:xfrm>
          <a:prstGeom prst="roundRect">
            <a:avLst>
              <a:gd name="adj" fmla="val 15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Победы, паспорта, аудит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125" y="181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477125" y="187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125" y="205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3–8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7712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3293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8874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456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0037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5618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1199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6780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362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7943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3524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105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208749" y="188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SLA, gate, маршрут филиала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35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0" name="TextBox 49"/>
          <p:cNvSpPr txBox="1"/>
          <p:nvPr/>
        </p:nvSpPr>
        <p:spPr>
          <a:xfrm>
            <a:off x="477125" y="24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125" y="259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7–12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7712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3293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874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74456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037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5618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1199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6780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2362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943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3524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9105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31997" y="242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Экономика, карточка, автоматизация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125" y="2930000"/>
            <a:ext cx="834975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Месяцы по горизонтали. Ключевые результаты на стыках волн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7125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7125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Старт: чек-лист приёмки от ДРБ и инструкция платежей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09562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9562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Паспорта блоков 1, 2 и 4, восемь регламентов работают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21999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1999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Подписаны SLA, утверждены gate и маршрут открытия филиала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34436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4436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Зрелость 3, мониторинговый отчёт и карточка проекта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высшего балла внутри ДУП — паспорт очередь не держит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